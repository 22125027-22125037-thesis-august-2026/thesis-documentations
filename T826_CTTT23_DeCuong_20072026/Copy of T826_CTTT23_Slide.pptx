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embeddedFontLst>
    <p:embeddedFont>
      <p:font typeface="Century Schoolbook"/>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CenturySchoolbook-bold.fntdata"/><Relationship Id="rId23" Type="http://schemas.openxmlformats.org/officeDocument/2006/relationships/font" Target="fonts/CenturySchoolbook-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enturySchoolbook-boldItalic.fntdata"/><Relationship Id="rId25" Type="http://schemas.openxmlformats.org/officeDocument/2006/relationships/font" Target="fonts/CenturySchoolbook-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Together, under the supervision of Associate Professor Nguyễn Văn Vũ, we present our graduation thesis: uMatter — an application for supporting mental health.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and foremost, we set up the problem — the mental-health situation for Vietnamese teenagers, why the existing tools each solve only a fragment, what real users and clinicians told us, and how that shaped our objectives. In the second half we walk through what we actually built: the microservices architecture, the permission model that is the heart of the design, the grounded AI companion, and how we deployed and evaluated the whole thing.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did we build this? Adolescent mental health in Vietnam is a serious, under-served problem. A cross-sectional study of over 1,300 Ho Chi Minh City high-school students found nearly half reported self-injury behaviour. The WHO estimates one in seven adolescents worldwide lives with a mental disorder, and that suicide is the third leading cause of death for people aged fifteen to twenty-nine. What's hardest to accept is that in hindsight the distress was usually visible beforehand, in ordinary conversations and small changes in behaviour — but never seen by anyone able to act. The signal exists; nothing is holding it. That gap is what we set out to address.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KHIEM</a:t>
            </a:r>
            <a:endParaRPr/>
          </a:p>
        </p:txBody>
      </p:sp>
      <p:sp>
        <p:nvSpPr>
          <p:cNvPr id="81" name="Google Shape;8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tools a teenager has today each solve only a fragment of the problem. Self-care trackers like Daylio and Bearable are lightweight and good at surfacing patterns — but they stop at self-observation and never connect you to a professional. Therapy platforms like BetterHelp and Talkspace do the opposite: they find you a therapist, but that therapist meets you with no context beyond what you can reconstruct from memory in the room. The social and messaging apps a teen already uses — Zalo, Messenger, Life360 — carry conversation and location, but give a parent no real visibility into how their child feels. And increasingly, teenagers just turn to general-purpose AI: a US survey found roughly one in eight had used an AI chatbot for mental-health advice — but that AI starts from a blank slate every conversation. The net effect is fragmentation: four disconnected products, and the burden of re-explaining yourself each time you move between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KHIEM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0" name="Google Shape;11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6aba7262d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6aba7262d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Our methodology was built on the core principle that requirements must be elicited rather than assumed, ensuring every feature traces directly back to real user needs. We began with a baseline study in December 2025, evaluating 10 existing platforms against two distinct personas. From there, we drove our development through a strict weekly cycle, continuously engaging 7 trial users including 1 psychology graduate and 3 mental-health professionals—including a counselor, a physician, and a CEO. Within this loop, we would propose and build features, but only close a phase after an external party had reviewed the working build. All feedback from these sessions, alongside defect reports from our 17 closed testers over 14 days on Google Play, was carried directly into the next phase. This rigorous, continuous feedback loop guaranteed we were building exactly what was needed, leading directly to the key insights we will discuss on the next slide.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KHIEM</a:t>
            </a:r>
            <a:endParaRPr/>
          </a:p>
        </p:txBody>
      </p:sp>
      <p:sp>
        <p:nvSpPr>
          <p:cNvPr id="147" name="Google Shape;147;g3f6aba7262d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design isn't guesswork — it's grounded in primary study. On the user side, we ran a baseline evaluation of ten existing platforms against two personas, with help from a psychology graduate. Four findings shaped everything. First, the week between therapy sessions is a black box — by the appointment, what the patient meant to raise is forgotten. Second, input fatigue was the single most cited reason people abandon a health app. Third, tracking alone notices patterns but doesn't change them. And fourth, privacy is a precondition, not a feature — and willingness to share is never absolute. We also consulted three mental-health professionals. Their guidance was direct: replace periodic surveys with a continuous emotion timeline; route negative emotions — anger toward breathing, sadness toward stored positive memories; treat physical health as inseparable from mental health; and — crucially — make every audience of user’s tracked data, including the AI, explicitly opt-in. Nothing shared by default.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KHIEM</a:t>
            </a:r>
            <a:endParaRPr/>
          </a:p>
        </p:txBody>
      </p:sp>
      <p:sp>
        <p:nvSpPr>
          <p:cNvPr id="153" name="Google Shape;15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Problem 1 is obtain the data: how do we get an honest, continuous, meaningful record of a teenager's mood and wellbeing in a way that feels natural, comfortable rather than like clinical paperwork?. Problem 2 is acting on that record: telling whether someone is in distress, responding appropriately, </a:t>
            </a:r>
            <a:r>
              <a:rPr lang="en-US"/>
              <a:t>and still</a:t>
            </a:r>
            <a:r>
              <a:rPr lang="en-US"/>
              <a:t> </a:t>
            </a:r>
            <a:r>
              <a:rPr lang="en-US"/>
              <a:t>worth</a:t>
            </a:r>
            <a:r>
              <a:rPr lang="en-US"/>
              <a:t>-opening on ordinary days for someone with no mental health problems. The two close a loop: better reflection makes every response more precise, and genuinely useful responses are what keep the reflection habit alive.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KHIEM</a:t>
            </a:r>
            <a:endParaRPr/>
          </a:p>
        </p:txBody>
      </p:sp>
      <p:sp>
        <p:nvSpPr>
          <p:cNvPr id="190" name="Google Shape;19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Those problems map onto 10 objectives, in three groups: namely: Capture the record, Act on the record, Consent &amp; architecture Which are concluded from the user stories and problems slide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t/>
            </a:r>
            <a:endParaRPr/>
          </a:p>
        </p:txBody>
      </p:sp>
      <p:sp>
        <p:nvSpPr>
          <p:cNvPr id="217" name="Google Shape;2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sums up our positioning. Reading down the uMatter column, we're the only platform that offers all of it together: self-care tracking, an AI companion grounded in your own data, licensed-therapist matching and booking, video consultation, clinical notes, consent-based peer and family connection — and, tying it all together, granular permission-based sharing. That sets up how we actually built it.</a:t>
            </a:r>
            <a:endParaRPr/>
          </a:p>
        </p:txBody>
      </p:sp>
      <p:sp>
        <p:nvSpPr>
          <p:cNvPr id="246" name="Google Shape;2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system. Two clients — a React Native mobile app for teenagers and a React web dashboard for therapists — reach a single edge: Caddy terminates HTTPS, then forwards REST traffic to an internal Nginx API gateway, which routes each request to the owning service. The backend is seven Spring Boot services, each scoped to one functional area: Auth, Tracking, AI, Dashboard, Therapist, Social, and Notification. Services that need to talk asynchronously do so through RabbitMQ, and each stateful service owns its own PostgreSQL database, with Redis for caching and idempotency and MinIO for media. For a two-person project, that's real operational overhead — seven deployables, a broker, per-service databases — so it deserves justification. We accept it for two things: independent lifecycles, so services evolve without coordinated upgrades, and clean separation, since our functional areas genuinely differ in scaling, security, and how often they change. Let me show how the data stays consistent across them.</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KHIEM</a:t>
            </a:r>
            <a:endParaRPr/>
          </a:p>
        </p:txBody>
      </p:sp>
      <p:sp>
        <p:nvSpPr>
          <p:cNvPr id="334" name="Google Shape;33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design choices keep the data both isolated and consistent. On the left: database-per-service. Every stateful service owns a private PostgreSQL database, and no service reaches directly into another's schema. When data must cross a boundary, it goes through an explicit API call or an event — never a shared table. That keeps each stateful service free to evolve its schema without a system-wide migration. Two supporting stores complement Postgres: Redis, for caching and for idempotency keys so a retried request isn't applied twice; and MinIO, an S3-compatible object store, for binary media like photos. On the right: RabbitMQ ties the services together asynchronously. It maintains four replication streams — so, for example, the Tracking service holds a local replica of consent grants and doesn't have to call another service on every read. Every consumer applies the same resilience discipline: manual acknowledgements, dead-letter queues for poison messages, watermark idempotency, and a nightly reconciliation to repair any drift. The same broker also fans domain events out into user notifications.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KHIEM</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-Skipped</a:t>
            </a:r>
            <a:endParaRPr/>
          </a:p>
        </p:txBody>
      </p:sp>
      <p:sp>
        <p:nvSpPr>
          <p:cNvPr id="369" name="Google Shape;3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heart of the design and our main contribution — permission-based data sharing. The default is that nothing is shared. A user's mood, sleep, food, journal, step, and breathing records are private until the user explicitly grants access. A grant has a full lifecycle. Consent: the user grants a specific, scoped set of categories. That's recorded in Auth and replicated to Tracking. Checked read: every read of a category is gated at the Tracking service boundary. Revocation: grants carry a thirty-day expiry and are revocable at any moment. </a:t>
            </a:r>
            <a:endParaRPr/>
          </a:p>
          <a:p>
            <a:pPr indent="0" lvl="0" marL="0" rtl="0" algn="l">
              <a:spcBef>
                <a:spcPts val="0"/>
              </a:spcBef>
              <a:spcAft>
                <a:spcPts val="0"/>
              </a:spcAft>
              <a:buClr>
                <a:schemeClr val="dk1"/>
              </a:buClr>
              <a:buFont typeface="Arial"/>
              <a:buNone/>
            </a:pPr>
            <a:r>
              <a:rPr lang="en-US"/>
              <a:t>KHIEM</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-Skipped</a:t>
            </a:r>
            <a:endParaRPr/>
          </a:p>
        </p:txBody>
      </p:sp>
      <p:sp>
        <p:nvSpPr>
          <p:cNvPr id="395" name="Google Shape;3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AI companion is where grounding pays off. When a user sends a message, the AI service retrieves their recent tracking summary from the Tracking service, builds a prompt from a system persona plus that context plus conversation history, and calls Google's Gemini 2.5 Flash. The result is a reply that can refer to something concrete rather than generic supportive text. Crucially, that retrieval is gated by the same grant model as everyone else. Two narrow safeguards run on every message. A lightweight keyword guardrail catches Vietnamese self-harm or violence phrases and short-circuits straight to a hotline response instead of the model. And personally identifying details are scrubbed before anything leaves the platform, with chat encrypted at rest.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–skipeed</a:t>
            </a:r>
            <a:endParaRPr/>
          </a:p>
        </p:txBody>
      </p:sp>
      <p:sp>
        <p:nvSpPr>
          <p:cNvPr id="425" name="Google Shape;4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Because uMatter handles sensitive data and coordinates real appointments, we ran structured security audits around the OWASP Top 10, covering business logic, access control, and data integrity. Two findings are worth highlighting. The first was a data-integrity bug: a race condition in appointment booking. We made the slot claim a single atomic database operation — a conditional update that sets 'booked' to true only where it's still false — backed by a unique constraint as a second line of defense. The second is more conceptual. The AI service's internal endpoint for reading tracking data trusted any authenticated internal caller — it could reach a user's data with no explicit grant. That's exactly the implicit trust our permission model is meant to remove. The fix reused the existing pattern: we registered the AI as a reserved grantee, and the endpoint now checks for an active grant, just as it already did for a therapist.</a:t>
            </a:r>
            <a:endParaRPr/>
          </a:p>
        </p:txBody>
      </p:sp>
      <p:sp>
        <p:nvSpPr>
          <p:cNvPr id="456" name="Google Shape;45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need to prove the system actually runs by deploying it on Azure under a student subscription. The deployment was real engineering work:</a:t>
            </a:r>
            <a:r>
              <a:rPr i="1" lang="en-US"/>
              <a:t> resolving Azure region-policy restrictions that blocked VM provisioning, configuring Network Security Group rules to open the gateway ports</a:t>
            </a:r>
            <a:r>
              <a:rPr i="1" lang="en-US"/>
              <a:t> — </a:t>
            </a:r>
            <a:r>
              <a:rPr i="1" lang="en-US"/>
              <a:t>80 and 443, which were non-negotiable</a:t>
            </a:r>
            <a:r>
              <a:rPr lang="en-US"/>
              <a:t>. The result runs twenty containers on a single, right-sized Azure VM: the seven Spring Boot services on Java 17, a PostgreSQL instance per service, plus Redis, MinIO, and pgAdmin. Caddy handles HTTPS with a Let's Encrypt certificate, and DuckDNS gives a stable hostname over the VM's dynamic address. One detail worth noting: we have published the mobile app to Google Play.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-Skipped</a:t>
            </a:r>
            <a:endParaRPr/>
          </a:p>
        </p:txBody>
      </p:sp>
      <p:sp>
        <p:nvSpPr>
          <p:cNvPr id="484" name="Google Shape;48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evaluated along several dimensions. On functional completeness, all seven services and both clients are implemented and deployed, and nearly all of the requirements are fully met. On the human side, two features stood out. The Treasure Box — a personal store of positive 'core memories' you save ahead of time and reopen on a low day — came directly out of our expert collaboration and was the most-loved feature. And daily reflective tracking: mood check-ins, the journal, sleep and nutrition, automatic steps — which a physician assessed as 'already very good,' and which doubles as the data that grounds the AI, the therapist view, and the trusted-friend view. Three findings summarise the work: unifying self-care and therapy behind one permission model is feasible without merging the data; network-level trust between services is not enough.</a:t>
            </a:r>
            <a:endParaRPr/>
          </a:p>
        </p:txBody>
      </p:sp>
      <p:sp>
        <p:nvSpPr>
          <p:cNvPr id="517" name="Google Shape;51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We're deliberately honest about the boundaries. This is a software-engineering thesis, not a clinical study — we make no claim about clinical efficacy, and anything requiring clinical judgment was excluded. Our security work was a structured internal audit. And the deployment runs on a single VM, not load-tested at production scale. Several concerns — legal and compliance frameworks, dispute resolution, monetization, and automated risk detection — were scoped out by design, not overlooked. </a:t>
            </a:r>
            <a:r>
              <a:rPr b="1" lang="en-US" sz="1300">
                <a:solidFill>
                  <a:srgbClr val="1E2B29"/>
                </a:solidFill>
              </a:rPr>
              <a:t>Small, self-selected trial group</a:t>
            </a:r>
            <a:r>
              <a:rPr lang="en-US"/>
              <a:t>. Future work follows from those limits. First and foremost, clinical collaboration: any safety feature acting on self-reported mental-health data. Beyond that, clinical review of the AI, and operational maturity: independent security review, load testing, and a multi-instance topology to remove the single VM as a point of failure.</a:t>
            </a:r>
            <a:endParaRPr/>
          </a:p>
          <a:p>
            <a:pPr indent="0" lvl="0" marL="0" rtl="0" algn="l">
              <a:spcBef>
                <a:spcPts val="0"/>
              </a:spcBef>
              <a:spcAft>
                <a:spcPts val="0"/>
              </a:spcAft>
              <a:buClr>
                <a:schemeClr val="dk1"/>
              </a:buClr>
              <a:buFont typeface="Arial"/>
              <a:buNone/>
            </a:pPr>
            <a:r>
              <a:t/>
            </a:r>
            <a:endParaRPr/>
          </a:p>
        </p:txBody>
      </p:sp>
      <p:sp>
        <p:nvSpPr>
          <p:cNvPr id="546" name="Google Shape;54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conclude. We set out to close the gap between self-care apps that never reach a professional and therapy platforms that never see your daily life. uMatter shows that a single, security-conscious microservices platform can plausibly serve both sides of adolescent mental-health support — rather than forcing a teenager to stitch together four disconnected products. It unifies tracking, a grounded AI companion, peer and family connection, and professional therapy into one journey; it puts consent first; and we hardened it and deployed the full stack end-to-end on real cloud infrastructure. It's a prototype, with real limits and a clear path forward under clinical oversight — but at its core is a simple message the whole design is built to deliver: you matter. Thank you. We'd be happy to take your questions.</a:t>
            </a:r>
            <a:endParaRPr/>
          </a:p>
          <a:p>
            <a:pPr indent="0" lvl="0" marL="0" rtl="0" algn="l">
              <a:spcBef>
                <a:spcPts val="0"/>
              </a:spcBef>
              <a:spcAft>
                <a:spcPts val="0"/>
              </a:spcAft>
              <a:buClr>
                <a:schemeClr val="dk1"/>
              </a:buClr>
              <a:buFont typeface="Arial"/>
              <a:buNone/>
            </a:pPr>
            <a:r>
              <a:t/>
            </a:r>
            <a:endParaRPr/>
          </a:p>
        </p:txBody>
      </p:sp>
      <p:sp>
        <p:nvSpPr>
          <p:cNvPr id="575" name="Google Shape;57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8.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9.png"/><Relationship Id="rId4" Type="http://schemas.openxmlformats.org/officeDocument/2006/relationships/image" Target="../media/image10.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38.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403C"/>
        </a:solidFill>
      </p:bgPr>
    </p:bg>
    <p:spTree>
      <p:nvGrpSpPr>
        <p:cNvPr id="15" name="Shape 15"/>
        <p:cNvGrpSpPr/>
        <p:nvPr/>
      </p:nvGrpSpPr>
      <p:grpSpPr>
        <a:xfrm>
          <a:off x="0" y="0"/>
          <a:ext cx="0" cy="0"/>
          <a:chOff x="0" y="0"/>
          <a:chExt cx="0" cy="0"/>
        </a:xfrm>
      </p:grpSpPr>
      <p:sp>
        <p:nvSpPr>
          <p:cNvPr id="16" name="Google Shape;16;p3"/>
          <p:cNvSpPr/>
          <p:nvPr/>
        </p:nvSpPr>
        <p:spPr>
          <a:xfrm>
            <a:off x="9418320" y="-1554480"/>
            <a:ext cx="4206240" cy="4206240"/>
          </a:xfrm>
          <a:prstGeom prst="ellipse">
            <a:avLst/>
          </a:prstGeom>
          <a:solidFill>
            <a:srgbClr val="2E7D74">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698480" y="4023360"/>
            <a:ext cx="3108960" cy="3108960"/>
          </a:xfrm>
          <a:prstGeom prst="ellipse">
            <a:avLst/>
          </a:prstGeom>
          <a:solidFill>
            <a:srgbClr val="84B59F">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188720" y="4663440"/>
            <a:ext cx="2926080" cy="2926080"/>
          </a:xfrm>
          <a:prstGeom prst="ellipse">
            <a:avLst/>
          </a:prstGeom>
          <a:solidFill>
            <a:srgbClr val="2E7D74">
              <a:alpha val="3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777240" y="685800"/>
            <a:ext cx="914400" cy="91440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3"/>
          <p:cNvPicPr preferRelativeResize="0"/>
          <p:nvPr/>
        </p:nvPicPr>
        <p:blipFill rotWithShape="1">
          <a:blip r:embed="rId3">
            <a:alphaModFix/>
          </a:blip>
          <a:srcRect b="0" l="0" r="0" t="0"/>
          <a:stretch/>
        </p:blipFill>
        <p:spPr>
          <a:xfrm>
            <a:off x="996696" y="905256"/>
            <a:ext cx="475488" cy="475488"/>
          </a:xfrm>
          <a:prstGeom prst="rect">
            <a:avLst/>
          </a:prstGeom>
          <a:noFill/>
          <a:ln>
            <a:noFill/>
          </a:ln>
        </p:spPr>
      </p:pic>
      <p:sp>
        <p:nvSpPr>
          <p:cNvPr id="21" name="Google Shape;21;p3"/>
          <p:cNvSpPr/>
          <p:nvPr/>
        </p:nvSpPr>
        <p:spPr>
          <a:xfrm>
            <a:off x="1874520" y="86868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1250"/>
              <a:buFont typeface="Calibri"/>
              <a:buNone/>
            </a:pPr>
            <a:r>
              <a:rPr b="1" i="0" lang="en-US" sz="1250" u="none" cap="none" strike="noStrike">
                <a:solidFill>
                  <a:srgbClr val="84B59F"/>
                </a:solidFill>
                <a:latin typeface="Calibri"/>
                <a:ea typeface="Calibri"/>
                <a:cs typeface="Calibri"/>
                <a:sym typeface="Calibri"/>
              </a:rPr>
              <a:t>VNU-HCM · University of Science · Faculty of Information Technology</a:t>
            </a:r>
            <a:endParaRPr b="0" i="0" sz="1250" u="none" cap="none" strike="noStrike">
              <a:solidFill>
                <a:schemeClr val="dk1"/>
              </a:solidFill>
              <a:latin typeface="Calibri"/>
              <a:ea typeface="Calibri"/>
              <a:cs typeface="Calibri"/>
              <a:sym typeface="Calibri"/>
            </a:endParaRPr>
          </a:p>
        </p:txBody>
      </p:sp>
      <p:sp>
        <p:nvSpPr>
          <p:cNvPr id="22" name="Google Shape;22;p3"/>
          <p:cNvSpPr/>
          <p:nvPr/>
        </p:nvSpPr>
        <p:spPr>
          <a:xfrm>
            <a:off x="777240" y="2148840"/>
            <a:ext cx="100584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400"/>
              <a:buFont typeface="Century Schoolbook"/>
              <a:buNone/>
            </a:pPr>
            <a:r>
              <a:rPr b="1" i="0" lang="en-US" sz="6400" u="none" cap="none" strike="noStrike">
                <a:solidFill>
                  <a:srgbClr val="FFFFFF"/>
                </a:solidFill>
                <a:latin typeface="Century Schoolbook"/>
                <a:ea typeface="Century Schoolbook"/>
                <a:cs typeface="Century Schoolbook"/>
                <a:sym typeface="Century Schoolbook"/>
              </a:rPr>
              <a:t>uMatter</a:t>
            </a:r>
            <a:endParaRPr b="0" i="0" sz="6400" u="none" cap="none" strike="noStrike">
              <a:solidFill>
                <a:schemeClr val="dk1"/>
              </a:solidFill>
              <a:latin typeface="Calibri"/>
              <a:ea typeface="Calibri"/>
              <a:cs typeface="Calibri"/>
              <a:sym typeface="Calibri"/>
            </a:endParaRPr>
          </a:p>
        </p:txBody>
      </p:sp>
      <p:sp>
        <p:nvSpPr>
          <p:cNvPr id="23" name="Google Shape;23;p3"/>
          <p:cNvSpPr/>
          <p:nvPr/>
        </p:nvSpPr>
        <p:spPr>
          <a:xfrm>
            <a:off x="804672" y="3200400"/>
            <a:ext cx="10515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2600"/>
              <a:buFont typeface="Century Schoolbook"/>
              <a:buNone/>
            </a:pPr>
            <a:r>
              <a:rPr b="0" i="1" lang="en-US" sz="2600" u="none" cap="none" strike="noStrike">
                <a:solidFill>
                  <a:srgbClr val="84B59F"/>
                </a:solidFill>
                <a:latin typeface="Century Schoolbook"/>
                <a:ea typeface="Century Schoolbook"/>
                <a:cs typeface="Century Schoolbook"/>
                <a:sym typeface="Century Schoolbook"/>
              </a:rPr>
              <a:t>An Application for Supporting Mental Health</a:t>
            </a:r>
            <a:endParaRPr b="0" i="0" sz="2600" u="none" cap="none" strike="noStrike">
              <a:solidFill>
                <a:schemeClr val="dk1"/>
              </a:solidFill>
              <a:latin typeface="Calibri"/>
              <a:ea typeface="Calibri"/>
              <a:cs typeface="Calibri"/>
              <a:sym typeface="Calibri"/>
            </a:endParaRPr>
          </a:p>
        </p:txBody>
      </p:sp>
      <p:sp>
        <p:nvSpPr>
          <p:cNvPr id="24" name="Google Shape;24;p3"/>
          <p:cNvSpPr/>
          <p:nvPr/>
        </p:nvSpPr>
        <p:spPr>
          <a:xfrm>
            <a:off x="822960" y="3886200"/>
            <a:ext cx="9601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0DA"/>
              </a:buClr>
              <a:buSzPts val="1500"/>
              <a:buFont typeface="Calibri"/>
              <a:buNone/>
            </a:pPr>
            <a:r>
              <a:rPr b="0" i="0" lang="en-US" sz="1500" u="none" cap="none" strike="noStrike">
                <a:solidFill>
                  <a:srgbClr val="CFE0DA"/>
                </a:solidFill>
                <a:latin typeface="Calibri"/>
                <a:ea typeface="Calibri"/>
                <a:cs typeface="Calibri"/>
                <a:sym typeface="Calibri"/>
              </a:rPr>
              <a:t>A unified, permission-based platform for adolescent mental wellbeing</a:t>
            </a:r>
            <a:endParaRPr b="0" i="0" sz="1500" u="none" cap="none" strike="noStrike">
              <a:solidFill>
                <a:schemeClr val="dk1"/>
              </a:solidFill>
              <a:latin typeface="Calibri"/>
              <a:ea typeface="Calibri"/>
              <a:cs typeface="Calibri"/>
              <a:sym typeface="Calibri"/>
            </a:endParaRPr>
          </a:p>
        </p:txBody>
      </p:sp>
      <p:cxnSp>
        <p:nvCxnSpPr>
          <p:cNvPr id="25" name="Google Shape;25;p3"/>
          <p:cNvCxnSpPr/>
          <p:nvPr/>
        </p:nvCxnSpPr>
        <p:spPr>
          <a:xfrm>
            <a:off x="822960" y="4709160"/>
            <a:ext cx="5120640" cy="0"/>
          </a:xfrm>
          <a:prstGeom prst="straightConnector1">
            <a:avLst/>
          </a:prstGeom>
          <a:noFill/>
          <a:ln cap="flat" cmpd="sng" w="19050">
            <a:solidFill>
              <a:srgbClr val="2E7D74"/>
            </a:solidFill>
            <a:prstDash val="solid"/>
            <a:round/>
            <a:headEnd len="sm" w="sm" type="none"/>
            <a:tailEnd len="sm" w="sm" type="none"/>
          </a:ln>
        </p:spPr>
      </p:cxnSp>
      <p:sp>
        <p:nvSpPr>
          <p:cNvPr id="26" name="Google Shape;26;p3"/>
          <p:cNvSpPr/>
          <p:nvPr/>
        </p:nvSpPr>
        <p:spPr>
          <a:xfrm>
            <a:off x="822960" y="489204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Dương Trung Hiếu  </a:t>
            </a:r>
            <a:r>
              <a:rPr b="0" i="0" lang="en-US" sz="1400" u="none" cap="none" strike="noStrike">
                <a:solidFill>
                  <a:srgbClr val="84B59F"/>
                </a:solidFill>
                <a:latin typeface="Calibri"/>
                <a:ea typeface="Calibri"/>
                <a:cs typeface="Calibri"/>
                <a:sym typeface="Calibri"/>
              </a:rPr>
              <a:t>22125027</a:t>
            </a:r>
            <a:r>
              <a:rPr b="1" i="0" lang="en-US" sz="1400" u="none" cap="none" strike="noStrike">
                <a:solidFill>
                  <a:srgbClr val="FFFFFF"/>
                </a:solidFill>
                <a:latin typeface="Calibri"/>
                <a:ea typeface="Calibri"/>
                <a:cs typeface="Calibri"/>
                <a:sym typeface="Calibri"/>
              </a:rPr>
              <a:t>        Dương Ngọc Quang Khiêm  </a:t>
            </a:r>
            <a:r>
              <a:rPr b="0" i="0" lang="en-US" sz="1400" u="none" cap="none" strike="noStrike">
                <a:solidFill>
                  <a:srgbClr val="84B59F"/>
                </a:solidFill>
                <a:latin typeface="Calibri"/>
                <a:ea typeface="Calibri"/>
                <a:cs typeface="Calibri"/>
                <a:sym typeface="Calibri"/>
              </a:rPr>
              <a:t>22125037</a:t>
            </a:r>
            <a:endParaRPr b="0" i="0" sz="1400" u="none" cap="none" strike="noStrike">
              <a:solidFill>
                <a:schemeClr val="dk1"/>
              </a:solidFill>
              <a:latin typeface="Calibri"/>
              <a:ea typeface="Calibri"/>
              <a:cs typeface="Calibri"/>
              <a:sym typeface="Calibri"/>
            </a:endParaRPr>
          </a:p>
        </p:txBody>
      </p:sp>
      <p:sp>
        <p:nvSpPr>
          <p:cNvPr id="27" name="Google Shape;27;p3"/>
          <p:cNvSpPr/>
          <p:nvPr/>
        </p:nvSpPr>
        <p:spPr>
          <a:xfrm>
            <a:off x="822960" y="534924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300"/>
              <a:buFont typeface="Calibri"/>
              <a:buNone/>
            </a:pPr>
            <a:r>
              <a:rPr b="0" i="0" lang="en-US" sz="1300" u="none" cap="none" strike="noStrike">
                <a:solidFill>
                  <a:srgbClr val="62726F"/>
                </a:solidFill>
                <a:latin typeface="Calibri"/>
                <a:ea typeface="Calibri"/>
                <a:cs typeface="Calibri"/>
                <a:sym typeface="Calibri"/>
              </a:rPr>
              <a:t>Advisor:  </a:t>
            </a:r>
            <a:r>
              <a:rPr b="1" i="0" lang="en-US" sz="1300" u="none" cap="none" strike="noStrike">
                <a:solidFill>
                  <a:srgbClr val="FFFFFF"/>
                </a:solidFill>
                <a:latin typeface="Calibri"/>
                <a:ea typeface="Calibri"/>
                <a:cs typeface="Calibri"/>
                <a:sym typeface="Calibri"/>
              </a:rPr>
              <a:t>PGS.TS Nguyễn Văn Vũ</a:t>
            </a:r>
            <a:r>
              <a:rPr b="0" i="0" lang="en-US" sz="1300" u="none" cap="none" strike="noStrike">
                <a:solidFill>
                  <a:srgbClr val="84B59F"/>
                </a:solidFill>
                <a:latin typeface="Calibri"/>
                <a:ea typeface="Calibri"/>
                <a:cs typeface="Calibri"/>
                <a:sym typeface="Calibri"/>
              </a:rPr>
              <a:t>        ·        Graduation Thesis · Ho Chi Minh City,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32" name="Shape 32"/>
        <p:cNvGrpSpPr/>
        <p:nvPr/>
      </p:nvGrpSpPr>
      <p:grpSpPr>
        <a:xfrm>
          <a:off x="0" y="0"/>
          <a:ext cx="0" cy="0"/>
          <a:chOff x="0" y="0"/>
          <a:chExt cx="0" cy="0"/>
        </a:xfrm>
      </p:grpSpPr>
      <p:sp>
        <p:nvSpPr>
          <p:cNvPr id="33" name="Google Shape;33;p4"/>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ROADMAP</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lang="en-US" sz="3000">
                <a:solidFill>
                  <a:srgbClr val="1E2B29"/>
                </a:solidFill>
                <a:latin typeface="Century Schoolbook"/>
                <a:ea typeface="Century Schoolbook"/>
                <a:cs typeface="Century Schoolbook"/>
                <a:sym typeface="Century Schoolbook"/>
              </a:rPr>
              <a:t>Outline</a:t>
            </a:r>
            <a:endParaRPr b="0" i="0" sz="3000" u="none" cap="none" strike="noStrike">
              <a:solidFill>
                <a:schemeClr val="dk1"/>
              </a:solidFill>
              <a:latin typeface="Calibri"/>
              <a:ea typeface="Calibri"/>
              <a:cs typeface="Calibri"/>
              <a:sym typeface="Calibri"/>
            </a:endParaRPr>
          </a:p>
        </p:txBody>
      </p:sp>
      <p:sp>
        <p:nvSpPr>
          <p:cNvPr id="35" name="Google Shape;35;p4"/>
          <p:cNvSpPr/>
          <p:nvPr/>
        </p:nvSpPr>
        <p:spPr>
          <a:xfrm>
            <a:off x="548640" y="1600200"/>
            <a:ext cx="5285232" cy="4572000"/>
          </a:xfrm>
          <a:prstGeom prst="roundRect">
            <a:avLst>
              <a:gd fmla="val 2400"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548640" y="1600200"/>
            <a:ext cx="5285232" cy="749808"/>
          </a:xfrm>
          <a:prstGeom prst="roundRect">
            <a:avLst>
              <a:gd fmla="val 14634" name="adj"/>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548640" y="1965960"/>
            <a:ext cx="5285232" cy="384048"/>
          </a:xfrm>
          <a:prstGeom prst="rect">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22960" y="1673352"/>
            <a:ext cx="4754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entury Schoolbook"/>
              <a:buNone/>
            </a:pPr>
            <a:r>
              <a:rPr b="1" i="0" lang="en-US" sz="1800" u="none" cap="none" strike="noStrike">
                <a:solidFill>
                  <a:srgbClr val="FFFFFF"/>
                </a:solidFill>
                <a:latin typeface="Century Schoolbook"/>
                <a:ea typeface="Century Schoolbook"/>
                <a:cs typeface="Century Schoolbook"/>
                <a:sym typeface="Century Schoolbook"/>
              </a:rPr>
              <a:t>Part 1</a:t>
            </a:r>
            <a:endParaRPr b="0" i="0" sz="1800" u="none" cap="none" strike="noStrike">
              <a:solidFill>
                <a:schemeClr val="dk1"/>
              </a:solidFill>
              <a:latin typeface="Calibri"/>
              <a:ea typeface="Calibri"/>
              <a:cs typeface="Calibri"/>
              <a:sym typeface="Calibri"/>
            </a:endParaRPr>
          </a:p>
        </p:txBody>
      </p:sp>
      <p:sp>
        <p:nvSpPr>
          <p:cNvPr id="39" name="Google Shape;39;p4"/>
          <p:cNvSpPr/>
          <p:nvPr/>
        </p:nvSpPr>
        <p:spPr>
          <a:xfrm>
            <a:off x="822960" y="2002536"/>
            <a:ext cx="484632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FEA"/>
              </a:buClr>
              <a:buSzPts val="1200"/>
              <a:buFont typeface="Calibri"/>
              <a:buNone/>
            </a:pPr>
            <a:r>
              <a:rPr i="1" lang="en-US" sz="1200">
                <a:solidFill>
                  <a:srgbClr val="E4EFEA"/>
                </a:solidFill>
                <a:latin typeface="Calibri"/>
                <a:ea typeface="Calibri"/>
                <a:cs typeface="Calibri"/>
                <a:sym typeface="Calibri"/>
              </a:rPr>
              <a:t>The problem, the users &amp; the requirements</a:t>
            </a:r>
            <a:endParaRPr b="0" i="0" sz="1200" u="none" cap="none" strike="noStrike">
              <a:solidFill>
                <a:schemeClr val="dk1"/>
              </a:solidFill>
              <a:latin typeface="Calibri"/>
              <a:ea typeface="Calibri"/>
              <a:cs typeface="Calibri"/>
              <a:sym typeface="Calibri"/>
            </a:endParaRPr>
          </a:p>
        </p:txBody>
      </p:sp>
      <p:sp>
        <p:nvSpPr>
          <p:cNvPr id="40" name="Google Shape;40;p4"/>
          <p:cNvSpPr/>
          <p:nvPr/>
        </p:nvSpPr>
        <p:spPr>
          <a:xfrm>
            <a:off x="841248" y="2624328"/>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841248" y="2624328"/>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2" name="Google Shape;42;p4"/>
          <p:cNvSpPr/>
          <p:nvPr/>
        </p:nvSpPr>
        <p:spPr>
          <a:xfrm>
            <a:off x="1298448" y="2606040"/>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Background &amp; motivation</a:t>
            </a:r>
            <a:endParaRPr b="0" i="0" sz="1350" u="none" cap="none" strike="noStrike">
              <a:solidFill>
                <a:schemeClr val="dk1"/>
              </a:solidFill>
              <a:latin typeface="Calibri"/>
              <a:ea typeface="Calibri"/>
              <a:cs typeface="Calibri"/>
              <a:sym typeface="Calibri"/>
            </a:endParaRPr>
          </a:p>
        </p:txBody>
      </p:sp>
      <p:sp>
        <p:nvSpPr>
          <p:cNvPr id="43" name="Google Shape;43;p4"/>
          <p:cNvSpPr/>
          <p:nvPr/>
        </p:nvSpPr>
        <p:spPr>
          <a:xfrm>
            <a:off x="841248" y="3191256"/>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41248" y="3191256"/>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5" name="Google Shape;45;p4"/>
          <p:cNvSpPr/>
          <p:nvPr/>
        </p:nvSpPr>
        <p:spPr>
          <a:xfrm>
            <a:off x="1298448" y="3172968"/>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A fragmented market</a:t>
            </a:r>
            <a:endParaRPr b="0" i="0" sz="1350" u="none" cap="none" strike="noStrike">
              <a:solidFill>
                <a:schemeClr val="dk1"/>
              </a:solidFill>
              <a:latin typeface="Calibri"/>
              <a:ea typeface="Calibri"/>
              <a:cs typeface="Calibri"/>
              <a:sym typeface="Calibri"/>
            </a:endParaRPr>
          </a:p>
        </p:txBody>
      </p:sp>
      <p:sp>
        <p:nvSpPr>
          <p:cNvPr id="46" name="Google Shape;46;p4"/>
          <p:cNvSpPr/>
          <p:nvPr/>
        </p:nvSpPr>
        <p:spPr>
          <a:xfrm>
            <a:off x="841248" y="3758184"/>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841248" y="3758184"/>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1298448" y="3739896"/>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What users &amp; professionals told us</a:t>
            </a:r>
            <a:endParaRPr b="0" i="0" sz="1350" u="none" cap="none" strike="noStrike">
              <a:solidFill>
                <a:schemeClr val="dk1"/>
              </a:solidFill>
              <a:latin typeface="Calibri"/>
              <a:ea typeface="Calibri"/>
              <a:cs typeface="Calibri"/>
              <a:sym typeface="Calibri"/>
            </a:endParaRPr>
          </a:p>
        </p:txBody>
      </p:sp>
      <p:sp>
        <p:nvSpPr>
          <p:cNvPr id="49" name="Google Shape;49;p4"/>
          <p:cNvSpPr/>
          <p:nvPr/>
        </p:nvSpPr>
        <p:spPr>
          <a:xfrm>
            <a:off x="841248" y="4325112"/>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841248" y="4325112"/>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51" name="Google Shape;51;p4"/>
          <p:cNvSpPr/>
          <p:nvPr/>
        </p:nvSpPr>
        <p:spPr>
          <a:xfrm>
            <a:off x="1298448" y="4306824"/>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Two core problems</a:t>
            </a:r>
            <a:endParaRPr b="0" i="0" sz="1350" u="none" cap="none" strike="noStrike">
              <a:solidFill>
                <a:schemeClr val="dk1"/>
              </a:solidFill>
              <a:latin typeface="Calibri"/>
              <a:ea typeface="Calibri"/>
              <a:cs typeface="Calibri"/>
              <a:sym typeface="Calibri"/>
            </a:endParaRPr>
          </a:p>
        </p:txBody>
      </p:sp>
      <p:sp>
        <p:nvSpPr>
          <p:cNvPr id="52" name="Google Shape;52;p4"/>
          <p:cNvSpPr/>
          <p:nvPr/>
        </p:nvSpPr>
        <p:spPr>
          <a:xfrm>
            <a:off x="841248" y="4892040"/>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841248" y="4892040"/>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54" name="Google Shape;54;p4"/>
          <p:cNvSpPr/>
          <p:nvPr/>
        </p:nvSpPr>
        <p:spPr>
          <a:xfrm>
            <a:off x="1298448" y="4873752"/>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Objectives</a:t>
            </a:r>
            <a:endParaRPr b="0" i="0" sz="1350" u="none" cap="none" strike="noStrike">
              <a:solidFill>
                <a:schemeClr val="dk1"/>
              </a:solidFill>
              <a:latin typeface="Calibri"/>
              <a:ea typeface="Calibri"/>
              <a:cs typeface="Calibri"/>
              <a:sym typeface="Calibri"/>
            </a:endParaRPr>
          </a:p>
        </p:txBody>
      </p:sp>
      <p:sp>
        <p:nvSpPr>
          <p:cNvPr id="55" name="Google Shape;55;p4"/>
          <p:cNvSpPr/>
          <p:nvPr/>
        </p:nvSpPr>
        <p:spPr>
          <a:xfrm>
            <a:off x="841248" y="5458968"/>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841248" y="5458968"/>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57" name="Google Shape;57;p4"/>
          <p:cNvSpPr/>
          <p:nvPr/>
        </p:nvSpPr>
        <p:spPr>
          <a:xfrm>
            <a:off x="1298448" y="5440680"/>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Positioning vs existing platforms</a:t>
            </a:r>
            <a:endParaRPr b="0" i="0" sz="1350" u="none" cap="none" strike="noStrike">
              <a:solidFill>
                <a:schemeClr val="dk1"/>
              </a:solidFill>
              <a:latin typeface="Calibri"/>
              <a:ea typeface="Calibri"/>
              <a:cs typeface="Calibri"/>
              <a:sym typeface="Calibri"/>
            </a:endParaRPr>
          </a:p>
        </p:txBody>
      </p:sp>
      <p:sp>
        <p:nvSpPr>
          <p:cNvPr id="58" name="Google Shape;58;p4"/>
          <p:cNvSpPr/>
          <p:nvPr/>
        </p:nvSpPr>
        <p:spPr>
          <a:xfrm>
            <a:off x="6355080" y="1600200"/>
            <a:ext cx="5285100" cy="4572000"/>
          </a:xfrm>
          <a:prstGeom prst="roundRect">
            <a:avLst>
              <a:gd fmla="val 2400"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6355080" y="1600200"/>
            <a:ext cx="5285232" cy="749808"/>
          </a:xfrm>
          <a:prstGeom prst="roundRect">
            <a:avLst>
              <a:gd fmla="val 14634" name="adj"/>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6355080" y="1965960"/>
            <a:ext cx="5285232" cy="384048"/>
          </a:xfrm>
          <a:prstGeom prst="rect">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629400" y="1673352"/>
            <a:ext cx="47548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entury Schoolbook"/>
              <a:buNone/>
            </a:pPr>
            <a:r>
              <a:rPr b="1" i="0" lang="en-US" sz="1800" u="none" cap="none" strike="noStrike">
                <a:solidFill>
                  <a:srgbClr val="FFFFFF"/>
                </a:solidFill>
                <a:latin typeface="Century Schoolbook"/>
                <a:ea typeface="Century Schoolbook"/>
                <a:cs typeface="Century Schoolbook"/>
                <a:sym typeface="Century Schoolbook"/>
              </a:rPr>
              <a:t>Part 2</a:t>
            </a:r>
            <a:endParaRPr b="0" i="0" sz="1800" u="none" cap="none" strike="noStrike">
              <a:solidFill>
                <a:schemeClr val="dk1"/>
              </a:solidFill>
              <a:latin typeface="Calibri"/>
              <a:ea typeface="Calibri"/>
              <a:cs typeface="Calibri"/>
              <a:sym typeface="Calibri"/>
            </a:endParaRPr>
          </a:p>
        </p:txBody>
      </p:sp>
      <p:sp>
        <p:nvSpPr>
          <p:cNvPr id="62" name="Google Shape;62;p4"/>
          <p:cNvSpPr/>
          <p:nvPr/>
        </p:nvSpPr>
        <p:spPr>
          <a:xfrm>
            <a:off x="6629400" y="2002536"/>
            <a:ext cx="484632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FEA"/>
              </a:buClr>
              <a:buSzPts val="1200"/>
              <a:buFont typeface="Calibri"/>
              <a:buNone/>
            </a:pPr>
            <a:r>
              <a:rPr b="0" i="1" lang="en-US" sz="1200" u="none" cap="none" strike="noStrike">
                <a:solidFill>
                  <a:srgbClr val="E4EFEA"/>
                </a:solidFill>
                <a:latin typeface="Calibri"/>
                <a:ea typeface="Calibri"/>
                <a:cs typeface="Calibri"/>
                <a:sym typeface="Calibri"/>
              </a:rPr>
              <a:t>The system, security &amp; evaluation</a:t>
            </a:r>
            <a:endParaRPr b="0" i="0" sz="1200" u="none" cap="none" strike="noStrike">
              <a:solidFill>
                <a:schemeClr val="dk1"/>
              </a:solidFill>
              <a:latin typeface="Calibri"/>
              <a:ea typeface="Calibri"/>
              <a:cs typeface="Calibri"/>
              <a:sym typeface="Calibri"/>
            </a:endParaRPr>
          </a:p>
        </p:txBody>
      </p:sp>
      <p:sp>
        <p:nvSpPr>
          <p:cNvPr id="63" name="Google Shape;63;p4"/>
          <p:cNvSpPr/>
          <p:nvPr/>
        </p:nvSpPr>
        <p:spPr>
          <a:xfrm>
            <a:off x="6647688" y="2624328"/>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6647688" y="2624328"/>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65" name="Google Shape;65;p4"/>
          <p:cNvSpPr/>
          <p:nvPr/>
        </p:nvSpPr>
        <p:spPr>
          <a:xfrm>
            <a:off x="7104888" y="2606040"/>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Microservices architecture</a:t>
            </a:r>
            <a:endParaRPr b="0" i="0" sz="1350" u="none" cap="none" strike="noStrike">
              <a:solidFill>
                <a:schemeClr val="dk1"/>
              </a:solidFill>
              <a:latin typeface="Calibri"/>
              <a:ea typeface="Calibri"/>
              <a:cs typeface="Calibri"/>
              <a:sym typeface="Calibri"/>
            </a:endParaRPr>
          </a:p>
        </p:txBody>
      </p:sp>
      <p:sp>
        <p:nvSpPr>
          <p:cNvPr id="66" name="Google Shape;66;p4"/>
          <p:cNvSpPr/>
          <p:nvPr/>
        </p:nvSpPr>
        <p:spPr>
          <a:xfrm>
            <a:off x="6647688" y="3191256"/>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6647688" y="3191256"/>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68" name="Google Shape;68;p4"/>
          <p:cNvSpPr/>
          <p:nvPr/>
        </p:nvSpPr>
        <p:spPr>
          <a:xfrm>
            <a:off x="7104888" y="3172968"/>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Permission-based data sharing</a:t>
            </a:r>
            <a:endParaRPr b="0" i="0" sz="1350" u="none" cap="none" strike="noStrike">
              <a:solidFill>
                <a:schemeClr val="dk1"/>
              </a:solidFill>
              <a:latin typeface="Calibri"/>
              <a:ea typeface="Calibri"/>
              <a:cs typeface="Calibri"/>
              <a:sym typeface="Calibri"/>
            </a:endParaRPr>
          </a:p>
        </p:txBody>
      </p:sp>
      <p:sp>
        <p:nvSpPr>
          <p:cNvPr id="69" name="Google Shape;69;p4"/>
          <p:cNvSpPr/>
          <p:nvPr/>
        </p:nvSpPr>
        <p:spPr>
          <a:xfrm>
            <a:off x="6647688" y="3758184"/>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6647688" y="3758184"/>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71" name="Google Shape;71;p4"/>
          <p:cNvSpPr/>
          <p:nvPr/>
        </p:nvSpPr>
        <p:spPr>
          <a:xfrm>
            <a:off x="7104888" y="3739896"/>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The grounded AI companion</a:t>
            </a:r>
            <a:endParaRPr b="0" i="0" sz="1350" u="none" cap="none" strike="noStrike">
              <a:solidFill>
                <a:schemeClr val="dk1"/>
              </a:solidFill>
              <a:latin typeface="Calibri"/>
              <a:ea typeface="Calibri"/>
              <a:cs typeface="Calibri"/>
              <a:sym typeface="Calibri"/>
            </a:endParaRPr>
          </a:p>
        </p:txBody>
      </p:sp>
      <p:sp>
        <p:nvSpPr>
          <p:cNvPr id="72" name="Google Shape;72;p4"/>
          <p:cNvSpPr/>
          <p:nvPr/>
        </p:nvSpPr>
        <p:spPr>
          <a:xfrm>
            <a:off x="6647688" y="4325112"/>
            <a:ext cx="310896" cy="310896"/>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6647688" y="4325112"/>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74" name="Google Shape;74;p4"/>
          <p:cNvSpPr/>
          <p:nvPr/>
        </p:nvSpPr>
        <p:spPr>
          <a:xfrm>
            <a:off x="7104888" y="4306824"/>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Security hardening</a:t>
            </a:r>
            <a:endParaRPr b="0" i="0" sz="1350" u="none" cap="none" strike="noStrike">
              <a:solidFill>
                <a:schemeClr val="dk1"/>
              </a:solidFill>
              <a:latin typeface="Calibri"/>
              <a:ea typeface="Calibri"/>
              <a:cs typeface="Calibri"/>
              <a:sym typeface="Calibri"/>
            </a:endParaRPr>
          </a:p>
        </p:txBody>
      </p:sp>
      <p:sp>
        <p:nvSpPr>
          <p:cNvPr id="75" name="Google Shape;75;p4"/>
          <p:cNvSpPr/>
          <p:nvPr/>
        </p:nvSpPr>
        <p:spPr>
          <a:xfrm>
            <a:off x="6647726" y="4892018"/>
            <a:ext cx="310800" cy="31080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6647738" y="4892018"/>
            <a:ext cx="310800" cy="31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200"/>
              <a:buFont typeface="Calibri"/>
              <a:buNone/>
            </a:pPr>
            <a:r>
              <a:rPr b="1" lang="en-US" sz="1200">
                <a:solidFill>
                  <a:srgbClr val="2E7D74"/>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77" name="Google Shape;77;p4"/>
          <p:cNvSpPr/>
          <p:nvPr/>
        </p:nvSpPr>
        <p:spPr>
          <a:xfrm>
            <a:off x="7104938" y="4873755"/>
            <a:ext cx="4389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Limitations &amp; future work</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82" name="Shape 82"/>
        <p:cNvGrpSpPr/>
        <p:nvPr/>
      </p:nvGrpSpPr>
      <p:grpSpPr>
        <a:xfrm>
          <a:off x="0" y="0"/>
          <a:ext cx="0" cy="0"/>
          <a:chOff x="0" y="0"/>
          <a:chExt cx="0" cy="0"/>
        </a:xfrm>
      </p:grpSpPr>
      <p:sp>
        <p:nvSpPr>
          <p:cNvPr id="83" name="Google Shape;83;p5"/>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BACKGROUND &amp; MOTIVATION</a:t>
            </a:r>
            <a:endParaRPr b="0" i="0" sz="1200" u="none" cap="none" strike="noStrike">
              <a:solidFill>
                <a:schemeClr val="dk1"/>
              </a:solidFill>
              <a:latin typeface="Calibri"/>
              <a:ea typeface="Calibri"/>
              <a:cs typeface="Calibri"/>
              <a:sym typeface="Calibri"/>
            </a:endParaRPr>
          </a:p>
        </p:txBody>
      </p:sp>
      <p:sp>
        <p:nvSpPr>
          <p:cNvPr id="84" name="Google Shape;84;p5"/>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The distress is rarely invisible in hindsight</a:t>
            </a:r>
            <a:endParaRPr b="0" i="0" sz="3000" u="none" cap="none" strike="noStrike">
              <a:solidFill>
                <a:schemeClr val="dk1"/>
              </a:solidFill>
              <a:latin typeface="Calibri"/>
              <a:ea typeface="Calibri"/>
              <a:cs typeface="Calibri"/>
              <a:sym typeface="Calibri"/>
            </a:endParaRPr>
          </a:p>
        </p:txBody>
      </p:sp>
      <p:sp>
        <p:nvSpPr>
          <p:cNvPr id="85" name="Google Shape;85;p5"/>
          <p:cNvSpPr/>
          <p:nvPr/>
        </p:nvSpPr>
        <p:spPr>
          <a:xfrm>
            <a:off x="548640" y="1417320"/>
            <a:ext cx="110642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400"/>
              <a:buFont typeface="Calibri"/>
              <a:buNone/>
            </a:pPr>
            <a:r>
              <a:rPr b="0" i="1" lang="en-US" sz="1400" u="none" cap="none" strike="noStrike">
                <a:solidFill>
                  <a:srgbClr val="62726F"/>
                </a:solidFill>
                <a:latin typeface="Calibri"/>
                <a:ea typeface="Calibri"/>
                <a:cs typeface="Calibri"/>
                <a:sym typeface="Calibri"/>
              </a:rPr>
              <a:t>Adolescent mental health in Vietnam needs more attention than ever </a:t>
            </a:r>
            <a:r>
              <a:rPr i="1" lang="en-US">
                <a:solidFill>
                  <a:srgbClr val="62726F"/>
                </a:solidFill>
                <a:latin typeface="Calibri"/>
                <a:ea typeface="Calibri"/>
                <a:cs typeface="Calibri"/>
                <a:sym typeface="Calibri"/>
              </a:rPr>
              <a:t>-</a:t>
            </a:r>
            <a:r>
              <a:rPr b="0" i="1" lang="en-US" sz="1400" u="none" cap="none" strike="noStrike">
                <a:solidFill>
                  <a:srgbClr val="62726F"/>
                </a:solidFill>
                <a:latin typeface="Calibri"/>
                <a:ea typeface="Calibri"/>
                <a:cs typeface="Calibri"/>
                <a:sym typeface="Calibri"/>
              </a:rPr>
              <a:t> the warning signs are usually present beforehand, in ordinary conversations, and simply never seen by anyone positioned to act.</a:t>
            </a:r>
            <a:endParaRPr b="0" i="0" sz="1400" u="none" cap="none" strike="noStrike">
              <a:solidFill>
                <a:schemeClr val="dk1"/>
              </a:solidFill>
              <a:latin typeface="Calibri"/>
              <a:ea typeface="Calibri"/>
              <a:cs typeface="Calibri"/>
              <a:sym typeface="Calibri"/>
            </a:endParaRPr>
          </a:p>
        </p:txBody>
      </p:sp>
      <p:sp>
        <p:nvSpPr>
          <p:cNvPr id="86" name="Google Shape;86;p5"/>
          <p:cNvSpPr/>
          <p:nvPr/>
        </p:nvSpPr>
        <p:spPr>
          <a:xfrm>
            <a:off x="548640" y="2148840"/>
            <a:ext cx="2670048" cy="3017520"/>
          </a:xfrm>
          <a:prstGeom prst="roundRect">
            <a:avLst>
              <a:gd fmla="val 3425"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1499616" y="2468880"/>
            <a:ext cx="768096" cy="768096"/>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5"/>
          <p:cNvPicPr preferRelativeResize="0"/>
          <p:nvPr/>
        </p:nvPicPr>
        <p:blipFill rotWithShape="1">
          <a:blip r:embed="rId3">
            <a:alphaModFix/>
          </a:blip>
          <a:srcRect b="0" l="0" r="0" t="0"/>
          <a:stretch/>
        </p:blipFill>
        <p:spPr>
          <a:xfrm>
            <a:off x="1683959" y="2653223"/>
            <a:ext cx="399410" cy="399410"/>
          </a:xfrm>
          <a:prstGeom prst="rect">
            <a:avLst/>
          </a:prstGeom>
          <a:noFill/>
          <a:ln>
            <a:noFill/>
          </a:ln>
        </p:spPr>
      </p:pic>
      <p:sp>
        <p:nvSpPr>
          <p:cNvPr id="89" name="Google Shape;89;p5"/>
          <p:cNvSpPr/>
          <p:nvPr/>
        </p:nvSpPr>
        <p:spPr>
          <a:xfrm>
            <a:off x="548640" y="3291840"/>
            <a:ext cx="2670048"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entury Schoolbook"/>
              <a:buNone/>
            </a:pPr>
            <a:r>
              <a:rPr b="1" i="0" lang="en-US" sz="4200" u="none" cap="none" strike="noStrike">
                <a:solidFill>
                  <a:srgbClr val="FFFFFF"/>
                </a:solidFill>
                <a:latin typeface="Century Schoolbook"/>
                <a:ea typeface="Century Schoolbook"/>
                <a:cs typeface="Century Schoolbook"/>
                <a:sym typeface="Century Schoolbook"/>
              </a:rPr>
              <a:t>46.5%</a:t>
            </a:r>
            <a:endParaRPr b="0" i="0" sz="4200" u="none" cap="none" strike="noStrike">
              <a:solidFill>
                <a:schemeClr val="dk1"/>
              </a:solidFill>
              <a:latin typeface="Calibri"/>
              <a:ea typeface="Calibri"/>
              <a:cs typeface="Calibri"/>
              <a:sym typeface="Calibri"/>
            </a:endParaRPr>
          </a:p>
        </p:txBody>
      </p:sp>
      <p:sp>
        <p:nvSpPr>
          <p:cNvPr id="90" name="Google Shape;90;p5"/>
          <p:cNvSpPr/>
          <p:nvPr/>
        </p:nvSpPr>
        <p:spPr>
          <a:xfrm>
            <a:off x="731520" y="4114800"/>
            <a:ext cx="2304288"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CEBE6"/>
              </a:buClr>
              <a:buSzPts val="1200"/>
              <a:buFont typeface="Calibri"/>
              <a:buNone/>
            </a:pPr>
            <a:r>
              <a:rPr b="0" i="0" lang="en-US" sz="1200" u="none" cap="none" strike="noStrike">
                <a:solidFill>
                  <a:srgbClr val="DCEBE6"/>
                </a:solidFill>
                <a:latin typeface="Calibri"/>
                <a:ea typeface="Calibri"/>
                <a:cs typeface="Calibri"/>
                <a:sym typeface="Calibri"/>
              </a:rPr>
              <a:t>of 1,316 HCMC high-schoolers reported self-injury behaviour</a:t>
            </a:r>
            <a:endParaRPr b="0" i="0" sz="1200" u="none" cap="none" strike="noStrike">
              <a:solidFill>
                <a:schemeClr val="dk1"/>
              </a:solidFill>
              <a:latin typeface="Calibri"/>
              <a:ea typeface="Calibri"/>
              <a:cs typeface="Calibri"/>
              <a:sym typeface="Calibri"/>
            </a:endParaRPr>
          </a:p>
        </p:txBody>
      </p:sp>
      <p:sp>
        <p:nvSpPr>
          <p:cNvPr id="91" name="Google Shape;91;p5"/>
          <p:cNvSpPr/>
          <p:nvPr/>
        </p:nvSpPr>
        <p:spPr>
          <a:xfrm>
            <a:off x="3383280" y="2148840"/>
            <a:ext cx="2670048" cy="3017520"/>
          </a:xfrm>
          <a:prstGeom prst="roundRect">
            <a:avLst>
              <a:gd fmla="val 3425" name="adj"/>
            </a:avLst>
          </a:prstGeom>
          <a:solidFill>
            <a:srgbClr val="2E7D74"/>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334256" y="2468880"/>
            <a:ext cx="768096" cy="768096"/>
          </a:xfrm>
          <a:prstGeom prst="ellipse">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5"/>
          <p:cNvPicPr preferRelativeResize="0"/>
          <p:nvPr/>
        </p:nvPicPr>
        <p:blipFill rotWithShape="1">
          <a:blip r:embed="rId4">
            <a:alphaModFix/>
          </a:blip>
          <a:srcRect b="0" l="0" r="0" t="0"/>
          <a:stretch/>
        </p:blipFill>
        <p:spPr>
          <a:xfrm>
            <a:off x="4518599" y="2653223"/>
            <a:ext cx="399410" cy="399410"/>
          </a:xfrm>
          <a:prstGeom prst="rect">
            <a:avLst/>
          </a:prstGeom>
          <a:noFill/>
          <a:ln>
            <a:noFill/>
          </a:ln>
        </p:spPr>
      </p:pic>
      <p:sp>
        <p:nvSpPr>
          <p:cNvPr id="94" name="Google Shape;94;p5"/>
          <p:cNvSpPr/>
          <p:nvPr/>
        </p:nvSpPr>
        <p:spPr>
          <a:xfrm>
            <a:off x="3383280" y="3291840"/>
            <a:ext cx="2670048"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entury Schoolbook"/>
              <a:buNone/>
            </a:pPr>
            <a:r>
              <a:rPr b="1" i="0" lang="en-US" sz="4200" u="none" cap="none" strike="noStrike">
                <a:solidFill>
                  <a:srgbClr val="FFFFFF"/>
                </a:solidFill>
                <a:latin typeface="Century Schoolbook"/>
                <a:ea typeface="Century Schoolbook"/>
                <a:cs typeface="Century Schoolbook"/>
                <a:sym typeface="Century Schoolbook"/>
              </a:rPr>
              <a:t>1 in 7</a:t>
            </a:r>
            <a:endParaRPr b="0" i="0" sz="4200" u="none" cap="none" strike="noStrike">
              <a:solidFill>
                <a:schemeClr val="dk1"/>
              </a:solidFill>
              <a:latin typeface="Calibri"/>
              <a:ea typeface="Calibri"/>
              <a:cs typeface="Calibri"/>
              <a:sym typeface="Calibri"/>
            </a:endParaRPr>
          </a:p>
        </p:txBody>
      </p:sp>
      <p:sp>
        <p:nvSpPr>
          <p:cNvPr id="95" name="Google Shape;95;p5"/>
          <p:cNvSpPr/>
          <p:nvPr/>
        </p:nvSpPr>
        <p:spPr>
          <a:xfrm>
            <a:off x="3566160" y="4114800"/>
            <a:ext cx="2304288"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CEBE6"/>
              </a:buClr>
              <a:buSzPts val="1200"/>
              <a:buFont typeface="Calibri"/>
              <a:buNone/>
            </a:pPr>
            <a:r>
              <a:rPr b="0" i="0" lang="en-US" sz="1200" u="none" cap="none" strike="noStrike">
                <a:solidFill>
                  <a:srgbClr val="DCEBE6"/>
                </a:solidFill>
                <a:latin typeface="Calibri"/>
                <a:ea typeface="Calibri"/>
                <a:cs typeface="Calibri"/>
                <a:sym typeface="Calibri"/>
              </a:rPr>
              <a:t>adolescents aged 10–19 experiences a mental disorder (WHO)</a:t>
            </a:r>
            <a:endParaRPr b="0" i="0" sz="1200" u="none" cap="none" strike="noStrike">
              <a:solidFill>
                <a:schemeClr val="dk1"/>
              </a:solidFill>
              <a:latin typeface="Calibri"/>
              <a:ea typeface="Calibri"/>
              <a:cs typeface="Calibri"/>
              <a:sym typeface="Calibri"/>
            </a:endParaRPr>
          </a:p>
        </p:txBody>
      </p:sp>
      <p:sp>
        <p:nvSpPr>
          <p:cNvPr id="96" name="Google Shape;96;p5"/>
          <p:cNvSpPr/>
          <p:nvPr/>
        </p:nvSpPr>
        <p:spPr>
          <a:xfrm>
            <a:off x="6217920" y="2148840"/>
            <a:ext cx="2670048" cy="3017520"/>
          </a:xfrm>
          <a:prstGeom prst="roundRect">
            <a:avLst>
              <a:gd fmla="val 3425" name="adj"/>
            </a:avLst>
          </a:prstGeom>
          <a:solidFill>
            <a:srgbClr val="2E7D74"/>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168896" y="2468880"/>
            <a:ext cx="768096" cy="768096"/>
          </a:xfrm>
          <a:prstGeom prst="ellipse">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5"/>
          <p:cNvPicPr preferRelativeResize="0"/>
          <p:nvPr/>
        </p:nvPicPr>
        <p:blipFill rotWithShape="1">
          <a:blip r:embed="rId5">
            <a:alphaModFix/>
          </a:blip>
          <a:srcRect b="0" l="0" r="0" t="0"/>
          <a:stretch/>
        </p:blipFill>
        <p:spPr>
          <a:xfrm>
            <a:off x="7353239" y="2653223"/>
            <a:ext cx="399410" cy="399410"/>
          </a:xfrm>
          <a:prstGeom prst="rect">
            <a:avLst/>
          </a:prstGeom>
          <a:noFill/>
          <a:ln>
            <a:noFill/>
          </a:ln>
        </p:spPr>
      </p:pic>
      <p:sp>
        <p:nvSpPr>
          <p:cNvPr id="99" name="Google Shape;99;p5"/>
          <p:cNvSpPr/>
          <p:nvPr/>
        </p:nvSpPr>
        <p:spPr>
          <a:xfrm>
            <a:off x="6217920" y="3291840"/>
            <a:ext cx="2670048"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entury Schoolbook"/>
              <a:buNone/>
            </a:pPr>
            <a:r>
              <a:rPr b="1" i="0" lang="en-US" sz="4200" u="none" cap="none" strike="noStrike">
                <a:solidFill>
                  <a:srgbClr val="FFFFFF"/>
                </a:solidFill>
                <a:latin typeface="Century Schoolbook"/>
                <a:ea typeface="Century Schoolbook"/>
                <a:cs typeface="Century Schoolbook"/>
                <a:sym typeface="Century Schoolbook"/>
              </a:rPr>
              <a:t>15%</a:t>
            </a:r>
            <a:endParaRPr b="0" i="0" sz="4200" u="none" cap="none" strike="noStrike">
              <a:solidFill>
                <a:schemeClr val="dk1"/>
              </a:solidFill>
              <a:latin typeface="Calibri"/>
              <a:ea typeface="Calibri"/>
              <a:cs typeface="Calibri"/>
              <a:sym typeface="Calibri"/>
            </a:endParaRPr>
          </a:p>
        </p:txBody>
      </p:sp>
      <p:sp>
        <p:nvSpPr>
          <p:cNvPr id="100" name="Google Shape;100;p5"/>
          <p:cNvSpPr/>
          <p:nvPr/>
        </p:nvSpPr>
        <p:spPr>
          <a:xfrm>
            <a:off x="6400800" y="4114800"/>
            <a:ext cx="2304288"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CEBE6"/>
              </a:buClr>
              <a:buSzPts val="1200"/>
              <a:buFont typeface="Calibri"/>
              <a:buNone/>
            </a:pPr>
            <a:r>
              <a:rPr b="0" i="0" lang="en-US" sz="1200" u="none" cap="none" strike="noStrike">
                <a:solidFill>
                  <a:srgbClr val="DCEBE6"/>
                </a:solidFill>
                <a:latin typeface="Calibri"/>
                <a:ea typeface="Calibri"/>
                <a:cs typeface="Calibri"/>
                <a:sym typeface="Calibri"/>
              </a:rPr>
              <a:t>of the disease burden in this age group is mental illness</a:t>
            </a:r>
            <a:endParaRPr b="0" i="0" sz="1200" u="none" cap="none" strike="noStrike">
              <a:solidFill>
                <a:schemeClr val="dk1"/>
              </a:solidFill>
              <a:latin typeface="Calibri"/>
              <a:ea typeface="Calibri"/>
              <a:cs typeface="Calibri"/>
              <a:sym typeface="Calibri"/>
            </a:endParaRPr>
          </a:p>
        </p:txBody>
      </p:sp>
      <p:sp>
        <p:nvSpPr>
          <p:cNvPr id="101" name="Google Shape;101;p5"/>
          <p:cNvSpPr/>
          <p:nvPr/>
        </p:nvSpPr>
        <p:spPr>
          <a:xfrm>
            <a:off x="9052560" y="2148840"/>
            <a:ext cx="2670048" cy="3017520"/>
          </a:xfrm>
          <a:prstGeom prst="roundRect">
            <a:avLst>
              <a:gd fmla="val 3425" name="adj"/>
            </a:avLst>
          </a:prstGeom>
          <a:solidFill>
            <a:srgbClr val="2E7D74"/>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10003536" y="2468880"/>
            <a:ext cx="768096" cy="768096"/>
          </a:xfrm>
          <a:prstGeom prst="ellipse">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5"/>
          <p:cNvPicPr preferRelativeResize="0"/>
          <p:nvPr/>
        </p:nvPicPr>
        <p:blipFill rotWithShape="1">
          <a:blip r:embed="rId6">
            <a:alphaModFix/>
          </a:blip>
          <a:srcRect b="0" l="0" r="0" t="0"/>
          <a:stretch/>
        </p:blipFill>
        <p:spPr>
          <a:xfrm>
            <a:off x="10187879" y="2653223"/>
            <a:ext cx="399410" cy="399410"/>
          </a:xfrm>
          <a:prstGeom prst="rect">
            <a:avLst/>
          </a:prstGeom>
          <a:noFill/>
          <a:ln>
            <a:noFill/>
          </a:ln>
        </p:spPr>
      </p:pic>
      <p:sp>
        <p:nvSpPr>
          <p:cNvPr id="104" name="Google Shape;104;p5"/>
          <p:cNvSpPr/>
          <p:nvPr/>
        </p:nvSpPr>
        <p:spPr>
          <a:xfrm>
            <a:off x="9052560" y="3291840"/>
            <a:ext cx="2670048"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entury Schoolbook"/>
              <a:buNone/>
            </a:pPr>
            <a:r>
              <a:rPr b="1" i="0" lang="en-US" sz="4200" u="none" cap="none" strike="noStrike">
                <a:solidFill>
                  <a:srgbClr val="FFFFFF"/>
                </a:solidFill>
                <a:latin typeface="Century Schoolbook"/>
                <a:ea typeface="Century Schoolbook"/>
                <a:cs typeface="Century Schoolbook"/>
                <a:sym typeface="Century Schoolbook"/>
              </a:rPr>
              <a:t>#3</a:t>
            </a:r>
            <a:endParaRPr b="0" i="0" sz="4200" u="none" cap="none" strike="noStrike">
              <a:solidFill>
                <a:schemeClr val="dk1"/>
              </a:solidFill>
              <a:latin typeface="Calibri"/>
              <a:ea typeface="Calibri"/>
              <a:cs typeface="Calibri"/>
              <a:sym typeface="Calibri"/>
            </a:endParaRPr>
          </a:p>
        </p:txBody>
      </p:sp>
      <p:sp>
        <p:nvSpPr>
          <p:cNvPr id="105" name="Google Shape;105;p5"/>
          <p:cNvSpPr/>
          <p:nvPr/>
        </p:nvSpPr>
        <p:spPr>
          <a:xfrm>
            <a:off x="9235440" y="4114800"/>
            <a:ext cx="2304288"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CEBE6"/>
              </a:buClr>
              <a:buSzPts val="1200"/>
              <a:buFont typeface="Calibri"/>
              <a:buNone/>
            </a:pPr>
            <a:r>
              <a:rPr b="0" i="0" lang="en-US" sz="1200" u="none" cap="none" strike="noStrike">
                <a:solidFill>
                  <a:srgbClr val="DCEBE6"/>
                </a:solidFill>
                <a:latin typeface="Calibri"/>
                <a:ea typeface="Calibri"/>
                <a:cs typeface="Calibri"/>
                <a:sym typeface="Calibri"/>
              </a:rPr>
              <a:t>suicide is the third leading cause of death for ages 15–29</a:t>
            </a:r>
            <a:endParaRPr b="0" i="0" sz="1200" u="none" cap="none" strike="noStrike">
              <a:solidFill>
                <a:schemeClr val="dk1"/>
              </a:solidFill>
              <a:latin typeface="Calibri"/>
              <a:ea typeface="Calibri"/>
              <a:cs typeface="Calibri"/>
              <a:sym typeface="Calibri"/>
            </a:endParaRPr>
          </a:p>
        </p:txBody>
      </p:sp>
      <p:sp>
        <p:nvSpPr>
          <p:cNvPr id="106" name="Google Shape;106;p5"/>
          <p:cNvSpPr/>
          <p:nvPr/>
        </p:nvSpPr>
        <p:spPr>
          <a:xfrm>
            <a:off x="548640" y="544068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0" i="1" lang="en-US" sz="1300" u="none" cap="none" strike="noStrike">
                <a:solidFill>
                  <a:srgbClr val="1E2B29"/>
                </a:solidFill>
                <a:latin typeface="Calibri"/>
                <a:ea typeface="Calibri"/>
                <a:cs typeface="Calibri"/>
                <a:sym typeface="Calibri"/>
              </a:rPr>
              <a:t>Two recent local cases </a:t>
            </a:r>
            <a:r>
              <a:rPr i="1" lang="en-US" sz="1300">
                <a:solidFill>
                  <a:srgbClr val="1E2B29"/>
                </a:solidFill>
                <a:latin typeface="Calibri"/>
                <a:ea typeface="Calibri"/>
                <a:cs typeface="Calibri"/>
                <a:sym typeface="Calibri"/>
              </a:rPr>
              <a:t>-</a:t>
            </a:r>
            <a:r>
              <a:rPr b="0" i="1" lang="en-US" sz="1300" u="none" cap="none" strike="noStrike">
                <a:solidFill>
                  <a:srgbClr val="1E2B29"/>
                </a:solidFill>
                <a:latin typeface="Calibri"/>
                <a:ea typeface="Calibri"/>
                <a:cs typeface="Calibri"/>
                <a:sym typeface="Calibri"/>
              </a:rPr>
              <a:t> a ninth-grader in HCMC and a final-year IT student at our own university </a:t>
            </a:r>
            <a:r>
              <a:rPr i="1" lang="en-US" sz="1300">
                <a:solidFill>
                  <a:srgbClr val="1E2B29"/>
                </a:solidFill>
                <a:latin typeface="Calibri"/>
                <a:ea typeface="Calibri"/>
                <a:cs typeface="Calibri"/>
                <a:sym typeface="Calibri"/>
              </a:rPr>
              <a:t>- </a:t>
            </a:r>
            <a:r>
              <a:rPr b="0" i="1" lang="en-US" sz="1300" u="none" cap="none" strike="noStrike">
                <a:solidFill>
                  <a:srgbClr val="1E2B29"/>
                </a:solidFill>
                <a:latin typeface="Calibri"/>
                <a:ea typeface="Calibri"/>
                <a:cs typeface="Calibri"/>
                <a:sym typeface="Calibri"/>
              </a:rPr>
              <a:t>took their own lives. The signal existed; nothing was holding it.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111" name="Shape 111"/>
        <p:cNvGrpSpPr/>
        <p:nvPr/>
      </p:nvGrpSpPr>
      <p:grpSpPr>
        <a:xfrm>
          <a:off x="0" y="0"/>
          <a:ext cx="0" cy="0"/>
          <a:chOff x="0" y="0"/>
          <a:chExt cx="0" cy="0"/>
        </a:xfrm>
      </p:grpSpPr>
      <p:sp>
        <p:nvSpPr>
          <p:cNvPr id="112" name="Google Shape;112;p6"/>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lang="en-US" sz="1200">
                <a:solidFill>
                  <a:srgbClr val="2E7D74"/>
                </a:solidFill>
                <a:latin typeface="Calibri"/>
                <a:ea typeface="Calibri"/>
                <a:cs typeface="Calibri"/>
                <a:sym typeface="Calibri"/>
              </a:rPr>
              <a:t>RELATED WORKS</a:t>
            </a:r>
            <a:endParaRPr b="0" i="0" sz="1200" u="none" cap="none" strike="noStrike">
              <a:solidFill>
                <a:schemeClr val="dk1"/>
              </a:solidFill>
              <a:latin typeface="Calibri"/>
              <a:ea typeface="Calibri"/>
              <a:cs typeface="Calibri"/>
              <a:sym typeface="Calibri"/>
            </a:endParaRPr>
          </a:p>
        </p:txBody>
      </p:sp>
      <p:sp>
        <p:nvSpPr>
          <p:cNvPr id="113" name="Google Shape;113;p6"/>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Today's tools each solve only a fragment</a:t>
            </a:r>
            <a:endParaRPr b="0" i="0" sz="3000" u="none" cap="none" strike="noStrike">
              <a:solidFill>
                <a:schemeClr val="dk1"/>
              </a:solidFill>
              <a:latin typeface="Calibri"/>
              <a:ea typeface="Calibri"/>
              <a:cs typeface="Calibri"/>
              <a:sym typeface="Calibri"/>
            </a:endParaRPr>
          </a:p>
        </p:txBody>
      </p:sp>
      <p:sp>
        <p:nvSpPr>
          <p:cNvPr id="114" name="Google Shape;114;p6"/>
          <p:cNvSpPr/>
          <p:nvPr/>
        </p:nvSpPr>
        <p:spPr>
          <a:xfrm>
            <a:off x="548640" y="1554480"/>
            <a:ext cx="2724912" cy="3703320"/>
          </a:xfrm>
          <a:prstGeom prst="roundRect">
            <a:avLst>
              <a:gd fmla="val 3356"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822960" y="1847088"/>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6"/>
          <p:cNvPicPr preferRelativeResize="0"/>
          <p:nvPr/>
        </p:nvPicPr>
        <p:blipFill rotWithShape="1">
          <a:blip r:embed="rId3">
            <a:alphaModFix/>
          </a:blip>
          <a:srcRect b="0" l="0" r="0" t="0"/>
          <a:stretch/>
        </p:blipFill>
        <p:spPr>
          <a:xfrm>
            <a:off x="1020470" y="2044598"/>
            <a:ext cx="427939" cy="427939"/>
          </a:xfrm>
          <a:prstGeom prst="rect">
            <a:avLst/>
          </a:prstGeom>
          <a:noFill/>
          <a:ln>
            <a:noFill/>
          </a:ln>
        </p:spPr>
      </p:pic>
      <p:sp>
        <p:nvSpPr>
          <p:cNvPr id="117" name="Google Shape;117;p6"/>
          <p:cNvSpPr/>
          <p:nvPr/>
        </p:nvSpPr>
        <p:spPr>
          <a:xfrm>
            <a:off x="804672" y="2788920"/>
            <a:ext cx="2267712"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650"/>
              <a:buFont typeface="Century Schoolbook"/>
              <a:buNone/>
            </a:pPr>
            <a:r>
              <a:rPr b="1" i="0" lang="en-US" sz="1650" u="none" cap="none" strike="noStrike">
                <a:solidFill>
                  <a:srgbClr val="1E2B29"/>
                </a:solidFill>
                <a:latin typeface="Century Schoolbook"/>
                <a:ea typeface="Century Schoolbook"/>
                <a:cs typeface="Century Schoolbook"/>
                <a:sym typeface="Century Schoolbook"/>
              </a:rPr>
              <a:t>Self-care trackers</a:t>
            </a:r>
            <a:endParaRPr b="0" i="0" sz="1650" u="none" cap="none" strike="noStrike">
              <a:solidFill>
                <a:schemeClr val="dk1"/>
              </a:solidFill>
              <a:latin typeface="Calibri"/>
              <a:ea typeface="Calibri"/>
              <a:cs typeface="Calibri"/>
              <a:sym typeface="Calibri"/>
            </a:endParaRPr>
          </a:p>
        </p:txBody>
      </p:sp>
      <p:sp>
        <p:nvSpPr>
          <p:cNvPr id="118" name="Google Shape;118;p6"/>
          <p:cNvSpPr/>
          <p:nvPr/>
        </p:nvSpPr>
        <p:spPr>
          <a:xfrm>
            <a:off x="804672" y="3310128"/>
            <a:ext cx="2267712"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Daylio · Bearable</a:t>
            </a:r>
            <a:endParaRPr b="0" i="0" sz="1150" u="none" cap="none" strike="noStrike">
              <a:solidFill>
                <a:schemeClr val="dk1"/>
              </a:solidFill>
              <a:latin typeface="Calibri"/>
              <a:ea typeface="Calibri"/>
              <a:cs typeface="Calibri"/>
              <a:sym typeface="Calibri"/>
            </a:endParaRPr>
          </a:p>
        </p:txBody>
      </p:sp>
      <p:cxnSp>
        <p:nvCxnSpPr>
          <p:cNvPr id="119" name="Google Shape;119;p6"/>
          <p:cNvCxnSpPr/>
          <p:nvPr/>
        </p:nvCxnSpPr>
        <p:spPr>
          <a:xfrm>
            <a:off x="804672" y="3675888"/>
            <a:ext cx="2212848" cy="0"/>
          </a:xfrm>
          <a:prstGeom prst="straightConnector1">
            <a:avLst/>
          </a:prstGeom>
          <a:noFill/>
          <a:ln cap="flat" cmpd="sng" w="12700">
            <a:solidFill>
              <a:srgbClr val="E7ECEA"/>
            </a:solidFill>
            <a:prstDash val="solid"/>
            <a:round/>
            <a:headEnd len="sm" w="sm" type="none"/>
            <a:tailEnd len="sm" w="sm" type="none"/>
          </a:ln>
        </p:spPr>
      </p:cxnSp>
      <p:sp>
        <p:nvSpPr>
          <p:cNvPr id="120" name="Google Shape;120;p6"/>
          <p:cNvSpPr/>
          <p:nvPr/>
        </p:nvSpPr>
        <p:spPr>
          <a:xfrm>
            <a:off x="804672" y="3767328"/>
            <a:ext cx="2267712"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200"/>
              <a:buFont typeface="Calibri"/>
              <a:buNone/>
            </a:pPr>
            <a:r>
              <a:rPr b="0" i="0" lang="en-US" sz="1200" u="none" cap="none" strike="noStrike">
                <a:solidFill>
                  <a:srgbClr val="62726F"/>
                </a:solidFill>
                <a:latin typeface="Calibri"/>
                <a:ea typeface="Calibri"/>
                <a:cs typeface="Calibri"/>
                <a:sym typeface="Calibri"/>
              </a:rPr>
              <a:t>Great for noticing patterns </a:t>
            </a:r>
            <a:r>
              <a:rPr lang="en-US" sz="1200">
                <a:solidFill>
                  <a:srgbClr val="62726F"/>
                </a:solidFill>
                <a:latin typeface="Calibri"/>
                <a:ea typeface="Calibri"/>
                <a:cs typeface="Calibri"/>
                <a:sym typeface="Calibri"/>
              </a:rPr>
              <a:t>-</a:t>
            </a:r>
            <a:r>
              <a:rPr b="0" i="0" lang="en-US" sz="1200" u="none" cap="none" strike="noStrike">
                <a:solidFill>
                  <a:srgbClr val="62726F"/>
                </a:solidFill>
                <a:latin typeface="Calibri"/>
                <a:ea typeface="Calibri"/>
                <a:cs typeface="Calibri"/>
                <a:sym typeface="Calibri"/>
              </a:rPr>
              <a:t> but stop at self-observation. No path to a professional.</a:t>
            </a:r>
            <a:endParaRPr b="0" i="0" sz="1200" u="none" cap="none" strike="noStrike">
              <a:solidFill>
                <a:schemeClr val="dk1"/>
              </a:solidFill>
              <a:latin typeface="Calibri"/>
              <a:ea typeface="Calibri"/>
              <a:cs typeface="Calibri"/>
              <a:sym typeface="Calibri"/>
            </a:endParaRPr>
          </a:p>
        </p:txBody>
      </p:sp>
      <p:sp>
        <p:nvSpPr>
          <p:cNvPr id="121" name="Google Shape;121;p6"/>
          <p:cNvSpPr/>
          <p:nvPr/>
        </p:nvSpPr>
        <p:spPr>
          <a:xfrm>
            <a:off x="3401568" y="1554480"/>
            <a:ext cx="2724912" cy="3703320"/>
          </a:xfrm>
          <a:prstGeom prst="roundRect">
            <a:avLst>
              <a:gd fmla="val 3356"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3675888" y="1847088"/>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6"/>
          <p:cNvPicPr preferRelativeResize="0"/>
          <p:nvPr/>
        </p:nvPicPr>
        <p:blipFill rotWithShape="1">
          <a:blip r:embed="rId4">
            <a:alphaModFix/>
          </a:blip>
          <a:srcRect b="0" l="0" r="0" t="0"/>
          <a:stretch/>
        </p:blipFill>
        <p:spPr>
          <a:xfrm>
            <a:off x="3873398" y="2044598"/>
            <a:ext cx="427939" cy="427939"/>
          </a:xfrm>
          <a:prstGeom prst="rect">
            <a:avLst/>
          </a:prstGeom>
          <a:noFill/>
          <a:ln>
            <a:noFill/>
          </a:ln>
        </p:spPr>
      </p:pic>
      <p:sp>
        <p:nvSpPr>
          <p:cNvPr id="124" name="Google Shape;124;p6"/>
          <p:cNvSpPr/>
          <p:nvPr/>
        </p:nvSpPr>
        <p:spPr>
          <a:xfrm>
            <a:off x="3657600" y="2788920"/>
            <a:ext cx="2267712"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650"/>
              <a:buFont typeface="Century Schoolbook"/>
              <a:buNone/>
            </a:pPr>
            <a:r>
              <a:rPr b="1" i="0" lang="en-US" sz="1650" u="none" cap="none" strike="noStrike">
                <a:solidFill>
                  <a:srgbClr val="1E2B29"/>
                </a:solidFill>
                <a:latin typeface="Century Schoolbook"/>
                <a:ea typeface="Century Schoolbook"/>
                <a:cs typeface="Century Schoolbook"/>
                <a:sym typeface="Century Schoolbook"/>
              </a:rPr>
              <a:t>Therapy platforms</a:t>
            </a:r>
            <a:endParaRPr b="0" i="0" sz="1650" u="none" cap="none" strike="noStrike">
              <a:solidFill>
                <a:schemeClr val="dk1"/>
              </a:solidFill>
              <a:latin typeface="Calibri"/>
              <a:ea typeface="Calibri"/>
              <a:cs typeface="Calibri"/>
              <a:sym typeface="Calibri"/>
            </a:endParaRPr>
          </a:p>
        </p:txBody>
      </p:sp>
      <p:sp>
        <p:nvSpPr>
          <p:cNvPr id="125" name="Google Shape;125;p6"/>
          <p:cNvSpPr/>
          <p:nvPr/>
        </p:nvSpPr>
        <p:spPr>
          <a:xfrm>
            <a:off x="3657600" y="3310128"/>
            <a:ext cx="2267712"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BetterHelp · Talkspace</a:t>
            </a:r>
            <a:endParaRPr b="0" i="0" sz="1150" u="none" cap="none" strike="noStrike">
              <a:solidFill>
                <a:schemeClr val="dk1"/>
              </a:solidFill>
              <a:latin typeface="Calibri"/>
              <a:ea typeface="Calibri"/>
              <a:cs typeface="Calibri"/>
              <a:sym typeface="Calibri"/>
            </a:endParaRPr>
          </a:p>
        </p:txBody>
      </p:sp>
      <p:cxnSp>
        <p:nvCxnSpPr>
          <p:cNvPr id="126" name="Google Shape;126;p6"/>
          <p:cNvCxnSpPr/>
          <p:nvPr/>
        </p:nvCxnSpPr>
        <p:spPr>
          <a:xfrm>
            <a:off x="3657600" y="3675888"/>
            <a:ext cx="2212848" cy="0"/>
          </a:xfrm>
          <a:prstGeom prst="straightConnector1">
            <a:avLst/>
          </a:prstGeom>
          <a:noFill/>
          <a:ln cap="flat" cmpd="sng" w="12700">
            <a:solidFill>
              <a:srgbClr val="E7ECEA"/>
            </a:solidFill>
            <a:prstDash val="solid"/>
            <a:round/>
            <a:headEnd len="sm" w="sm" type="none"/>
            <a:tailEnd len="sm" w="sm" type="none"/>
          </a:ln>
        </p:spPr>
      </p:cxnSp>
      <p:sp>
        <p:nvSpPr>
          <p:cNvPr id="127" name="Google Shape;127;p6"/>
          <p:cNvSpPr/>
          <p:nvPr/>
        </p:nvSpPr>
        <p:spPr>
          <a:xfrm>
            <a:off x="3657600" y="3767328"/>
            <a:ext cx="2267712"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200"/>
              <a:buFont typeface="Calibri"/>
              <a:buNone/>
            </a:pPr>
            <a:r>
              <a:rPr b="0" i="0" lang="en-US" sz="1200" u="none" cap="none" strike="noStrike">
                <a:solidFill>
                  <a:srgbClr val="62726F"/>
                </a:solidFill>
                <a:latin typeface="Calibri"/>
                <a:ea typeface="Calibri"/>
                <a:cs typeface="Calibri"/>
                <a:sym typeface="Calibri"/>
              </a:rPr>
              <a:t>Connect you to a therapist </a:t>
            </a:r>
            <a:r>
              <a:rPr lang="en-US" sz="1200">
                <a:solidFill>
                  <a:srgbClr val="62726F"/>
                </a:solidFill>
                <a:latin typeface="Calibri"/>
                <a:ea typeface="Calibri"/>
                <a:cs typeface="Calibri"/>
                <a:sym typeface="Calibri"/>
              </a:rPr>
              <a:t>-</a:t>
            </a:r>
            <a:r>
              <a:rPr b="0" i="0" lang="en-US" sz="1200" u="none" cap="none" strike="noStrike">
                <a:solidFill>
                  <a:srgbClr val="62726F"/>
                </a:solidFill>
                <a:latin typeface="Calibri"/>
                <a:ea typeface="Calibri"/>
                <a:cs typeface="Calibri"/>
                <a:sym typeface="Calibri"/>
              </a:rPr>
              <a:t> who then meets you with no context beyond memory.</a:t>
            </a:r>
            <a:endParaRPr b="0" i="0" sz="1200" u="none" cap="none" strike="noStrike">
              <a:solidFill>
                <a:schemeClr val="dk1"/>
              </a:solidFill>
              <a:latin typeface="Calibri"/>
              <a:ea typeface="Calibri"/>
              <a:cs typeface="Calibri"/>
              <a:sym typeface="Calibri"/>
            </a:endParaRPr>
          </a:p>
        </p:txBody>
      </p:sp>
      <p:sp>
        <p:nvSpPr>
          <p:cNvPr id="128" name="Google Shape;128;p6"/>
          <p:cNvSpPr/>
          <p:nvPr/>
        </p:nvSpPr>
        <p:spPr>
          <a:xfrm>
            <a:off x="6254496" y="1554480"/>
            <a:ext cx="2724912" cy="3703320"/>
          </a:xfrm>
          <a:prstGeom prst="roundRect">
            <a:avLst>
              <a:gd fmla="val 3356"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6528816" y="1847088"/>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6"/>
          <p:cNvPicPr preferRelativeResize="0"/>
          <p:nvPr/>
        </p:nvPicPr>
        <p:blipFill rotWithShape="1">
          <a:blip r:embed="rId5">
            <a:alphaModFix/>
          </a:blip>
          <a:srcRect b="0" l="0" r="0" t="0"/>
          <a:stretch/>
        </p:blipFill>
        <p:spPr>
          <a:xfrm>
            <a:off x="6726326" y="2044598"/>
            <a:ext cx="427939" cy="427939"/>
          </a:xfrm>
          <a:prstGeom prst="rect">
            <a:avLst/>
          </a:prstGeom>
          <a:noFill/>
          <a:ln>
            <a:noFill/>
          </a:ln>
        </p:spPr>
      </p:pic>
      <p:sp>
        <p:nvSpPr>
          <p:cNvPr id="131" name="Google Shape;131;p6"/>
          <p:cNvSpPr/>
          <p:nvPr/>
        </p:nvSpPr>
        <p:spPr>
          <a:xfrm>
            <a:off x="6510528" y="2788920"/>
            <a:ext cx="2267712"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650"/>
              <a:buFont typeface="Century Schoolbook"/>
              <a:buNone/>
            </a:pPr>
            <a:r>
              <a:rPr b="1" i="0" lang="en-US" sz="1650" u="none" cap="none" strike="noStrike">
                <a:solidFill>
                  <a:srgbClr val="1E2B29"/>
                </a:solidFill>
                <a:latin typeface="Century Schoolbook"/>
                <a:ea typeface="Century Schoolbook"/>
                <a:cs typeface="Century Schoolbook"/>
                <a:sym typeface="Century Schoolbook"/>
              </a:rPr>
              <a:t>Social &amp; family</a:t>
            </a:r>
            <a:endParaRPr b="0" i="0" sz="1650" u="none" cap="none" strike="noStrike">
              <a:solidFill>
                <a:schemeClr val="dk1"/>
              </a:solidFill>
              <a:latin typeface="Calibri"/>
              <a:ea typeface="Calibri"/>
              <a:cs typeface="Calibri"/>
              <a:sym typeface="Calibri"/>
            </a:endParaRPr>
          </a:p>
        </p:txBody>
      </p:sp>
      <p:sp>
        <p:nvSpPr>
          <p:cNvPr id="132" name="Google Shape;132;p6"/>
          <p:cNvSpPr/>
          <p:nvPr/>
        </p:nvSpPr>
        <p:spPr>
          <a:xfrm>
            <a:off x="6510528" y="3310128"/>
            <a:ext cx="2267712"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Zalo · Messenger · Life360</a:t>
            </a:r>
            <a:endParaRPr b="0" i="0" sz="1150" u="none" cap="none" strike="noStrike">
              <a:solidFill>
                <a:schemeClr val="dk1"/>
              </a:solidFill>
              <a:latin typeface="Calibri"/>
              <a:ea typeface="Calibri"/>
              <a:cs typeface="Calibri"/>
              <a:sym typeface="Calibri"/>
            </a:endParaRPr>
          </a:p>
        </p:txBody>
      </p:sp>
      <p:cxnSp>
        <p:nvCxnSpPr>
          <p:cNvPr id="133" name="Google Shape;133;p6"/>
          <p:cNvCxnSpPr/>
          <p:nvPr/>
        </p:nvCxnSpPr>
        <p:spPr>
          <a:xfrm>
            <a:off x="6510528" y="3675888"/>
            <a:ext cx="2212848" cy="0"/>
          </a:xfrm>
          <a:prstGeom prst="straightConnector1">
            <a:avLst/>
          </a:prstGeom>
          <a:noFill/>
          <a:ln cap="flat" cmpd="sng" w="12700">
            <a:solidFill>
              <a:srgbClr val="E7ECEA"/>
            </a:solidFill>
            <a:prstDash val="solid"/>
            <a:round/>
            <a:headEnd len="sm" w="sm" type="none"/>
            <a:tailEnd len="sm" w="sm" type="none"/>
          </a:ln>
        </p:spPr>
      </p:cxnSp>
      <p:sp>
        <p:nvSpPr>
          <p:cNvPr id="134" name="Google Shape;134;p6"/>
          <p:cNvSpPr/>
          <p:nvPr/>
        </p:nvSpPr>
        <p:spPr>
          <a:xfrm>
            <a:off x="6510528" y="3767328"/>
            <a:ext cx="2267712"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200"/>
              <a:buFont typeface="Calibri"/>
              <a:buNone/>
            </a:pPr>
            <a:r>
              <a:rPr b="0" i="0" lang="en-US" sz="1200" u="none" cap="none" strike="noStrike">
                <a:solidFill>
                  <a:srgbClr val="62726F"/>
                </a:solidFill>
                <a:latin typeface="Calibri"/>
                <a:ea typeface="Calibri"/>
                <a:cs typeface="Calibri"/>
                <a:sym typeface="Calibri"/>
              </a:rPr>
              <a:t>Carry conversation and location </a:t>
            </a:r>
            <a:r>
              <a:rPr lang="en-US" sz="1200">
                <a:solidFill>
                  <a:srgbClr val="62726F"/>
                </a:solidFill>
                <a:latin typeface="Calibri"/>
                <a:ea typeface="Calibri"/>
                <a:cs typeface="Calibri"/>
                <a:sym typeface="Calibri"/>
              </a:rPr>
              <a:t>-</a:t>
            </a:r>
            <a:r>
              <a:rPr b="0" i="0" lang="en-US" sz="1200" u="none" cap="none" strike="noStrike">
                <a:solidFill>
                  <a:srgbClr val="62726F"/>
                </a:solidFill>
                <a:latin typeface="Calibri"/>
                <a:ea typeface="Calibri"/>
                <a:cs typeface="Calibri"/>
                <a:sym typeface="Calibri"/>
              </a:rPr>
              <a:t> but give parents no view of how a child truly feels.</a:t>
            </a:r>
            <a:endParaRPr b="0" i="0" sz="1200" u="none" cap="none" strike="noStrike">
              <a:solidFill>
                <a:schemeClr val="dk1"/>
              </a:solidFill>
              <a:latin typeface="Calibri"/>
              <a:ea typeface="Calibri"/>
              <a:cs typeface="Calibri"/>
              <a:sym typeface="Calibri"/>
            </a:endParaRPr>
          </a:p>
        </p:txBody>
      </p:sp>
      <p:sp>
        <p:nvSpPr>
          <p:cNvPr id="135" name="Google Shape;135;p6"/>
          <p:cNvSpPr/>
          <p:nvPr/>
        </p:nvSpPr>
        <p:spPr>
          <a:xfrm>
            <a:off x="9107424" y="1554480"/>
            <a:ext cx="2724912" cy="3703320"/>
          </a:xfrm>
          <a:prstGeom prst="roundRect">
            <a:avLst>
              <a:gd fmla="val 3356"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9381744" y="1847088"/>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7" name="Google Shape;137;p6"/>
          <p:cNvPicPr preferRelativeResize="0"/>
          <p:nvPr/>
        </p:nvPicPr>
        <p:blipFill rotWithShape="1">
          <a:blip r:embed="rId6">
            <a:alphaModFix/>
          </a:blip>
          <a:srcRect b="0" l="0" r="0" t="0"/>
          <a:stretch/>
        </p:blipFill>
        <p:spPr>
          <a:xfrm>
            <a:off x="9579254" y="2044598"/>
            <a:ext cx="427939" cy="427939"/>
          </a:xfrm>
          <a:prstGeom prst="rect">
            <a:avLst/>
          </a:prstGeom>
          <a:noFill/>
          <a:ln>
            <a:noFill/>
          </a:ln>
        </p:spPr>
      </p:pic>
      <p:sp>
        <p:nvSpPr>
          <p:cNvPr id="138" name="Google Shape;138;p6"/>
          <p:cNvSpPr/>
          <p:nvPr/>
        </p:nvSpPr>
        <p:spPr>
          <a:xfrm>
            <a:off x="9363456" y="2788920"/>
            <a:ext cx="2267712"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650"/>
              <a:buFont typeface="Century Schoolbook"/>
              <a:buNone/>
            </a:pPr>
            <a:r>
              <a:rPr b="1" i="0" lang="en-US" sz="1650" u="none" cap="none" strike="noStrike">
                <a:solidFill>
                  <a:srgbClr val="1E2B29"/>
                </a:solidFill>
                <a:latin typeface="Century Schoolbook"/>
                <a:ea typeface="Century Schoolbook"/>
                <a:cs typeface="Century Schoolbook"/>
                <a:sym typeface="Century Schoolbook"/>
              </a:rPr>
              <a:t>General-purpose AI</a:t>
            </a:r>
            <a:endParaRPr b="0" i="0" sz="1650" u="none" cap="none" strike="noStrike">
              <a:solidFill>
                <a:schemeClr val="dk1"/>
              </a:solidFill>
              <a:latin typeface="Calibri"/>
              <a:ea typeface="Calibri"/>
              <a:cs typeface="Calibri"/>
              <a:sym typeface="Calibri"/>
            </a:endParaRPr>
          </a:p>
        </p:txBody>
      </p:sp>
      <p:sp>
        <p:nvSpPr>
          <p:cNvPr id="139" name="Google Shape;139;p6"/>
          <p:cNvSpPr/>
          <p:nvPr/>
        </p:nvSpPr>
        <p:spPr>
          <a:xfrm>
            <a:off x="9363456" y="3310128"/>
            <a:ext cx="2267712"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ChatGPT · Gemini · Wysa</a:t>
            </a:r>
            <a:endParaRPr b="0" i="0" sz="1150" u="none" cap="none" strike="noStrike">
              <a:solidFill>
                <a:schemeClr val="dk1"/>
              </a:solidFill>
              <a:latin typeface="Calibri"/>
              <a:ea typeface="Calibri"/>
              <a:cs typeface="Calibri"/>
              <a:sym typeface="Calibri"/>
            </a:endParaRPr>
          </a:p>
        </p:txBody>
      </p:sp>
      <p:cxnSp>
        <p:nvCxnSpPr>
          <p:cNvPr id="140" name="Google Shape;140;p6"/>
          <p:cNvCxnSpPr/>
          <p:nvPr/>
        </p:nvCxnSpPr>
        <p:spPr>
          <a:xfrm>
            <a:off x="9363456" y="3675888"/>
            <a:ext cx="2212848" cy="0"/>
          </a:xfrm>
          <a:prstGeom prst="straightConnector1">
            <a:avLst/>
          </a:prstGeom>
          <a:noFill/>
          <a:ln cap="flat" cmpd="sng" w="12700">
            <a:solidFill>
              <a:srgbClr val="E7ECEA"/>
            </a:solidFill>
            <a:prstDash val="solid"/>
            <a:round/>
            <a:headEnd len="sm" w="sm" type="none"/>
            <a:tailEnd len="sm" w="sm" type="none"/>
          </a:ln>
        </p:spPr>
      </p:cxnSp>
      <p:sp>
        <p:nvSpPr>
          <p:cNvPr id="141" name="Google Shape;141;p6"/>
          <p:cNvSpPr/>
          <p:nvPr/>
        </p:nvSpPr>
        <p:spPr>
          <a:xfrm>
            <a:off x="9363456" y="3767328"/>
            <a:ext cx="2267712"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200"/>
              <a:buFont typeface="Calibri"/>
              <a:buNone/>
            </a:pPr>
            <a:r>
              <a:rPr b="0" i="0" lang="en-US" sz="1200" u="none" cap="none" strike="noStrike">
                <a:solidFill>
                  <a:srgbClr val="62726F"/>
                </a:solidFill>
                <a:latin typeface="Calibri"/>
                <a:ea typeface="Calibri"/>
                <a:cs typeface="Calibri"/>
                <a:sym typeface="Calibri"/>
              </a:rPr>
              <a:t>~1 in 8 teens use AI for advice </a:t>
            </a:r>
            <a:r>
              <a:rPr lang="en-US" sz="1200">
                <a:solidFill>
                  <a:srgbClr val="62726F"/>
                </a:solidFill>
                <a:latin typeface="Calibri"/>
                <a:ea typeface="Calibri"/>
                <a:cs typeface="Calibri"/>
                <a:sym typeface="Calibri"/>
              </a:rPr>
              <a:t>- </a:t>
            </a:r>
            <a:r>
              <a:rPr b="0" i="0" lang="en-US" sz="1200" u="none" cap="none" strike="noStrike">
                <a:solidFill>
                  <a:srgbClr val="62726F"/>
                </a:solidFill>
                <a:latin typeface="Calibri"/>
                <a:ea typeface="Calibri"/>
                <a:cs typeface="Calibri"/>
                <a:sym typeface="Calibri"/>
              </a:rPr>
              <a:t>but it starts from nothing, with no grounding.</a:t>
            </a:r>
            <a:endParaRPr b="0" i="0" sz="1200" u="none" cap="none" strike="noStrike">
              <a:solidFill>
                <a:schemeClr val="dk1"/>
              </a:solidFill>
              <a:latin typeface="Calibri"/>
              <a:ea typeface="Calibri"/>
              <a:cs typeface="Calibri"/>
              <a:sym typeface="Calibri"/>
            </a:endParaRPr>
          </a:p>
        </p:txBody>
      </p:sp>
      <p:sp>
        <p:nvSpPr>
          <p:cNvPr id="142" name="Google Shape;142;p6"/>
          <p:cNvSpPr/>
          <p:nvPr/>
        </p:nvSpPr>
        <p:spPr>
          <a:xfrm>
            <a:off x="548640" y="5440680"/>
            <a:ext cx="11091672" cy="658368"/>
          </a:xfrm>
          <a:prstGeom prst="roundRect">
            <a:avLst>
              <a:gd fmla="val 13889" name="adj"/>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822960" y="5440680"/>
            <a:ext cx="106070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912F"/>
              </a:buClr>
              <a:buSzPts val="1350"/>
              <a:buFont typeface="Calibri"/>
              <a:buNone/>
            </a:pPr>
            <a:r>
              <a:rPr b="1" i="0" lang="en-US" sz="1350" u="none" cap="none" strike="noStrike">
                <a:solidFill>
                  <a:srgbClr val="E0912F"/>
                </a:solidFill>
                <a:latin typeface="Calibri"/>
                <a:ea typeface="Calibri"/>
                <a:cs typeface="Calibri"/>
                <a:sym typeface="Calibri"/>
              </a:rPr>
              <a:t>The consequence:  </a:t>
            </a:r>
            <a:r>
              <a:rPr b="0" i="0" lang="en-US" sz="1350" u="none" cap="none" strike="noStrike">
                <a:solidFill>
                  <a:srgbClr val="1E2B29"/>
                </a:solidFill>
                <a:latin typeface="Calibri"/>
                <a:ea typeface="Calibri"/>
                <a:cs typeface="Calibri"/>
                <a:sym typeface="Calibri"/>
              </a:rPr>
              <a:t>a teenager must adopt four separate products and re-explain themselves every time they cross from one to the next.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7"/>
          <p:cNvPicPr preferRelativeResize="0"/>
          <p:nvPr/>
        </p:nvPicPr>
        <p:blipFill>
          <a:blip r:embed="rId3">
            <a:alphaModFix/>
          </a:blip>
          <a:stretch>
            <a:fillRect/>
          </a:stretch>
        </p:blipFill>
        <p:spPr>
          <a:xfrm>
            <a:off x="-118525" y="0"/>
            <a:ext cx="12310524" cy="69246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154" name="Shape 154"/>
        <p:cNvGrpSpPr/>
        <p:nvPr/>
      </p:nvGrpSpPr>
      <p:grpSpPr>
        <a:xfrm>
          <a:off x="0" y="0"/>
          <a:ext cx="0" cy="0"/>
          <a:chOff x="0" y="0"/>
          <a:chExt cx="0" cy="0"/>
        </a:xfrm>
      </p:grpSpPr>
      <p:sp>
        <p:nvSpPr>
          <p:cNvPr id="155" name="Google Shape;155;p8"/>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GROUNDED IN PRIMARY STUDY</a:t>
            </a:r>
            <a:endParaRPr b="0" i="0" sz="1200" u="none" cap="none" strike="noStrike">
              <a:solidFill>
                <a:schemeClr val="dk1"/>
              </a:solidFill>
              <a:latin typeface="Calibri"/>
              <a:ea typeface="Calibri"/>
              <a:cs typeface="Calibri"/>
              <a:sym typeface="Calibri"/>
            </a:endParaRPr>
          </a:p>
        </p:txBody>
      </p:sp>
      <p:sp>
        <p:nvSpPr>
          <p:cNvPr id="156" name="Google Shape;156;p8"/>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What users &amp; professionals told us</a:t>
            </a:r>
            <a:endParaRPr b="0" i="0" sz="3000" u="none" cap="none" strike="noStrike">
              <a:solidFill>
                <a:schemeClr val="dk1"/>
              </a:solidFill>
              <a:latin typeface="Calibri"/>
              <a:ea typeface="Calibri"/>
              <a:cs typeface="Calibri"/>
              <a:sym typeface="Calibri"/>
            </a:endParaRPr>
          </a:p>
        </p:txBody>
      </p:sp>
      <p:sp>
        <p:nvSpPr>
          <p:cNvPr id="157" name="Google Shape;157;p8"/>
          <p:cNvSpPr/>
          <p:nvPr/>
        </p:nvSpPr>
        <p:spPr>
          <a:xfrm>
            <a:off x="548640" y="1554480"/>
            <a:ext cx="5285232" cy="4526280"/>
          </a:xfrm>
          <a:prstGeom prst="roundRect">
            <a:avLst>
              <a:gd fmla="val 2424"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548640" y="1554480"/>
            <a:ext cx="5285232" cy="914400"/>
          </a:xfrm>
          <a:prstGeom prst="roundRect">
            <a:avLst>
              <a:gd fmla="val 12000" name="adj"/>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548640" y="2103120"/>
            <a:ext cx="5285232" cy="365760"/>
          </a:xfrm>
          <a:prstGeom prst="rect">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841248" y="1783080"/>
            <a:ext cx="658368" cy="658368"/>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8"/>
          <p:cNvPicPr preferRelativeResize="0"/>
          <p:nvPr/>
        </p:nvPicPr>
        <p:blipFill rotWithShape="1">
          <a:blip r:embed="rId3">
            <a:alphaModFix/>
          </a:blip>
          <a:srcRect b="0" l="0" r="0" t="0"/>
          <a:stretch/>
        </p:blipFill>
        <p:spPr>
          <a:xfrm>
            <a:off x="999256" y="1941088"/>
            <a:ext cx="342351" cy="342351"/>
          </a:xfrm>
          <a:prstGeom prst="rect">
            <a:avLst/>
          </a:prstGeom>
          <a:noFill/>
          <a:ln>
            <a:noFill/>
          </a:ln>
        </p:spPr>
      </p:pic>
      <p:sp>
        <p:nvSpPr>
          <p:cNvPr id="162" name="Google Shape;162;p8"/>
          <p:cNvSpPr/>
          <p:nvPr/>
        </p:nvSpPr>
        <p:spPr>
          <a:xfrm>
            <a:off x="1645920" y="1719072"/>
            <a:ext cx="40233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entury Schoolbook"/>
              <a:buNone/>
            </a:pPr>
            <a:r>
              <a:rPr b="1" i="0" lang="en-US" sz="1900" u="none" cap="none" strike="noStrike">
                <a:solidFill>
                  <a:srgbClr val="FFFFFF"/>
                </a:solidFill>
                <a:latin typeface="Century Schoolbook"/>
                <a:ea typeface="Century Schoolbook"/>
                <a:cs typeface="Century Schoolbook"/>
                <a:sym typeface="Century Schoolbook"/>
              </a:rPr>
              <a:t>From users</a:t>
            </a:r>
            <a:endParaRPr b="0" i="0" sz="1900" u="none" cap="none" strike="noStrike">
              <a:solidFill>
                <a:schemeClr val="dk1"/>
              </a:solidFill>
              <a:latin typeface="Calibri"/>
              <a:ea typeface="Calibri"/>
              <a:cs typeface="Calibri"/>
              <a:sym typeface="Calibri"/>
            </a:endParaRPr>
          </a:p>
        </p:txBody>
      </p:sp>
      <p:sp>
        <p:nvSpPr>
          <p:cNvPr id="163" name="Google Shape;163;p8"/>
          <p:cNvSpPr/>
          <p:nvPr/>
        </p:nvSpPr>
        <p:spPr>
          <a:xfrm>
            <a:off x="1645920" y="2103120"/>
            <a:ext cx="40233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CEBE6"/>
              </a:buClr>
              <a:buSzPts val="1150"/>
              <a:buFont typeface="Calibri"/>
              <a:buNone/>
            </a:pPr>
            <a:r>
              <a:rPr i="1" lang="en-US" sz="1150">
                <a:solidFill>
                  <a:srgbClr val="DCEBE6"/>
                </a:solidFill>
                <a:latin typeface="Calibri"/>
                <a:ea typeface="Calibri"/>
                <a:cs typeface="Calibri"/>
                <a:sym typeface="Calibri"/>
              </a:rPr>
              <a:t>7 trial users · 10 platforms vs 2 personas</a:t>
            </a:r>
            <a:endParaRPr b="0" i="0" sz="1150" u="none" cap="none" strike="noStrike">
              <a:solidFill>
                <a:schemeClr val="dk1"/>
              </a:solidFill>
              <a:latin typeface="Calibri"/>
              <a:ea typeface="Calibri"/>
              <a:cs typeface="Calibri"/>
              <a:sym typeface="Calibri"/>
            </a:endParaRPr>
          </a:p>
        </p:txBody>
      </p:sp>
      <p:sp>
        <p:nvSpPr>
          <p:cNvPr id="164" name="Google Shape;164;p8"/>
          <p:cNvSpPr/>
          <p:nvPr/>
        </p:nvSpPr>
        <p:spPr>
          <a:xfrm>
            <a:off x="868680" y="278892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1188720" y="274320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The week between sessions is a black box</a:t>
            </a:r>
            <a:endParaRPr b="0" i="0" sz="1350" u="none" cap="none" strike="noStrike">
              <a:solidFill>
                <a:schemeClr val="dk1"/>
              </a:solidFill>
              <a:latin typeface="Calibri"/>
              <a:ea typeface="Calibri"/>
              <a:cs typeface="Calibri"/>
              <a:sym typeface="Calibri"/>
            </a:endParaRPr>
          </a:p>
        </p:txBody>
      </p:sp>
      <p:sp>
        <p:nvSpPr>
          <p:cNvPr id="166" name="Google Shape;166;p8"/>
          <p:cNvSpPr/>
          <p:nvPr/>
        </p:nvSpPr>
        <p:spPr>
          <a:xfrm>
            <a:off x="868680" y="356616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1188720" y="352044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Input fatigue is the #1 reason apps get abandoned</a:t>
            </a:r>
            <a:endParaRPr b="0" i="0" sz="1350" u="none" cap="none" strike="noStrike">
              <a:solidFill>
                <a:schemeClr val="dk1"/>
              </a:solidFill>
              <a:latin typeface="Calibri"/>
              <a:ea typeface="Calibri"/>
              <a:cs typeface="Calibri"/>
              <a:sym typeface="Calibri"/>
            </a:endParaRPr>
          </a:p>
        </p:txBody>
      </p:sp>
      <p:sp>
        <p:nvSpPr>
          <p:cNvPr id="168" name="Google Shape;168;p8"/>
          <p:cNvSpPr/>
          <p:nvPr/>
        </p:nvSpPr>
        <p:spPr>
          <a:xfrm>
            <a:off x="868680" y="434340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1188720" y="429768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Tracking notices patterns but doesn't change them</a:t>
            </a:r>
            <a:endParaRPr b="0" i="0" sz="1350" u="none" cap="none" strike="noStrike">
              <a:solidFill>
                <a:schemeClr val="dk1"/>
              </a:solidFill>
              <a:latin typeface="Calibri"/>
              <a:ea typeface="Calibri"/>
              <a:cs typeface="Calibri"/>
              <a:sym typeface="Calibri"/>
            </a:endParaRPr>
          </a:p>
        </p:txBody>
      </p:sp>
      <p:sp>
        <p:nvSpPr>
          <p:cNvPr id="170" name="Google Shape;170;p8"/>
          <p:cNvSpPr/>
          <p:nvPr/>
        </p:nvSpPr>
        <p:spPr>
          <a:xfrm>
            <a:off x="868680" y="512064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1188720" y="507492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Privacy is a precondition </a:t>
            </a:r>
            <a:r>
              <a:rPr lang="en-US" sz="1350">
                <a:solidFill>
                  <a:srgbClr val="1E2B29"/>
                </a:solidFill>
                <a:latin typeface="Calibri"/>
                <a:ea typeface="Calibri"/>
                <a:cs typeface="Calibri"/>
                <a:sym typeface="Calibri"/>
              </a:rPr>
              <a:t>- </a:t>
            </a:r>
            <a:r>
              <a:rPr b="0" i="0" lang="en-US" sz="1350" u="none" cap="none" strike="noStrike">
                <a:solidFill>
                  <a:srgbClr val="1E2B29"/>
                </a:solidFill>
                <a:latin typeface="Calibri"/>
                <a:ea typeface="Calibri"/>
                <a:cs typeface="Calibri"/>
                <a:sym typeface="Calibri"/>
              </a:rPr>
              <a:t>sharing is never absolute</a:t>
            </a:r>
            <a:endParaRPr b="0" i="0" sz="1350" u="none" cap="none" strike="noStrike">
              <a:solidFill>
                <a:schemeClr val="dk1"/>
              </a:solidFill>
              <a:latin typeface="Calibri"/>
              <a:ea typeface="Calibri"/>
              <a:cs typeface="Calibri"/>
              <a:sym typeface="Calibri"/>
            </a:endParaRPr>
          </a:p>
        </p:txBody>
      </p:sp>
      <p:sp>
        <p:nvSpPr>
          <p:cNvPr id="172" name="Google Shape;172;p8"/>
          <p:cNvSpPr/>
          <p:nvPr/>
        </p:nvSpPr>
        <p:spPr>
          <a:xfrm>
            <a:off x="6355080" y="1554480"/>
            <a:ext cx="5285232" cy="4526280"/>
          </a:xfrm>
          <a:prstGeom prst="roundRect">
            <a:avLst>
              <a:gd fmla="val 2424"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6355080" y="1554480"/>
            <a:ext cx="5285232" cy="914400"/>
          </a:xfrm>
          <a:prstGeom prst="roundRect">
            <a:avLst>
              <a:gd fmla="val 12000" name="adj"/>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6355080" y="2103120"/>
            <a:ext cx="5285232" cy="365760"/>
          </a:xfrm>
          <a:prstGeom prst="rect">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6647688" y="1783080"/>
            <a:ext cx="658368" cy="658368"/>
          </a:xfrm>
          <a:prstGeom prst="ellipse">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 name="Google Shape;176;p8"/>
          <p:cNvPicPr preferRelativeResize="0"/>
          <p:nvPr/>
        </p:nvPicPr>
        <p:blipFill rotWithShape="1">
          <a:blip r:embed="rId4">
            <a:alphaModFix/>
          </a:blip>
          <a:srcRect b="0" l="0" r="0" t="0"/>
          <a:stretch/>
        </p:blipFill>
        <p:spPr>
          <a:xfrm>
            <a:off x="6805696" y="1941088"/>
            <a:ext cx="342351" cy="342351"/>
          </a:xfrm>
          <a:prstGeom prst="rect">
            <a:avLst/>
          </a:prstGeom>
          <a:noFill/>
          <a:ln>
            <a:noFill/>
          </a:ln>
        </p:spPr>
      </p:pic>
      <p:sp>
        <p:nvSpPr>
          <p:cNvPr id="177" name="Google Shape;177;p8"/>
          <p:cNvSpPr/>
          <p:nvPr/>
        </p:nvSpPr>
        <p:spPr>
          <a:xfrm>
            <a:off x="7452360" y="1719072"/>
            <a:ext cx="40233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900"/>
              <a:buFont typeface="Century Schoolbook"/>
              <a:buNone/>
            </a:pPr>
            <a:r>
              <a:rPr b="1" i="0" lang="en-US" sz="1900" u="none" cap="none" strike="noStrike">
                <a:solidFill>
                  <a:srgbClr val="FFFFFF"/>
                </a:solidFill>
                <a:latin typeface="Century Schoolbook"/>
                <a:ea typeface="Century Schoolbook"/>
                <a:cs typeface="Century Schoolbook"/>
                <a:sym typeface="Century Schoolbook"/>
              </a:rPr>
              <a:t>From professionals</a:t>
            </a:r>
            <a:endParaRPr b="0" i="0" sz="1900" u="none" cap="none" strike="noStrike">
              <a:solidFill>
                <a:schemeClr val="dk1"/>
              </a:solidFill>
              <a:latin typeface="Calibri"/>
              <a:ea typeface="Calibri"/>
              <a:cs typeface="Calibri"/>
              <a:sym typeface="Calibri"/>
            </a:endParaRPr>
          </a:p>
        </p:txBody>
      </p:sp>
      <p:sp>
        <p:nvSpPr>
          <p:cNvPr id="178" name="Google Shape;178;p8"/>
          <p:cNvSpPr/>
          <p:nvPr/>
        </p:nvSpPr>
        <p:spPr>
          <a:xfrm>
            <a:off x="7452360" y="2103120"/>
            <a:ext cx="40233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CEBE6"/>
              </a:buClr>
              <a:buSzPts val="1150"/>
              <a:buFont typeface="Calibri"/>
              <a:buNone/>
            </a:pPr>
            <a:r>
              <a:rPr b="0" i="1" lang="en-US" sz="1150" u="none" cap="none" strike="noStrike">
                <a:solidFill>
                  <a:srgbClr val="DCEBE6"/>
                </a:solidFill>
                <a:latin typeface="Calibri"/>
                <a:ea typeface="Calibri"/>
                <a:cs typeface="Calibri"/>
                <a:sym typeface="Calibri"/>
              </a:rPr>
              <a:t>3 mental-health experts consulted</a:t>
            </a:r>
            <a:endParaRPr b="0" i="0" sz="1150" u="none" cap="none" strike="noStrike">
              <a:solidFill>
                <a:schemeClr val="dk1"/>
              </a:solidFill>
              <a:latin typeface="Calibri"/>
              <a:ea typeface="Calibri"/>
              <a:cs typeface="Calibri"/>
              <a:sym typeface="Calibri"/>
            </a:endParaRPr>
          </a:p>
        </p:txBody>
      </p:sp>
      <p:sp>
        <p:nvSpPr>
          <p:cNvPr id="179" name="Google Shape;179;p8"/>
          <p:cNvSpPr/>
          <p:nvPr/>
        </p:nvSpPr>
        <p:spPr>
          <a:xfrm>
            <a:off x="6675120" y="278892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6995160" y="274320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Replace surveys with a continuous emotion timeline</a:t>
            </a:r>
            <a:endParaRPr b="0" i="0" sz="1350" u="none" cap="none" strike="noStrike">
              <a:solidFill>
                <a:schemeClr val="dk1"/>
              </a:solidFill>
              <a:latin typeface="Calibri"/>
              <a:ea typeface="Calibri"/>
              <a:cs typeface="Calibri"/>
              <a:sym typeface="Calibri"/>
            </a:endParaRPr>
          </a:p>
        </p:txBody>
      </p:sp>
      <p:sp>
        <p:nvSpPr>
          <p:cNvPr id="181" name="Google Shape;181;p8"/>
          <p:cNvSpPr/>
          <p:nvPr/>
        </p:nvSpPr>
        <p:spPr>
          <a:xfrm>
            <a:off x="6675120" y="356616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6995160" y="352044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Route emotions: anger → breathing, sadness → memories</a:t>
            </a:r>
            <a:endParaRPr b="0" i="0" sz="1350" u="none" cap="none" strike="noStrike">
              <a:solidFill>
                <a:schemeClr val="dk1"/>
              </a:solidFill>
              <a:latin typeface="Calibri"/>
              <a:ea typeface="Calibri"/>
              <a:cs typeface="Calibri"/>
              <a:sym typeface="Calibri"/>
            </a:endParaRPr>
          </a:p>
        </p:txBody>
      </p:sp>
      <p:sp>
        <p:nvSpPr>
          <p:cNvPr id="183" name="Google Shape;183;p8"/>
          <p:cNvSpPr/>
          <p:nvPr/>
        </p:nvSpPr>
        <p:spPr>
          <a:xfrm>
            <a:off x="6675120" y="434340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6995160" y="429768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Physical health is inseparable from mental health</a:t>
            </a:r>
            <a:endParaRPr b="0" i="0" sz="1350" u="none" cap="none" strike="noStrike">
              <a:solidFill>
                <a:schemeClr val="dk1"/>
              </a:solidFill>
              <a:latin typeface="Calibri"/>
              <a:ea typeface="Calibri"/>
              <a:cs typeface="Calibri"/>
              <a:sym typeface="Calibri"/>
            </a:endParaRPr>
          </a:p>
        </p:txBody>
      </p:sp>
      <p:sp>
        <p:nvSpPr>
          <p:cNvPr id="185" name="Google Shape;185;p8"/>
          <p:cNvSpPr/>
          <p:nvPr/>
        </p:nvSpPr>
        <p:spPr>
          <a:xfrm>
            <a:off x="6675120" y="512064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6995160" y="5074920"/>
            <a:ext cx="44348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50"/>
              <a:buFont typeface="Calibri"/>
              <a:buNone/>
            </a:pPr>
            <a:r>
              <a:rPr b="0" i="0" lang="en-US" sz="1350" u="none" cap="none" strike="noStrike">
                <a:solidFill>
                  <a:srgbClr val="1E2B29"/>
                </a:solidFill>
                <a:latin typeface="Calibri"/>
                <a:ea typeface="Calibri"/>
                <a:cs typeface="Calibri"/>
                <a:sym typeface="Calibri"/>
              </a:rPr>
              <a:t>Every audience </a:t>
            </a:r>
            <a:r>
              <a:rPr lang="en-US" sz="1350">
                <a:solidFill>
                  <a:srgbClr val="1E2B29"/>
                </a:solidFill>
                <a:latin typeface="Calibri"/>
                <a:ea typeface="Calibri"/>
                <a:cs typeface="Calibri"/>
                <a:sym typeface="Calibri"/>
              </a:rPr>
              <a:t>-</a:t>
            </a:r>
            <a:r>
              <a:rPr b="0" i="0" lang="en-US" sz="1350" u="none" cap="none" strike="noStrike">
                <a:solidFill>
                  <a:srgbClr val="1E2B29"/>
                </a:solidFill>
                <a:latin typeface="Calibri"/>
                <a:ea typeface="Calibri"/>
                <a:cs typeface="Calibri"/>
                <a:sym typeface="Calibri"/>
              </a:rPr>
              <a:t> AI, therapist, friend </a:t>
            </a:r>
            <a:r>
              <a:rPr lang="en-US" sz="1350">
                <a:solidFill>
                  <a:srgbClr val="1E2B29"/>
                </a:solidFill>
                <a:latin typeface="Calibri"/>
                <a:ea typeface="Calibri"/>
                <a:cs typeface="Calibri"/>
                <a:sym typeface="Calibri"/>
              </a:rPr>
              <a:t>-</a:t>
            </a:r>
            <a:r>
              <a:rPr b="0" i="0" lang="en-US" sz="1350" u="none" cap="none" strike="noStrike">
                <a:solidFill>
                  <a:srgbClr val="1E2B29"/>
                </a:solidFill>
                <a:latin typeface="Calibri"/>
                <a:ea typeface="Calibri"/>
                <a:cs typeface="Calibri"/>
                <a:sym typeface="Calibri"/>
              </a:rPr>
              <a:t> must be opt-in</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191" name="Shape 191"/>
        <p:cNvGrpSpPr/>
        <p:nvPr/>
      </p:nvGrpSpPr>
      <p:grpSpPr>
        <a:xfrm>
          <a:off x="0" y="0"/>
          <a:ext cx="0" cy="0"/>
          <a:chOff x="0" y="0"/>
          <a:chExt cx="0" cy="0"/>
        </a:xfrm>
      </p:grpSpPr>
      <p:sp>
        <p:nvSpPr>
          <p:cNvPr id="192" name="Google Shape;192;p9"/>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PROBLEM STATEMENT</a:t>
            </a:r>
            <a:endParaRPr b="0" i="0" sz="1200" u="none" cap="none" strike="noStrike">
              <a:solidFill>
                <a:schemeClr val="dk1"/>
              </a:solidFill>
              <a:latin typeface="Calibri"/>
              <a:ea typeface="Calibri"/>
              <a:cs typeface="Calibri"/>
              <a:sym typeface="Calibri"/>
            </a:endParaRPr>
          </a:p>
        </p:txBody>
      </p:sp>
      <p:sp>
        <p:nvSpPr>
          <p:cNvPr id="193" name="Google Shape;193;p9"/>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Two problems that close a loop</a:t>
            </a:r>
            <a:endParaRPr b="0" i="0" sz="3000" u="none" cap="none" strike="noStrike">
              <a:solidFill>
                <a:schemeClr val="dk1"/>
              </a:solidFill>
              <a:latin typeface="Calibri"/>
              <a:ea typeface="Calibri"/>
              <a:cs typeface="Calibri"/>
              <a:sym typeface="Calibri"/>
            </a:endParaRPr>
          </a:p>
        </p:txBody>
      </p:sp>
      <p:sp>
        <p:nvSpPr>
          <p:cNvPr id="194" name="Google Shape;194;p9"/>
          <p:cNvSpPr/>
          <p:nvPr/>
        </p:nvSpPr>
        <p:spPr>
          <a:xfrm>
            <a:off x="548640" y="1554480"/>
            <a:ext cx="5285232" cy="3520440"/>
          </a:xfrm>
          <a:prstGeom prst="roundRect">
            <a:avLst>
              <a:gd fmla="val 3117"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868680" y="1828800"/>
            <a:ext cx="777240" cy="77724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9"/>
          <p:cNvPicPr preferRelativeResize="0"/>
          <p:nvPr/>
        </p:nvPicPr>
        <p:blipFill rotWithShape="1">
          <a:blip r:embed="rId3">
            <a:alphaModFix/>
          </a:blip>
          <a:srcRect b="0" l="0" r="0" t="0"/>
          <a:stretch/>
        </p:blipFill>
        <p:spPr>
          <a:xfrm>
            <a:off x="1055218" y="2015338"/>
            <a:ext cx="404165" cy="404165"/>
          </a:xfrm>
          <a:prstGeom prst="rect">
            <a:avLst/>
          </a:prstGeom>
          <a:noFill/>
          <a:ln>
            <a:noFill/>
          </a:ln>
        </p:spPr>
      </p:pic>
      <p:sp>
        <p:nvSpPr>
          <p:cNvPr id="197" name="Google Shape;197;p9"/>
          <p:cNvSpPr/>
          <p:nvPr/>
        </p:nvSpPr>
        <p:spPr>
          <a:xfrm>
            <a:off x="1828800" y="1847088"/>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1200"/>
              <a:buFont typeface="Calibri"/>
              <a:buNone/>
            </a:pPr>
            <a:r>
              <a:rPr b="1" i="0" lang="en-US" sz="1200" u="none" cap="none" strike="noStrike">
                <a:solidFill>
                  <a:srgbClr val="84B59F"/>
                </a:solidFill>
                <a:latin typeface="Calibri"/>
                <a:ea typeface="Calibri"/>
                <a:cs typeface="Calibri"/>
                <a:sym typeface="Calibri"/>
              </a:rPr>
              <a:t>PROBLEM 1</a:t>
            </a:r>
            <a:endParaRPr b="0" i="0" sz="1200" u="none" cap="none" strike="noStrike">
              <a:solidFill>
                <a:schemeClr val="dk1"/>
              </a:solidFill>
              <a:latin typeface="Calibri"/>
              <a:ea typeface="Calibri"/>
              <a:cs typeface="Calibri"/>
              <a:sym typeface="Calibri"/>
            </a:endParaRPr>
          </a:p>
        </p:txBody>
      </p:sp>
      <p:sp>
        <p:nvSpPr>
          <p:cNvPr id="198" name="Google Shape;198;p9"/>
          <p:cNvSpPr/>
          <p:nvPr/>
        </p:nvSpPr>
        <p:spPr>
          <a:xfrm>
            <a:off x="1828800" y="2103120"/>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entury Schoolbook"/>
              <a:buNone/>
            </a:pPr>
            <a:r>
              <a:rPr b="1" i="0" lang="en-US" sz="2200" u="none" cap="none" strike="noStrike">
                <a:solidFill>
                  <a:srgbClr val="FFFFFF"/>
                </a:solidFill>
                <a:latin typeface="Century Schoolbook"/>
                <a:ea typeface="Century Schoolbook"/>
                <a:cs typeface="Century Schoolbook"/>
                <a:sym typeface="Century Schoolbook"/>
              </a:rPr>
              <a:t>Eliciting the data</a:t>
            </a:r>
            <a:endParaRPr b="0" i="0" sz="2200" u="none" cap="none" strike="noStrike">
              <a:solidFill>
                <a:schemeClr val="dk1"/>
              </a:solidFill>
              <a:latin typeface="Calibri"/>
              <a:ea typeface="Calibri"/>
              <a:cs typeface="Calibri"/>
              <a:sym typeface="Calibri"/>
            </a:endParaRPr>
          </a:p>
        </p:txBody>
      </p:sp>
      <p:sp>
        <p:nvSpPr>
          <p:cNvPr id="199" name="Google Shape;199;p9"/>
          <p:cNvSpPr/>
          <p:nvPr/>
        </p:nvSpPr>
        <p:spPr>
          <a:xfrm>
            <a:off x="914400" y="2788920"/>
            <a:ext cx="45720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0DA"/>
              </a:buClr>
              <a:buSzPts val="1350"/>
              <a:buFont typeface="Calibri"/>
              <a:buNone/>
            </a:pPr>
            <a:r>
              <a:rPr b="0" i="1" lang="en-US" sz="1350" u="none" cap="none" strike="noStrike">
                <a:solidFill>
                  <a:srgbClr val="CFE0DA"/>
                </a:solidFill>
                <a:latin typeface="Calibri"/>
                <a:ea typeface="Calibri"/>
                <a:cs typeface="Calibri"/>
                <a:sym typeface="Calibri"/>
              </a:rPr>
              <a:t>How do we obtain an honest, continuous record of a teen's wellbeing that feels natural — not clinical paperwork?</a:t>
            </a:r>
            <a:endParaRPr b="0" i="0" sz="1350" u="none" cap="none" strike="noStrike">
              <a:solidFill>
                <a:schemeClr val="dk1"/>
              </a:solidFill>
              <a:latin typeface="Calibri"/>
              <a:ea typeface="Calibri"/>
              <a:cs typeface="Calibri"/>
              <a:sym typeface="Calibri"/>
            </a:endParaRPr>
          </a:p>
        </p:txBody>
      </p:sp>
      <p:sp>
        <p:nvSpPr>
          <p:cNvPr id="200" name="Google Shape;200;p9"/>
          <p:cNvSpPr/>
          <p:nvPr/>
        </p:nvSpPr>
        <p:spPr>
          <a:xfrm>
            <a:off x="914400" y="3794760"/>
            <a:ext cx="46634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FFFFFF"/>
                </a:solidFill>
                <a:latin typeface="Calibri"/>
                <a:ea typeface="Calibri"/>
                <a:cs typeface="Calibri"/>
                <a:sym typeface="Calibri"/>
              </a:rPr>
              <a:t>Friction — capture must be a single tap</a:t>
            </a:r>
            <a:endParaRPr b="0" i="0" sz="1250" u="none" cap="none" strike="noStrike">
              <a:solidFill>
                <a:schemeClr val="dk1"/>
              </a:solidFill>
              <a:latin typeface="Calibri"/>
              <a:ea typeface="Calibri"/>
              <a:cs typeface="Calibri"/>
              <a:sym typeface="Calibri"/>
            </a:endParaRPr>
          </a:p>
        </p:txBody>
      </p:sp>
      <p:sp>
        <p:nvSpPr>
          <p:cNvPr id="201" name="Google Shape;201;p9"/>
          <p:cNvSpPr/>
          <p:nvPr/>
        </p:nvSpPr>
        <p:spPr>
          <a:xfrm>
            <a:off x="914400" y="4361688"/>
            <a:ext cx="46634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FFFFFF"/>
                </a:solidFill>
                <a:latin typeface="Calibri"/>
                <a:ea typeface="Calibri"/>
                <a:cs typeface="Calibri"/>
                <a:sym typeface="Calibri"/>
              </a:rPr>
              <a:t>Recall — the system must come to the user, without becoming a nag</a:t>
            </a:r>
            <a:endParaRPr b="0" i="0" sz="1250" u="none" cap="none" strike="noStrike">
              <a:solidFill>
                <a:schemeClr val="dk1"/>
              </a:solidFill>
              <a:latin typeface="Calibri"/>
              <a:ea typeface="Calibri"/>
              <a:cs typeface="Calibri"/>
              <a:sym typeface="Calibri"/>
            </a:endParaRPr>
          </a:p>
        </p:txBody>
      </p:sp>
      <p:sp>
        <p:nvSpPr>
          <p:cNvPr id="202" name="Google Shape;202;p9"/>
          <p:cNvSpPr/>
          <p:nvPr/>
        </p:nvSpPr>
        <p:spPr>
          <a:xfrm>
            <a:off x="6355080" y="1554480"/>
            <a:ext cx="5285232" cy="3520440"/>
          </a:xfrm>
          <a:prstGeom prst="roundRect">
            <a:avLst>
              <a:gd fmla="val 3117"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6675120" y="1828800"/>
            <a:ext cx="777240" cy="77724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 name="Google Shape;204;p9"/>
          <p:cNvPicPr preferRelativeResize="0"/>
          <p:nvPr/>
        </p:nvPicPr>
        <p:blipFill rotWithShape="1">
          <a:blip r:embed="rId4">
            <a:alphaModFix/>
          </a:blip>
          <a:srcRect b="0" l="0" r="0" t="0"/>
          <a:stretch/>
        </p:blipFill>
        <p:spPr>
          <a:xfrm>
            <a:off x="6861658" y="2015338"/>
            <a:ext cx="404165" cy="404165"/>
          </a:xfrm>
          <a:prstGeom prst="rect">
            <a:avLst/>
          </a:prstGeom>
          <a:noFill/>
          <a:ln>
            <a:noFill/>
          </a:ln>
        </p:spPr>
      </p:pic>
      <p:sp>
        <p:nvSpPr>
          <p:cNvPr id="205" name="Google Shape;205;p9"/>
          <p:cNvSpPr/>
          <p:nvPr/>
        </p:nvSpPr>
        <p:spPr>
          <a:xfrm>
            <a:off x="7635240" y="1847088"/>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1200"/>
              <a:buFont typeface="Calibri"/>
              <a:buNone/>
            </a:pPr>
            <a:r>
              <a:rPr b="1" i="0" lang="en-US" sz="1200" u="none" cap="none" strike="noStrike">
                <a:solidFill>
                  <a:srgbClr val="84B59F"/>
                </a:solidFill>
                <a:latin typeface="Calibri"/>
                <a:ea typeface="Calibri"/>
                <a:cs typeface="Calibri"/>
                <a:sym typeface="Calibri"/>
              </a:rPr>
              <a:t>PROBLEM 2</a:t>
            </a:r>
            <a:endParaRPr b="0" i="0" sz="1200" u="none" cap="none" strike="noStrike">
              <a:solidFill>
                <a:schemeClr val="dk1"/>
              </a:solidFill>
              <a:latin typeface="Calibri"/>
              <a:ea typeface="Calibri"/>
              <a:cs typeface="Calibri"/>
              <a:sym typeface="Calibri"/>
            </a:endParaRPr>
          </a:p>
        </p:txBody>
      </p:sp>
      <p:sp>
        <p:nvSpPr>
          <p:cNvPr id="206" name="Google Shape;206;p9"/>
          <p:cNvSpPr/>
          <p:nvPr/>
        </p:nvSpPr>
        <p:spPr>
          <a:xfrm>
            <a:off x="7635240" y="2103120"/>
            <a:ext cx="39319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entury Schoolbook"/>
              <a:buNone/>
            </a:pPr>
            <a:r>
              <a:rPr b="1" i="0" lang="en-US" sz="2200" u="none" cap="none" strike="noStrike">
                <a:solidFill>
                  <a:srgbClr val="FFFFFF"/>
                </a:solidFill>
                <a:latin typeface="Century Schoolbook"/>
                <a:ea typeface="Century Schoolbook"/>
                <a:cs typeface="Century Schoolbook"/>
                <a:sym typeface="Century Schoolbook"/>
              </a:rPr>
              <a:t>Acting on the data</a:t>
            </a:r>
            <a:endParaRPr b="0" i="0" sz="2200" u="none" cap="none" strike="noStrike">
              <a:solidFill>
                <a:schemeClr val="dk1"/>
              </a:solidFill>
              <a:latin typeface="Calibri"/>
              <a:ea typeface="Calibri"/>
              <a:cs typeface="Calibri"/>
              <a:sym typeface="Calibri"/>
            </a:endParaRPr>
          </a:p>
        </p:txBody>
      </p:sp>
      <p:sp>
        <p:nvSpPr>
          <p:cNvPr id="207" name="Google Shape;207;p9"/>
          <p:cNvSpPr/>
          <p:nvPr/>
        </p:nvSpPr>
        <p:spPr>
          <a:xfrm>
            <a:off x="6720840" y="2788920"/>
            <a:ext cx="45720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0DA"/>
              </a:buClr>
              <a:buSzPts val="1350"/>
              <a:buFont typeface="Calibri"/>
              <a:buNone/>
            </a:pPr>
            <a:r>
              <a:rPr b="0" i="1" lang="en-US" sz="1350" u="none" cap="none" strike="noStrike">
                <a:solidFill>
                  <a:srgbClr val="CFE0DA"/>
                </a:solidFill>
                <a:latin typeface="Calibri"/>
                <a:ea typeface="Calibri"/>
                <a:cs typeface="Calibri"/>
                <a:sym typeface="Calibri"/>
              </a:rPr>
              <a:t>Given that record, how do we respond well on a crisis day, an ordinary day, and everything in between?</a:t>
            </a:r>
            <a:endParaRPr b="0" i="0" sz="1350" u="none" cap="none" strike="noStrike">
              <a:solidFill>
                <a:schemeClr val="dk1"/>
              </a:solidFill>
              <a:latin typeface="Calibri"/>
              <a:ea typeface="Calibri"/>
              <a:cs typeface="Calibri"/>
              <a:sym typeface="Calibri"/>
            </a:endParaRPr>
          </a:p>
        </p:txBody>
      </p:sp>
      <p:sp>
        <p:nvSpPr>
          <p:cNvPr id="208" name="Google Shape;208;p9"/>
          <p:cNvSpPr/>
          <p:nvPr/>
        </p:nvSpPr>
        <p:spPr>
          <a:xfrm>
            <a:off x="6720840" y="3794760"/>
            <a:ext cx="46634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FFFFFF"/>
                </a:solidFill>
                <a:latin typeface="Calibri"/>
                <a:ea typeface="Calibri"/>
                <a:cs typeface="Calibri"/>
                <a:sym typeface="Calibri"/>
              </a:rPr>
              <a:t>Nuance — distinguish acute distress from a bad day</a:t>
            </a:r>
            <a:endParaRPr b="0" i="0" sz="1250" u="none" cap="none" strike="noStrike">
              <a:solidFill>
                <a:schemeClr val="dk1"/>
              </a:solidFill>
              <a:latin typeface="Calibri"/>
              <a:ea typeface="Calibri"/>
              <a:cs typeface="Calibri"/>
              <a:sym typeface="Calibri"/>
            </a:endParaRPr>
          </a:p>
        </p:txBody>
      </p:sp>
      <p:sp>
        <p:nvSpPr>
          <p:cNvPr id="209" name="Google Shape;209;p9"/>
          <p:cNvSpPr/>
          <p:nvPr/>
        </p:nvSpPr>
        <p:spPr>
          <a:xfrm>
            <a:off x="6720840" y="4361688"/>
            <a:ext cx="4663440" cy="5029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FFFFFF"/>
                </a:solidFill>
                <a:latin typeface="Calibri"/>
                <a:ea typeface="Calibri"/>
                <a:cs typeface="Calibri"/>
                <a:sym typeface="Calibri"/>
              </a:rPr>
              <a:t>Worth opening on a neutral day, with access always explicit</a:t>
            </a:r>
            <a:endParaRPr b="0" i="0" sz="1250" u="none" cap="none" strike="noStrike">
              <a:solidFill>
                <a:schemeClr val="dk1"/>
              </a:solidFill>
              <a:latin typeface="Calibri"/>
              <a:ea typeface="Calibri"/>
              <a:cs typeface="Calibri"/>
              <a:sym typeface="Calibri"/>
            </a:endParaRPr>
          </a:p>
        </p:txBody>
      </p:sp>
      <p:sp>
        <p:nvSpPr>
          <p:cNvPr id="210" name="Google Shape;210;p9"/>
          <p:cNvSpPr/>
          <p:nvPr/>
        </p:nvSpPr>
        <p:spPr>
          <a:xfrm>
            <a:off x="548640" y="5303520"/>
            <a:ext cx="11091672" cy="804672"/>
          </a:xfrm>
          <a:prstGeom prst="roundRect">
            <a:avLst>
              <a:gd fmla="val 11364" name="adj"/>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777240" y="5413248"/>
            <a:ext cx="566928" cy="56692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 name="Google Shape;212;p9"/>
          <p:cNvPicPr preferRelativeResize="0"/>
          <p:nvPr/>
        </p:nvPicPr>
        <p:blipFill rotWithShape="1">
          <a:blip r:embed="rId5">
            <a:alphaModFix/>
          </a:blip>
          <a:srcRect b="0" l="0" r="0" t="0"/>
          <a:stretch/>
        </p:blipFill>
        <p:spPr>
          <a:xfrm>
            <a:off x="913303" y="5549311"/>
            <a:ext cx="294803" cy="294803"/>
          </a:xfrm>
          <a:prstGeom prst="rect">
            <a:avLst/>
          </a:prstGeom>
          <a:noFill/>
          <a:ln>
            <a:noFill/>
          </a:ln>
        </p:spPr>
      </p:pic>
      <p:sp>
        <p:nvSpPr>
          <p:cNvPr id="213" name="Google Shape;213;p9"/>
          <p:cNvSpPr/>
          <p:nvPr/>
        </p:nvSpPr>
        <p:spPr>
          <a:xfrm>
            <a:off x="1508760" y="5303520"/>
            <a:ext cx="9966960" cy="8046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350"/>
              <a:buFont typeface="Calibri"/>
              <a:buNone/>
            </a:pPr>
            <a:r>
              <a:rPr b="1" i="0" lang="en-US" sz="1350" u="none" cap="none" strike="noStrike">
                <a:solidFill>
                  <a:srgbClr val="2E7D74"/>
                </a:solidFill>
                <a:latin typeface="Calibri"/>
                <a:ea typeface="Calibri"/>
                <a:cs typeface="Calibri"/>
                <a:sym typeface="Calibri"/>
              </a:rPr>
              <a:t>The loop:  </a:t>
            </a:r>
            <a:r>
              <a:rPr b="0" i="0" lang="en-US" sz="1350" u="none" cap="none" strike="noStrike">
                <a:solidFill>
                  <a:srgbClr val="1E2B29"/>
                </a:solidFill>
                <a:latin typeface="Calibri"/>
                <a:ea typeface="Calibri"/>
                <a:cs typeface="Calibri"/>
                <a:sym typeface="Calibri"/>
              </a:rPr>
              <a:t>better daily reflection makes every response more precise — and responses that are useful on ordinary days are what keep the reflection going.</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218" name="Shape 218"/>
        <p:cNvGrpSpPr/>
        <p:nvPr/>
      </p:nvGrpSpPr>
      <p:grpSpPr>
        <a:xfrm>
          <a:off x="0" y="0"/>
          <a:ext cx="0" cy="0"/>
          <a:chOff x="0" y="0"/>
          <a:chExt cx="0" cy="0"/>
        </a:xfrm>
      </p:grpSpPr>
      <p:sp>
        <p:nvSpPr>
          <p:cNvPr id="219" name="Google Shape;219;p10"/>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OBJECTIVES</a:t>
            </a:r>
            <a:endParaRPr b="0" i="0" sz="1200" u="none" cap="none" strike="noStrike">
              <a:solidFill>
                <a:schemeClr val="dk1"/>
              </a:solidFill>
              <a:latin typeface="Calibri"/>
              <a:ea typeface="Calibri"/>
              <a:cs typeface="Calibri"/>
              <a:sym typeface="Calibri"/>
            </a:endParaRPr>
          </a:p>
        </p:txBody>
      </p:sp>
      <p:sp>
        <p:nvSpPr>
          <p:cNvPr id="220" name="Google Shape;220;p10"/>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From findings to design goals</a:t>
            </a:r>
            <a:endParaRPr b="0" i="0" sz="3000" u="none" cap="none" strike="noStrike">
              <a:solidFill>
                <a:schemeClr val="dk1"/>
              </a:solidFill>
              <a:latin typeface="Calibri"/>
              <a:ea typeface="Calibri"/>
              <a:cs typeface="Calibri"/>
              <a:sym typeface="Calibri"/>
            </a:endParaRPr>
          </a:p>
        </p:txBody>
      </p:sp>
      <p:sp>
        <p:nvSpPr>
          <p:cNvPr id="221" name="Google Shape;221;p10"/>
          <p:cNvSpPr/>
          <p:nvPr/>
        </p:nvSpPr>
        <p:spPr>
          <a:xfrm>
            <a:off x="548640" y="1600200"/>
            <a:ext cx="3566160" cy="4434840"/>
          </a:xfrm>
          <a:prstGeom prst="roundRect">
            <a:avLst>
              <a:gd fmla="val 3077"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822960" y="1874520"/>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3" name="Google Shape;223;p10"/>
          <p:cNvPicPr preferRelativeResize="0"/>
          <p:nvPr/>
        </p:nvPicPr>
        <p:blipFill rotWithShape="1">
          <a:blip r:embed="rId3">
            <a:alphaModFix/>
          </a:blip>
          <a:srcRect b="0" l="0" r="0" t="0"/>
          <a:stretch/>
        </p:blipFill>
        <p:spPr>
          <a:xfrm>
            <a:off x="1020470" y="2072030"/>
            <a:ext cx="427939" cy="427939"/>
          </a:xfrm>
          <a:prstGeom prst="rect">
            <a:avLst/>
          </a:prstGeom>
          <a:noFill/>
          <a:ln>
            <a:noFill/>
          </a:ln>
        </p:spPr>
      </p:pic>
      <p:sp>
        <p:nvSpPr>
          <p:cNvPr id="224" name="Google Shape;224;p10"/>
          <p:cNvSpPr/>
          <p:nvPr/>
        </p:nvSpPr>
        <p:spPr>
          <a:xfrm>
            <a:off x="804672" y="2834640"/>
            <a:ext cx="3108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700"/>
              <a:buFont typeface="Century Schoolbook"/>
              <a:buNone/>
            </a:pPr>
            <a:r>
              <a:rPr b="1" i="0" lang="en-US" sz="1700" u="none" cap="none" strike="noStrike">
                <a:solidFill>
                  <a:srgbClr val="2E7D74"/>
                </a:solidFill>
                <a:latin typeface="Century Schoolbook"/>
                <a:ea typeface="Century Schoolbook"/>
                <a:cs typeface="Century Schoolbook"/>
                <a:sym typeface="Century Schoolbook"/>
              </a:rPr>
              <a:t>Capture the record</a:t>
            </a:r>
            <a:endParaRPr b="0" i="0" sz="1700" u="none" cap="none" strike="noStrike">
              <a:solidFill>
                <a:schemeClr val="dk1"/>
              </a:solidFill>
              <a:latin typeface="Calibri"/>
              <a:ea typeface="Calibri"/>
              <a:cs typeface="Calibri"/>
              <a:sym typeface="Calibri"/>
            </a:endParaRPr>
          </a:p>
        </p:txBody>
      </p:sp>
      <p:sp>
        <p:nvSpPr>
          <p:cNvPr id="225" name="Google Shape;225;p10"/>
          <p:cNvSpPr/>
          <p:nvPr/>
        </p:nvSpPr>
        <p:spPr>
          <a:xfrm>
            <a:off x="804672" y="3383280"/>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O1 — Make capture as comfortable as possible</a:t>
            </a:r>
            <a:endParaRPr b="0" i="0" sz="1250" u="none" cap="none" strike="noStrike">
              <a:solidFill>
                <a:schemeClr val="dk1"/>
              </a:solidFill>
              <a:latin typeface="Calibri"/>
              <a:ea typeface="Calibri"/>
              <a:cs typeface="Calibri"/>
              <a:sym typeface="Calibri"/>
            </a:endParaRPr>
          </a:p>
        </p:txBody>
      </p:sp>
      <p:sp>
        <p:nvSpPr>
          <p:cNvPr id="226" name="Google Shape;226;p10"/>
          <p:cNvSpPr/>
          <p:nvPr/>
        </p:nvSpPr>
        <p:spPr>
          <a:xfrm>
            <a:off x="804672" y="4005072"/>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O2 — Come to the user without nagging</a:t>
            </a:r>
            <a:endParaRPr b="0" i="0" sz="1250" u="none" cap="none" strike="noStrike">
              <a:solidFill>
                <a:schemeClr val="dk1"/>
              </a:solidFill>
              <a:latin typeface="Calibri"/>
              <a:ea typeface="Calibri"/>
              <a:cs typeface="Calibri"/>
              <a:sym typeface="Calibri"/>
            </a:endParaRPr>
          </a:p>
        </p:txBody>
      </p:sp>
      <p:sp>
        <p:nvSpPr>
          <p:cNvPr id="227" name="Google Shape;227;p10"/>
          <p:cNvSpPr/>
          <p:nvPr/>
        </p:nvSpPr>
        <p:spPr>
          <a:xfrm>
            <a:off x="804672" y="4626864"/>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3</a:t>
            </a:r>
            <a:r>
              <a:rPr b="0" i="0" lang="en-US" sz="1250" u="none" cap="none" strike="noStrike">
                <a:solidFill>
                  <a:srgbClr val="1E2B29"/>
                </a:solidFill>
                <a:latin typeface="Calibri"/>
                <a:ea typeface="Calibri"/>
                <a:cs typeface="Calibri"/>
                <a:sym typeface="Calibri"/>
              </a:rPr>
              <a:t> — Cover physical wellbeing too</a:t>
            </a:r>
            <a:endParaRPr b="0" i="0" sz="1250" u="none" cap="none" strike="noStrike">
              <a:solidFill>
                <a:schemeClr val="dk1"/>
              </a:solidFill>
              <a:latin typeface="Calibri"/>
              <a:ea typeface="Calibri"/>
              <a:cs typeface="Calibri"/>
              <a:sym typeface="Calibri"/>
            </a:endParaRPr>
          </a:p>
        </p:txBody>
      </p:sp>
      <p:sp>
        <p:nvSpPr>
          <p:cNvPr id="228" name="Google Shape;228;p10"/>
          <p:cNvSpPr/>
          <p:nvPr/>
        </p:nvSpPr>
        <p:spPr>
          <a:xfrm>
            <a:off x="4315968" y="1600200"/>
            <a:ext cx="3566160" cy="4434840"/>
          </a:xfrm>
          <a:prstGeom prst="roundRect">
            <a:avLst>
              <a:gd fmla="val 3077"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4590288" y="1874520"/>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0" name="Google Shape;230;p10"/>
          <p:cNvPicPr preferRelativeResize="0"/>
          <p:nvPr/>
        </p:nvPicPr>
        <p:blipFill rotWithShape="1">
          <a:blip r:embed="rId4">
            <a:alphaModFix/>
          </a:blip>
          <a:srcRect b="0" l="0" r="0" t="0"/>
          <a:stretch/>
        </p:blipFill>
        <p:spPr>
          <a:xfrm>
            <a:off x="4787798" y="2072030"/>
            <a:ext cx="427939" cy="427939"/>
          </a:xfrm>
          <a:prstGeom prst="rect">
            <a:avLst/>
          </a:prstGeom>
          <a:noFill/>
          <a:ln>
            <a:noFill/>
          </a:ln>
        </p:spPr>
      </p:pic>
      <p:sp>
        <p:nvSpPr>
          <p:cNvPr id="231" name="Google Shape;231;p10"/>
          <p:cNvSpPr/>
          <p:nvPr/>
        </p:nvSpPr>
        <p:spPr>
          <a:xfrm>
            <a:off x="4572000" y="2834640"/>
            <a:ext cx="3108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700"/>
              <a:buFont typeface="Century Schoolbook"/>
              <a:buNone/>
            </a:pPr>
            <a:r>
              <a:rPr b="1" i="0" lang="en-US" sz="1700" u="none" cap="none" strike="noStrike">
                <a:solidFill>
                  <a:srgbClr val="2E7D74"/>
                </a:solidFill>
                <a:latin typeface="Century Schoolbook"/>
                <a:ea typeface="Century Schoolbook"/>
                <a:cs typeface="Century Schoolbook"/>
                <a:sym typeface="Century Schoolbook"/>
              </a:rPr>
              <a:t>Act on the record</a:t>
            </a:r>
            <a:endParaRPr b="0" i="0" sz="1700" u="none" cap="none" strike="noStrike">
              <a:solidFill>
                <a:schemeClr val="dk1"/>
              </a:solidFill>
              <a:latin typeface="Calibri"/>
              <a:ea typeface="Calibri"/>
              <a:cs typeface="Calibri"/>
              <a:sym typeface="Calibri"/>
            </a:endParaRPr>
          </a:p>
        </p:txBody>
      </p:sp>
      <p:sp>
        <p:nvSpPr>
          <p:cNvPr id="232" name="Google Shape;232;p10"/>
          <p:cNvSpPr/>
          <p:nvPr/>
        </p:nvSpPr>
        <p:spPr>
          <a:xfrm>
            <a:off x="4572000" y="3383280"/>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4</a:t>
            </a:r>
            <a:r>
              <a:rPr b="0" i="0" lang="en-US" sz="1250" u="none" cap="none" strike="noStrike">
                <a:solidFill>
                  <a:srgbClr val="1E2B29"/>
                </a:solidFill>
                <a:latin typeface="Calibri"/>
                <a:ea typeface="Calibri"/>
                <a:cs typeface="Calibri"/>
                <a:sym typeface="Calibri"/>
              </a:rPr>
              <a:t> — Ground the AI in the user's own history</a:t>
            </a:r>
            <a:endParaRPr b="0" i="0" sz="1250" u="none" cap="none" strike="noStrike">
              <a:solidFill>
                <a:schemeClr val="dk1"/>
              </a:solidFill>
              <a:latin typeface="Calibri"/>
              <a:ea typeface="Calibri"/>
              <a:cs typeface="Calibri"/>
              <a:sym typeface="Calibri"/>
            </a:endParaRPr>
          </a:p>
        </p:txBody>
      </p:sp>
      <p:sp>
        <p:nvSpPr>
          <p:cNvPr id="233" name="Google Shape;233;p10"/>
          <p:cNvSpPr/>
          <p:nvPr/>
        </p:nvSpPr>
        <p:spPr>
          <a:xfrm>
            <a:off x="4572000" y="4005072"/>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5</a:t>
            </a:r>
            <a:r>
              <a:rPr b="0" i="0" lang="en-US" sz="1250" u="none" cap="none" strike="noStrike">
                <a:solidFill>
                  <a:srgbClr val="1E2B29"/>
                </a:solidFill>
                <a:latin typeface="Calibri"/>
                <a:ea typeface="Calibri"/>
                <a:cs typeface="Calibri"/>
                <a:sym typeface="Calibri"/>
              </a:rPr>
              <a:t> — Respond well on the ordinary day</a:t>
            </a:r>
            <a:endParaRPr b="0" i="0" sz="1250" u="none" cap="none" strike="noStrike">
              <a:solidFill>
                <a:schemeClr val="dk1"/>
              </a:solidFill>
              <a:latin typeface="Calibri"/>
              <a:ea typeface="Calibri"/>
              <a:cs typeface="Calibri"/>
              <a:sym typeface="Calibri"/>
            </a:endParaRPr>
          </a:p>
        </p:txBody>
      </p:sp>
      <p:sp>
        <p:nvSpPr>
          <p:cNvPr id="234" name="Google Shape;234;p10"/>
          <p:cNvSpPr/>
          <p:nvPr/>
        </p:nvSpPr>
        <p:spPr>
          <a:xfrm>
            <a:off x="4572000" y="4626864"/>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6</a:t>
            </a:r>
            <a:r>
              <a:rPr b="0" i="0" lang="en-US" sz="1250" u="none" cap="none" strike="noStrike">
                <a:solidFill>
                  <a:srgbClr val="1E2B29"/>
                </a:solidFill>
                <a:latin typeface="Calibri"/>
                <a:ea typeface="Calibri"/>
                <a:cs typeface="Calibri"/>
                <a:sym typeface="Calibri"/>
              </a:rPr>
              <a:t> — Keep the crisis path one tap away</a:t>
            </a:r>
            <a:endParaRPr b="0" i="0" sz="1250" u="none" cap="none" strike="noStrike">
              <a:solidFill>
                <a:schemeClr val="dk1"/>
              </a:solidFill>
              <a:latin typeface="Calibri"/>
              <a:ea typeface="Calibri"/>
              <a:cs typeface="Calibri"/>
              <a:sym typeface="Calibri"/>
            </a:endParaRPr>
          </a:p>
        </p:txBody>
      </p:sp>
      <p:sp>
        <p:nvSpPr>
          <p:cNvPr id="235" name="Google Shape;235;p10"/>
          <p:cNvSpPr/>
          <p:nvPr/>
        </p:nvSpPr>
        <p:spPr>
          <a:xfrm>
            <a:off x="4572000" y="5248656"/>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7</a:t>
            </a:r>
            <a:r>
              <a:rPr b="0" i="0" lang="en-US" sz="1250" u="none" cap="none" strike="noStrike">
                <a:solidFill>
                  <a:srgbClr val="1E2B29"/>
                </a:solidFill>
                <a:latin typeface="Calibri"/>
                <a:ea typeface="Calibri"/>
                <a:cs typeface="Calibri"/>
                <a:sym typeface="Calibri"/>
              </a:rPr>
              <a:t> — Close the black box between sessions</a:t>
            </a:r>
            <a:endParaRPr b="0" i="0" sz="1250" u="none" cap="none" strike="noStrike">
              <a:solidFill>
                <a:schemeClr val="dk1"/>
              </a:solidFill>
              <a:latin typeface="Calibri"/>
              <a:ea typeface="Calibri"/>
              <a:cs typeface="Calibri"/>
              <a:sym typeface="Calibri"/>
            </a:endParaRPr>
          </a:p>
        </p:txBody>
      </p:sp>
      <p:sp>
        <p:nvSpPr>
          <p:cNvPr id="236" name="Google Shape;236;p10"/>
          <p:cNvSpPr/>
          <p:nvPr/>
        </p:nvSpPr>
        <p:spPr>
          <a:xfrm>
            <a:off x="8083296" y="1600200"/>
            <a:ext cx="3566160" cy="4434840"/>
          </a:xfrm>
          <a:prstGeom prst="roundRect">
            <a:avLst>
              <a:gd fmla="val 3077"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8357616" y="1874520"/>
            <a:ext cx="822960" cy="82296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8" name="Google Shape;238;p10"/>
          <p:cNvPicPr preferRelativeResize="0"/>
          <p:nvPr/>
        </p:nvPicPr>
        <p:blipFill rotWithShape="1">
          <a:blip r:embed="rId5">
            <a:alphaModFix/>
          </a:blip>
          <a:srcRect b="0" l="0" r="0" t="0"/>
          <a:stretch/>
        </p:blipFill>
        <p:spPr>
          <a:xfrm>
            <a:off x="8555126" y="2072030"/>
            <a:ext cx="427939" cy="427939"/>
          </a:xfrm>
          <a:prstGeom prst="rect">
            <a:avLst/>
          </a:prstGeom>
          <a:noFill/>
          <a:ln>
            <a:noFill/>
          </a:ln>
        </p:spPr>
      </p:pic>
      <p:sp>
        <p:nvSpPr>
          <p:cNvPr id="239" name="Google Shape;239;p10"/>
          <p:cNvSpPr/>
          <p:nvPr/>
        </p:nvSpPr>
        <p:spPr>
          <a:xfrm>
            <a:off x="8339328" y="2834640"/>
            <a:ext cx="3108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700"/>
              <a:buFont typeface="Century Schoolbook"/>
              <a:buNone/>
            </a:pPr>
            <a:r>
              <a:rPr b="1" i="0" lang="en-US" sz="1700" u="none" cap="none" strike="noStrike">
                <a:solidFill>
                  <a:srgbClr val="2E7D74"/>
                </a:solidFill>
                <a:latin typeface="Century Schoolbook"/>
                <a:ea typeface="Century Schoolbook"/>
                <a:cs typeface="Century Schoolbook"/>
                <a:sym typeface="Century Schoolbook"/>
              </a:rPr>
              <a:t>Consent &amp; architecture</a:t>
            </a:r>
            <a:endParaRPr b="0" i="0" sz="1700" u="none" cap="none" strike="noStrike">
              <a:solidFill>
                <a:schemeClr val="dk1"/>
              </a:solidFill>
              <a:latin typeface="Calibri"/>
              <a:ea typeface="Calibri"/>
              <a:cs typeface="Calibri"/>
              <a:sym typeface="Calibri"/>
            </a:endParaRPr>
          </a:p>
        </p:txBody>
      </p:sp>
      <p:sp>
        <p:nvSpPr>
          <p:cNvPr id="240" name="Google Shape;240;p10"/>
          <p:cNvSpPr/>
          <p:nvPr/>
        </p:nvSpPr>
        <p:spPr>
          <a:xfrm>
            <a:off x="8339328" y="3383280"/>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8</a:t>
            </a:r>
            <a:r>
              <a:rPr b="0" i="0" lang="en-US" sz="1250" u="none" cap="none" strike="noStrike">
                <a:solidFill>
                  <a:srgbClr val="1E2B29"/>
                </a:solidFill>
                <a:latin typeface="Calibri"/>
                <a:ea typeface="Calibri"/>
                <a:cs typeface="Calibri"/>
                <a:sym typeface="Calibri"/>
              </a:rPr>
              <a:t> — Share nothing by default</a:t>
            </a:r>
            <a:endParaRPr b="0" i="0" sz="1250" u="none" cap="none" strike="noStrike">
              <a:solidFill>
                <a:schemeClr val="dk1"/>
              </a:solidFill>
              <a:latin typeface="Calibri"/>
              <a:ea typeface="Calibri"/>
              <a:cs typeface="Calibri"/>
              <a:sym typeface="Calibri"/>
            </a:endParaRPr>
          </a:p>
        </p:txBody>
      </p:sp>
      <p:sp>
        <p:nvSpPr>
          <p:cNvPr id="241" name="Google Shape;241;p10"/>
          <p:cNvSpPr/>
          <p:nvPr/>
        </p:nvSpPr>
        <p:spPr>
          <a:xfrm>
            <a:off x="8339328" y="4005072"/>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9</a:t>
            </a:r>
            <a:r>
              <a:rPr b="0" i="0" lang="en-US" sz="1250" u="none" cap="none" strike="noStrike">
                <a:solidFill>
                  <a:srgbClr val="1E2B29"/>
                </a:solidFill>
                <a:latin typeface="Calibri"/>
                <a:ea typeface="Calibri"/>
                <a:cs typeface="Calibri"/>
                <a:sym typeface="Calibri"/>
              </a:rPr>
              <a:t> — Build a maintainable microservices system</a:t>
            </a:r>
            <a:endParaRPr b="0" i="0" sz="1250" u="none" cap="none" strike="noStrike">
              <a:solidFill>
                <a:schemeClr val="dk1"/>
              </a:solidFill>
              <a:latin typeface="Calibri"/>
              <a:ea typeface="Calibri"/>
              <a:cs typeface="Calibri"/>
              <a:sym typeface="Calibri"/>
            </a:endParaRPr>
          </a:p>
        </p:txBody>
      </p:sp>
      <p:sp>
        <p:nvSpPr>
          <p:cNvPr id="242" name="Google Shape;242;p10"/>
          <p:cNvSpPr/>
          <p:nvPr/>
        </p:nvSpPr>
        <p:spPr>
          <a:xfrm>
            <a:off x="8339328" y="4626864"/>
            <a:ext cx="3154680" cy="594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O</a:t>
            </a:r>
            <a:r>
              <a:rPr lang="en-US" sz="1250">
                <a:solidFill>
                  <a:srgbClr val="1E2B29"/>
                </a:solidFill>
                <a:latin typeface="Calibri"/>
                <a:ea typeface="Calibri"/>
                <a:cs typeface="Calibri"/>
                <a:sym typeface="Calibri"/>
              </a:rPr>
              <a:t>10</a:t>
            </a:r>
            <a:r>
              <a:rPr b="0" i="0" lang="en-US" sz="1250" u="none" cap="none" strike="noStrike">
                <a:solidFill>
                  <a:srgbClr val="1E2B29"/>
                </a:solidFill>
                <a:latin typeface="Calibri"/>
                <a:ea typeface="Calibri"/>
                <a:cs typeface="Calibri"/>
                <a:sym typeface="Calibri"/>
              </a:rPr>
              <a:t> — Deploy &amp; validate on real cloud infra</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247" name="Shape 247"/>
        <p:cNvGrpSpPr/>
        <p:nvPr/>
      </p:nvGrpSpPr>
      <p:grpSpPr>
        <a:xfrm>
          <a:off x="0" y="0"/>
          <a:ext cx="0" cy="0"/>
          <a:chOff x="0" y="0"/>
          <a:chExt cx="0" cy="0"/>
        </a:xfrm>
      </p:grpSpPr>
      <p:sp>
        <p:nvSpPr>
          <p:cNvPr id="248" name="Google Shape;248;p11"/>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POSITIONING</a:t>
            </a:r>
            <a:endParaRPr b="0" i="0" sz="1200" u="none" cap="none" strike="noStrike">
              <a:solidFill>
                <a:schemeClr val="dk1"/>
              </a:solidFill>
              <a:latin typeface="Calibri"/>
              <a:ea typeface="Calibri"/>
              <a:cs typeface="Calibri"/>
              <a:sym typeface="Calibri"/>
            </a:endParaRPr>
          </a:p>
        </p:txBody>
      </p:sp>
      <p:sp>
        <p:nvSpPr>
          <p:cNvPr id="249" name="Google Shape;249;p11"/>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One journey, not four products</a:t>
            </a:r>
            <a:endParaRPr b="0" i="0" sz="3000" u="none" cap="none" strike="noStrike">
              <a:solidFill>
                <a:schemeClr val="dk1"/>
              </a:solidFill>
              <a:latin typeface="Calibri"/>
              <a:ea typeface="Calibri"/>
              <a:cs typeface="Calibri"/>
              <a:sym typeface="Calibri"/>
            </a:endParaRPr>
          </a:p>
        </p:txBody>
      </p:sp>
      <p:sp>
        <p:nvSpPr>
          <p:cNvPr id="250" name="Google Shape;250;p11"/>
          <p:cNvSpPr/>
          <p:nvPr/>
        </p:nvSpPr>
        <p:spPr>
          <a:xfrm>
            <a:off x="548640" y="1600200"/>
            <a:ext cx="4114800" cy="658368"/>
          </a:xfrm>
          <a:prstGeom prst="rect">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548640" y="1600200"/>
            <a:ext cx="4114800" cy="658368"/>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Capability</a:t>
            </a:r>
            <a:endParaRPr b="0" i="0" sz="1250" u="none" cap="none" strike="noStrike">
              <a:solidFill>
                <a:schemeClr val="dk1"/>
              </a:solidFill>
              <a:latin typeface="Calibri"/>
              <a:ea typeface="Calibri"/>
              <a:cs typeface="Calibri"/>
              <a:sym typeface="Calibri"/>
            </a:endParaRPr>
          </a:p>
        </p:txBody>
      </p:sp>
      <p:sp>
        <p:nvSpPr>
          <p:cNvPr id="252" name="Google Shape;252;p11"/>
          <p:cNvSpPr/>
          <p:nvPr/>
        </p:nvSpPr>
        <p:spPr>
          <a:xfrm>
            <a:off x="4663440" y="1600200"/>
            <a:ext cx="1744218" cy="658368"/>
          </a:xfrm>
          <a:prstGeom prst="rect">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4663440" y="1600200"/>
            <a:ext cx="1744218" cy="658368"/>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uMatter</a:t>
            </a:r>
            <a:endParaRPr b="0" i="0" sz="1150" u="none" cap="none" strike="noStrike">
              <a:solidFill>
                <a:schemeClr val="dk1"/>
              </a:solidFill>
              <a:latin typeface="Calibri"/>
              <a:ea typeface="Calibri"/>
              <a:cs typeface="Calibri"/>
              <a:sym typeface="Calibri"/>
            </a:endParaRPr>
          </a:p>
        </p:txBody>
      </p:sp>
      <p:sp>
        <p:nvSpPr>
          <p:cNvPr id="254" name="Google Shape;254;p11"/>
          <p:cNvSpPr/>
          <p:nvPr/>
        </p:nvSpPr>
        <p:spPr>
          <a:xfrm>
            <a:off x="6407658" y="1600200"/>
            <a:ext cx="1744218" cy="658368"/>
          </a:xfrm>
          <a:prstGeom prst="rect">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6407658" y="1600200"/>
            <a:ext cx="1744218" cy="658368"/>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BetterHelp /</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Talkspace</a:t>
            </a:r>
            <a:endParaRPr b="0" i="0" sz="1150" u="none" cap="none" strike="noStrike">
              <a:solidFill>
                <a:schemeClr val="dk1"/>
              </a:solidFill>
              <a:latin typeface="Calibri"/>
              <a:ea typeface="Calibri"/>
              <a:cs typeface="Calibri"/>
              <a:sym typeface="Calibri"/>
            </a:endParaRPr>
          </a:p>
        </p:txBody>
      </p:sp>
      <p:sp>
        <p:nvSpPr>
          <p:cNvPr id="256" name="Google Shape;256;p11"/>
          <p:cNvSpPr/>
          <p:nvPr/>
        </p:nvSpPr>
        <p:spPr>
          <a:xfrm>
            <a:off x="8151876" y="1600200"/>
            <a:ext cx="1744218" cy="658368"/>
          </a:xfrm>
          <a:prstGeom prst="rect">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8151876" y="1600200"/>
            <a:ext cx="1744218" cy="658368"/>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Wysa /</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General AI</a:t>
            </a:r>
            <a:endParaRPr b="0" i="0" sz="1150" u="none" cap="none" strike="noStrike">
              <a:solidFill>
                <a:schemeClr val="dk1"/>
              </a:solidFill>
              <a:latin typeface="Calibri"/>
              <a:ea typeface="Calibri"/>
              <a:cs typeface="Calibri"/>
              <a:sym typeface="Calibri"/>
            </a:endParaRPr>
          </a:p>
        </p:txBody>
      </p:sp>
      <p:sp>
        <p:nvSpPr>
          <p:cNvPr id="258" name="Google Shape;258;p11"/>
          <p:cNvSpPr/>
          <p:nvPr/>
        </p:nvSpPr>
        <p:spPr>
          <a:xfrm>
            <a:off x="9896094" y="1600200"/>
            <a:ext cx="1744218" cy="658368"/>
          </a:xfrm>
          <a:prstGeom prst="rect">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9896094" y="1600200"/>
            <a:ext cx="1744218" cy="658368"/>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Daylio /</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Bearable</a:t>
            </a:r>
            <a:endParaRPr b="0" i="0" sz="1150" u="none" cap="none" strike="noStrike">
              <a:solidFill>
                <a:schemeClr val="dk1"/>
              </a:solidFill>
              <a:latin typeface="Calibri"/>
              <a:ea typeface="Calibri"/>
              <a:cs typeface="Calibri"/>
              <a:sym typeface="Calibri"/>
            </a:endParaRPr>
          </a:p>
        </p:txBody>
      </p:sp>
      <p:sp>
        <p:nvSpPr>
          <p:cNvPr id="260" name="Google Shape;260;p11"/>
          <p:cNvSpPr/>
          <p:nvPr/>
        </p:nvSpPr>
        <p:spPr>
          <a:xfrm>
            <a:off x="548640" y="2258568"/>
            <a:ext cx="4114800" cy="548640"/>
          </a:xfrm>
          <a:prstGeom prst="rect">
            <a:avLst/>
          </a:prstGeom>
          <a:solidFill>
            <a:srgbClr val="EE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548640" y="225856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Mood / sleep / journal tracking</a:t>
            </a:r>
            <a:endParaRPr b="0" i="0" sz="1200" u="none" cap="none" strike="noStrike">
              <a:solidFill>
                <a:schemeClr val="dk1"/>
              </a:solidFill>
              <a:latin typeface="Calibri"/>
              <a:ea typeface="Calibri"/>
              <a:cs typeface="Calibri"/>
              <a:sym typeface="Calibri"/>
            </a:endParaRPr>
          </a:p>
        </p:txBody>
      </p:sp>
      <p:sp>
        <p:nvSpPr>
          <p:cNvPr id="262" name="Google Shape;262;p11"/>
          <p:cNvSpPr/>
          <p:nvPr/>
        </p:nvSpPr>
        <p:spPr>
          <a:xfrm>
            <a:off x="4663440" y="225856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4663440" y="22585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64" name="Google Shape;264;p11"/>
          <p:cNvSpPr/>
          <p:nvPr/>
        </p:nvSpPr>
        <p:spPr>
          <a:xfrm>
            <a:off x="6407658" y="225856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6407658" y="22585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266" name="Google Shape;266;p11"/>
          <p:cNvSpPr/>
          <p:nvPr/>
        </p:nvSpPr>
        <p:spPr>
          <a:xfrm>
            <a:off x="8151876" y="2258568"/>
            <a:ext cx="1744218" cy="548640"/>
          </a:xfrm>
          <a:prstGeom prst="rect">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a:off x="8151876" y="22585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791F"/>
              </a:buClr>
              <a:buSzPts val="1150"/>
              <a:buFont typeface="Calibri"/>
              <a:buNone/>
            </a:pPr>
            <a:r>
              <a:rPr b="0" i="0" lang="en-US" sz="1150" u="none" cap="none" strike="noStrike">
                <a:solidFill>
                  <a:srgbClr val="B8791F"/>
                </a:solidFill>
                <a:latin typeface="Calibri"/>
                <a:ea typeface="Calibri"/>
                <a:cs typeface="Calibri"/>
                <a:sym typeface="Calibri"/>
              </a:rPr>
              <a:t>Partial</a:t>
            </a:r>
            <a:endParaRPr b="0" i="0" sz="1150" u="none" cap="none" strike="noStrike">
              <a:solidFill>
                <a:schemeClr val="dk1"/>
              </a:solidFill>
              <a:latin typeface="Calibri"/>
              <a:ea typeface="Calibri"/>
              <a:cs typeface="Calibri"/>
              <a:sym typeface="Calibri"/>
            </a:endParaRPr>
          </a:p>
        </p:txBody>
      </p:sp>
      <p:sp>
        <p:nvSpPr>
          <p:cNvPr id="268" name="Google Shape;268;p11"/>
          <p:cNvSpPr/>
          <p:nvPr/>
        </p:nvSpPr>
        <p:spPr>
          <a:xfrm>
            <a:off x="9896094" y="2258568"/>
            <a:ext cx="1744218" cy="548640"/>
          </a:xfrm>
          <a:prstGeom prst="rect">
            <a:avLst/>
          </a:prstGeom>
          <a:solidFill>
            <a:srgbClr val="D7E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9896094" y="22585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0"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70" name="Google Shape;270;p11"/>
          <p:cNvSpPr/>
          <p:nvPr/>
        </p:nvSpPr>
        <p:spPr>
          <a:xfrm>
            <a:off x="548640" y="2807208"/>
            <a:ext cx="411480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a:off x="548640" y="280720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AI companion grounded in own data</a:t>
            </a:r>
            <a:endParaRPr b="0" i="0" sz="1200" u="none" cap="none" strike="noStrike">
              <a:solidFill>
                <a:schemeClr val="dk1"/>
              </a:solidFill>
              <a:latin typeface="Calibri"/>
              <a:ea typeface="Calibri"/>
              <a:cs typeface="Calibri"/>
              <a:sym typeface="Calibri"/>
            </a:endParaRPr>
          </a:p>
        </p:txBody>
      </p:sp>
      <p:sp>
        <p:nvSpPr>
          <p:cNvPr id="272" name="Google Shape;272;p11"/>
          <p:cNvSpPr/>
          <p:nvPr/>
        </p:nvSpPr>
        <p:spPr>
          <a:xfrm>
            <a:off x="4663440" y="280720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4663440" y="28072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74" name="Google Shape;274;p11"/>
          <p:cNvSpPr/>
          <p:nvPr/>
        </p:nvSpPr>
        <p:spPr>
          <a:xfrm>
            <a:off x="6407658" y="280720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6407658" y="28072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276" name="Google Shape;276;p11"/>
          <p:cNvSpPr/>
          <p:nvPr/>
        </p:nvSpPr>
        <p:spPr>
          <a:xfrm>
            <a:off x="8151876" y="280720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8151876" y="28072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278" name="Google Shape;278;p11"/>
          <p:cNvSpPr/>
          <p:nvPr/>
        </p:nvSpPr>
        <p:spPr>
          <a:xfrm>
            <a:off x="9896094" y="280720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9896094" y="28072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280" name="Google Shape;280;p11"/>
          <p:cNvSpPr/>
          <p:nvPr/>
        </p:nvSpPr>
        <p:spPr>
          <a:xfrm>
            <a:off x="548640" y="3355848"/>
            <a:ext cx="4114800" cy="548640"/>
          </a:xfrm>
          <a:prstGeom prst="rect">
            <a:avLst/>
          </a:prstGeom>
          <a:solidFill>
            <a:srgbClr val="EE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p:nvPr/>
        </p:nvSpPr>
        <p:spPr>
          <a:xfrm>
            <a:off x="548640" y="335584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Licensed therapist matching &amp; booking</a:t>
            </a:r>
            <a:endParaRPr b="0" i="0" sz="1200" u="none" cap="none" strike="noStrike">
              <a:solidFill>
                <a:schemeClr val="dk1"/>
              </a:solidFill>
              <a:latin typeface="Calibri"/>
              <a:ea typeface="Calibri"/>
              <a:cs typeface="Calibri"/>
              <a:sym typeface="Calibri"/>
            </a:endParaRPr>
          </a:p>
        </p:txBody>
      </p:sp>
      <p:sp>
        <p:nvSpPr>
          <p:cNvPr id="282" name="Google Shape;282;p11"/>
          <p:cNvSpPr/>
          <p:nvPr/>
        </p:nvSpPr>
        <p:spPr>
          <a:xfrm>
            <a:off x="4663440" y="335584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4663440" y="335584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84" name="Google Shape;284;p11"/>
          <p:cNvSpPr/>
          <p:nvPr/>
        </p:nvSpPr>
        <p:spPr>
          <a:xfrm>
            <a:off x="6407658" y="3355848"/>
            <a:ext cx="1744218" cy="548640"/>
          </a:xfrm>
          <a:prstGeom prst="rect">
            <a:avLst/>
          </a:prstGeom>
          <a:solidFill>
            <a:srgbClr val="D7E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6407658" y="335584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0"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86" name="Google Shape;286;p11"/>
          <p:cNvSpPr/>
          <p:nvPr/>
        </p:nvSpPr>
        <p:spPr>
          <a:xfrm>
            <a:off x="8151876" y="3355848"/>
            <a:ext cx="1744218" cy="548640"/>
          </a:xfrm>
          <a:prstGeom prst="rect">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8151876" y="335584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791F"/>
              </a:buClr>
              <a:buSzPts val="1150"/>
              <a:buFont typeface="Calibri"/>
              <a:buNone/>
            </a:pPr>
            <a:r>
              <a:rPr b="0" i="0" lang="en-US" sz="1150" u="none" cap="none" strike="noStrike">
                <a:solidFill>
                  <a:srgbClr val="B8791F"/>
                </a:solidFill>
                <a:latin typeface="Calibri"/>
                <a:ea typeface="Calibri"/>
                <a:cs typeface="Calibri"/>
                <a:sym typeface="Calibri"/>
              </a:rPr>
              <a:t>Limited</a:t>
            </a:r>
            <a:endParaRPr b="0" i="0" sz="1150" u="none" cap="none" strike="noStrike">
              <a:solidFill>
                <a:schemeClr val="dk1"/>
              </a:solidFill>
              <a:latin typeface="Calibri"/>
              <a:ea typeface="Calibri"/>
              <a:cs typeface="Calibri"/>
              <a:sym typeface="Calibri"/>
            </a:endParaRPr>
          </a:p>
        </p:txBody>
      </p:sp>
      <p:sp>
        <p:nvSpPr>
          <p:cNvPr id="288" name="Google Shape;288;p11"/>
          <p:cNvSpPr/>
          <p:nvPr/>
        </p:nvSpPr>
        <p:spPr>
          <a:xfrm>
            <a:off x="9896094" y="335584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9896094" y="335584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290" name="Google Shape;290;p11"/>
          <p:cNvSpPr/>
          <p:nvPr/>
        </p:nvSpPr>
        <p:spPr>
          <a:xfrm>
            <a:off x="548640" y="3904488"/>
            <a:ext cx="411480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548640" y="390448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Video consultation</a:t>
            </a:r>
            <a:endParaRPr b="0" i="0" sz="1200" u="none" cap="none" strike="noStrike">
              <a:solidFill>
                <a:schemeClr val="dk1"/>
              </a:solidFill>
              <a:latin typeface="Calibri"/>
              <a:ea typeface="Calibri"/>
              <a:cs typeface="Calibri"/>
              <a:sym typeface="Calibri"/>
            </a:endParaRPr>
          </a:p>
        </p:txBody>
      </p:sp>
      <p:sp>
        <p:nvSpPr>
          <p:cNvPr id="292" name="Google Shape;292;p11"/>
          <p:cNvSpPr/>
          <p:nvPr/>
        </p:nvSpPr>
        <p:spPr>
          <a:xfrm>
            <a:off x="4663440" y="390448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4663440" y="390448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94" name="Google Shape;294;p11"/>
          <p:cNvSpPr/>
          <p:nvPr/>
        </p:nvSpPr>
        <p:spPr>
          <a:xfrm>
            <a:off x="6407658" y="3904488"/>
            <a:ext cx="1744218" cy="548640"/>
          </a:xfrm>
          <a:prstGeom prst="rect">
            <a:avLst/>
          </a:prstGeom>
          <a:solidFill>
            <a:srgbClr val="D7E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6407658" y="390448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0"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296" name="Google Shape;296;p11"/>
          <p:cNvSpPr/>
          <p:nvPr/>
        </p:nvSpPr>
        <p:spPr>
          <a:xfrm>
            <a:off x="8151876" y="390448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8151876" y="390448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298" name="Google Shape;298;p11"/>
          <p:cNvSpPr/>
          <p:nvPr/>
        </p:nvSpPr>
        <p:spPr>
          <a:xfrm>
            <a:off x="9896094" y="390448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9896094" y="390448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300" name="Google Shape;300;p11"/>
          <p:cNvSpPr/>
          <p:nvPr/>
        </p:nvSpPr>
        <p:spPr>
          <a:xfrm>
            <a:off x="548640" y="4453128"/>
            <a:ext cx="4114800" cy="548640"/>
          </a:xfrm>
          <a:prstGeom prst="rect">
            <a:avLst/>
          </a:prstGeom>
          <a:solidFill>
            <a:srgbClr val="EE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548640" y="445312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Clinical notes for professionals</a:t>
            </a:r>
            <a:endParaRPr b="0" i="0" sz="1200" u="none" cap="none" strike="noStrike">
              <a:solidFill>
                <a:schemeClr val="dk1"/>
              </a:solidFill>
              <a:latin typeface="Calibri"/>
              <a:ea typeface="Calibri"/>
              <a:cs typeface="Calibri"/>
              <a:sym typeface="Calibri"/>
            </a:endParaRPr>
          </a:p>
        </p:txBody>
      </p:sp>
      <p:sp>
        <p:nvSpPr>
          <p:cNvPr id="302" name="Google Shape;302;p11"/>
          <p:cNvSpPr/>
          <p:nvPr/>
        </p:nvSpPr>
        <p:spPr>
          <a:xfrm>
            <a:off x="4663440" y="445312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4663440" y="445312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304" name="Google Shape;304;p11"/>
          <p:cNvSpPr/>
          <p:nvPr/>
        </p:nvSpPr>
        <p:spPr>
          <a:xfrm>
            <a:off x="6407658" y="4453128"/>
            <a:ext cx="1744218" cy="548640"/>
          </a:xfrm>
          <a:prstGeom prst="rect">
            <a:avLst/>
          </a:prstGeom>
          <a:solidFill>
            <a:srgbClr val="D7EA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6407658" y="445312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0"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306" name="Google Shape;306;p11"/>
          <p:cNvSpPr/>
          <p:nvPr/>
        </p:nvSpPr>
        <p:spPr>
          <a:xfrm>
            <a:off x="8151876" y="445312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8151876" y="445312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308" name="Google Shape;308;p11"/>
          <p:cNvSpPr/>
          <p:nvPr/>
        </p:nvSpPr>
        <p:spPr>
          <a:xfrm>
            <a:off x="9896094" y="445312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9896094" y="445312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310" name="Google Shape;310;p11"/>
          <p:cNvSpPr/>
          <p:nvPr/>
        </p:nvSpPr>
        <p:spPr>
          <a:xfrm>
            <a:off x="548640" y="5001768"/>
            <a:ext cx="411480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548640" y="500176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Peer &amp; family connection (with consent)</a:t>
            </a:r>
            <a:endParaRPr b="0" i="0" sz="1200" u="none" cap="none" strike="noStrike">
              <a:solidFill>
                <a:schemeClr val="dk1"/>
              </a:solidFill>
              <a:latin typeface="Calibri"/>
              <a:ea typeface="Calibri"/>
              <a:cs typeface="Calibri"/>
              <a:sym typeface="Calibri"/>
            </a:endParaRPr>
          </a:p>
        </p:txBody>
      </p:sp>
      <p:sp>
        <p:nvSpPr>
          <p:cNvPr id="312" name="Google Shape;312;p11"/>
          <p:cNvSpPr/>
          <p:nvPr/>
        </p:nvSpPr>
        <p:spPr>
          <a:xfrm>
            <a:off x="4663440" y="500176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4663440" y="50017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314" name="Google Shape;314;p11"/>
          <p:cNvSpPr/>
          <p:nvPr/>
        </p:nvSpPr>
        <p:spPr>
          <a:xfrm>
            <a:off x="6407658" y="500176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6407658" y="50017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316" name="Google Shape;316;p11"/>
          <p:cNvSpPr/>
          <p:nvPr/>
        </p:nvSpPr>
        <p:spPr>
          <a:xfrm>
            <a:off x="8151876" y="500176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8151876" y="50017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318" name="Google Shape;318;p11"/>
          <p:cNvSpPr/>
          <p:nvPr/>
        </p:nvSpPr>
        <p:spPr>
          <a:xfrm>
            <a:off x="9896094" y="5001768"/>
            <a:ext cx="1744218" cy="548640"/>
          </a:xfrm>
          <a:prstGeom prst="rect">
            <a:avLst/>
          </a:prstGeom>
          <a:solidFill>
            <a:srgbClr val="F0F1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9896094" y="500176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2726F"/>
              </a:buClr>
              <a:buSzPts val="1150"/>
              <a:buFont typeface="Calibri"/>
              <a:buNone/>
            </a:pPr>
            <a:r>
              <a:rPr b="0" i="0" lang="en-US" sz="1150" u="none" cap="none" strike="noStrike">
                <a:solidFill>
                  <a:srgbClr val="62726F"/>
                </a:solidFill>
                <a:latin typeface="Calibri"/>
                <a:ea typeface="Calibri"/>
                <a:cs typeface="Calibri"/>
                <a:sym typeface="Calibri"/>
              </a:rPr>
              <a:t>No</a:t>
            </a:r>
            <a:endParaRPr b="0" i="0" sz="1150" u="none" cap="none" strike="noStrike">
              <a:solidFill>
                <a:schemeClr val="dk1"/>
              </a:solidFill>
              <a:latin typeface="Calibri"/>
              <a:ea typeface="Calibri"/>
              <a:cs typeface="Calibri"/>
              <a:sym typeface="Calibri"/>
            </a:endParaRPr>
          </a:p>
        </p:txBody>
      </p:sp>
      <p:sp>
        <p:nvSpPr>
          <p:cNvPr id="320" name="Google Shape;320;p11"/>
          <p:cNvSpPr/>
          <p:nvPr/>
        </p:nvSpPr>
        <p:spPr>
          <a:xfrm>
            <a:off x="548640" y="5550408"/>
            <a:ext cx="4114800" cy="548640"/>
          </a:xfrm>
          <a:prstGeom prst="rect">
            <a:avLst/>
          </a:prstGeom>
          <a:solidFill>
            <a:srgbClr val="EEF3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548640" y="5550408"/>
            <a:ext cx="4114800" cy="54864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Granular, permission-based sharing</a:t>
            </a:r>
            <a:endParaRPr b="0" i="0" sz="1200" u="none" cap="none" strike="noStrike">
              <a:solidFill>
                <a:schemeClr val="dk1"/>
              </a:solidFill>
              <a:latin typeface="Calibri"/>
              <a:ea typeface="Calibri"/>
              <a:cs typeface="Calibri"/>
              <a:sym typeface="Calibri"/>
            </a:endParaRPr>
          </a:p>
        </p:txBody>
      </p:sp>
      <p:sp>
        <p:nvSpPr>
          <p:cNvPr id="322" name="Google Shape;322;p11"/>
          <p:cNvSpPr/>
          <p:nvPr/>
        </p:nvSpPr>
        <p:spPr>
          <a:xfrm>
            <a:off x="4663440" y="5550408"/>
            <a:ext cx="1744218" cy="548640"/>
          </a:xfrm>
          <a:prstGeom prst="rect">
            <a:avLst/>
          </a:prstGeom>
          <a:solidFill>
            <a:srgbClr val="BFE0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4663440" y="55504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Yes</a:t>
            </a:r>
            <a:endParaRPr b="0" i="0" sz="1150" u="none" cap="none" strike="noStrike">
              <a:solidFill>
                <a:schemeClr val="dk1"/>
              </a:solidFill>
              <a:latin typeface="Calibri"/>
              <a:ea typeface="Calibri"/>
              <a:cs typeface="Calibri"/>
              <a:sym typeface="Calibri"/>
            </a:endParaRPr>
          </a:p>
        </p:txBody>
      </p:sp>
      <p:sp>
        <p:nvSpPr>
          <p:cNvPr id="324" name="Google Shape;324;p11"/>
          <p:cNvSpPr/>
          <p:nvPr/>
        </p:nvSpPr>
        <p:spPr>
          <a:xfrm>
            <a:off x="6407658" y="5550408"/>
            <a:ext cx="1744218" cy="548640"/>
          </a:xfrm>
          <a:prstGeom prst="rect">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6407658" y="55504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791F"/>
              </a:buClr>
              <a:buSzPts val="1150"/>
              <a:buFont typeface="Calibri"/>
              <a:buNone/>
            </a:pPr>
            <a:r>
              <a:rPr b="0" i="0" lang="en-US" sz="1150" u="none" cap="none" strike="noStrike">
                <a:solidFill>
                  <a:srgbClr val="B8791F"/>
                </a:solidFill>
                <a:latin typeface="Calibri"/>
                <a:ea typeface="Calibri"/>
                <a:cs typeface="Calibri"/>
                <a:sym typeface="Calibri"/>
              </a:rPr>
              <a:t>N/A</a:t>
            </a:r>
            <a:endParaRPr b="0" i="0" sz="1150" u="none" cap="none" strike="noStrike">
              <a:solidFill>
                <a:schemeClr val="dk1"/>
              </a:solidFill>
              <a:latin typeface="Calibri"/>
              <a:ea typeface="Calibri"/>
              <a:cs typeface="Calibri"/>
              <a:sym typeface="Calibri"/>
            </a:endParaRPr>
          </a:p>
        </p:txBody>
      </p:sp>
      <p:sp>
        <p:nvSpPr>
          <p:cNvPr id="326" name="Google Shape;326;p11"/>
          <p:cNvSpPr/>
          <p:nvPr/>
        </p:nvSpPr>
        <p:spPr>
          <a:xfrm>
            <a:off x="8151876" y="5550408"/>
            <a:ext cx="1744218" cy="548640"/>
          </a:xfrm>
          <a:prstGeom prst="rect">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8151876" y="55504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791F"/>
              </a:buClr>
              <a:buSzPts val="1150"/>
              <a:buFont typeface="Calibri"/>
              <a:buNone/>
            </a:pPr>
            <a:r>
              <a:rPr b="0" i="0" lang="en-US" sz="1150" u="none" cap="none" strike="noStrike">
                <a:solidFill>
                  <a:srgbClr val="B8791F"/>
                </a:solidFill>
                <a:latin typeface="Calibri"/>
                <a:ea typeface="Calibri"/>
                <a:cs typeface="Calibri"/>
                <a:sym typeface="Calibri"/>
              </a:rPr>
              <a:t>N/A</a:t>
            </a:r>
            <a:endParaRPr b="0" i="0" sz="1150" u="none" cap="none" strike="noStrike">
              <a:solidFill>
                <a:schemeClr val="dk1"/>
              </a:solidFill>
              <a:latin typeface="Calibri"/>
              <a:ea typeface="Calibri"/>
              <a:cs typeface="Calibri"/>
              <a:sym typeface="Calibri"/>
            </a:endParaRPr>
          </a:p>
        </p:txBody>
      </p:sp>
      <p:sp>
        <p:nvSpPr>
          <p:cNvPr id="328" name="Google Shape;328;p11"/>
          <p:cNvSpPr/>
          <p:nvPr/>
        </p:nvSpPr>
        <p:spPr>
          <a:xfrm>
            <a:off x="9896094" y="5550408"/>
            <a:ext cx="1744218" cy="548640"/>
          </a:xfrm>
          <a:prstGeom prst="rect">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9896094" y="5550408"/>
            <a:ext cx="174421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791F"/>
              </a:buClr>
              <a:buSzPts val="1150"/>
              <a:buFont typeface="Calibri"/>
              <a:buNone/>
            </a:pPr>
            <a:r>
              <a:rPr b="0" i="0" lang="en-US" sz="1150" u="none" cap="none" strike="noStrike">
                <a:solidFill>
                  <a:srgbClr val="B8791F"/>
                </a:solidFill>
                <a:latin typeface="Calibri"/>
                <a:ea typeface="Calibri"/>
                <a:cs typeface="Calibri"/>
                <a:sym typeface="Calibri"/>
              </a:rPr>
              <a:t>N/A</a:t>
            </a:r>
            <a:endParaRPr b="0" i="0" sz="1150" u="none" cap="none" strike="noStrike">
              <a:solidFill>
                <a:schemeClr val="dk1"/>
              </a:solidFill>
              <a:latin typeface="Calibri"/>
              <a:ea typeface="Calibri"/>
              <a:cs typeface="Calibri"/>
              <a:sym typeface="Calibri"/>
            </a:endParaRPr>
          </a:p>
        </p:txBody>
      </p:sp>
      <p:sp>
        <p:nvSpPr>
          <p:cNvPr id="330" name="Google Shape;330;p11"/>
          <p:cNvSpPr/>
          <p:nvPr/>
        </p:nvSpPr>
        <p:spPr>
          <a:xfrm>
            <a:off x="4663440" y="1600200"/>
            <a:ext cx="1744218" cy="4498848"/>
          </a:xfrm>
          <a:prstGeom prst="rect">
            <a:avLst/>
          </a:prstGeom>
          <a:noFill/>
          <a:ln cap="flat" cmpd="sng" w="25400">
            <a:solidFill>
              <a:srgbClr val="124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335" name="Shape 335"/>
        <p:cNvGrpSpPr/>
        <p:nvPr/>
      </p:nvGrpSpPr>
      <p:grpSpPr>
        <a:xfrm>
          <a:off x="0" y="0"/>
          <a:ext cx="0" cy="0"/>
          <a:chOff x="0" y="0"/>
          <a:chExt cx="0" cy="0"/>
        </a:xfrm>
      </p:grpSpPr>
      <p:sp>
        <p:nvSpPr>
          <p:cNvPr id="336" name="Google Shape;336;p12"/>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SYSTEM ARCHITECTURE</a:t>
            </a:r>
            <a:endParaRPr b="0" i="0" sz="1200" u="none" cap="none" strike="noStrike">
              <a:solidFill>
                <a:schemeClr val="dk1"/>
              </a:solidFill>
              <a:latin typeface="Calibri"/>
              <a:ea typeface="Calibri"/>
              <a:cs typeface="Calibri"/>
              <a:sym typeface="Calibri"/>
            </a:endParaRPr>
          </a:p>
        </p:txBody>
      </p:sp>
      <p:sp>
        <p:nvSpPr>
          <p:cNvPr id="337" name="Google Shape;337;p12"/>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Seven Spring Boot microservices</a:t>
            </a:r>
            <a:endParaRPr b="0" i="0" sz="3000" u="none" cap="none" strike="noStrike">
              <a:solidFill>
                <a:schemeClr val="dk1"/>
              </a:solidFill>
              <a:latin typeface="Calibri"/>
              <a:ea typeface="Calibri"/>
              <a:cs typeface="Calibri"/>
              <a:sym typeface="Calibri"/>
            </a:endParaRPr>
          </a:p>
        </p:txBody>
      </p:sp>
      <p:sp>
        <p:nvSpPr>
          <p:cNvPr id="338" name="Google Shape;338;p12"/>
          <p:cNvSpPr/>
          <p:nvPr/>
        </p:nvSpPr>
        <p:spPr>
          <a:xfrm>
            <a:off x="1554480" y="1554480"/>
            <a:ext cx="2743200" cy="566928"/>
          </a:xfrm>
          <a:prstGeom prst="roundRect">
            <a:avLst>
              <a:gd fmla="val 9677" name="adj"/>
            </a:avLst>
          </a:prstGeom>
          <a:solidFill>
            <a:srgbClr val="2E7D7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p:nvPr/>
        </p:nvSpPr>
        <p:spPr>
          <a:xfrm>
            <a:off x="1554480" y="1554480"/>
            <a:ext cx="2743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React Native mobile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teens / patients</a:t>
            </a:r>
            <a:endParaRPr b="0" i="0" sz="1200" u="none" cap="none" strike="noStrike">
              <a:solidFill>
                <a:schemeClr val="dk1"/>
              </a:solidFill>
              <a:latin typeface="Calibri"/>
              <a:ea typeface="Calibri"/>
              <a:cs typeface="Calibri"/>
              <a:sym typeface="Calibri"/>
            </a:endParaRPr>
          </a:p>
        </p:txBody>
      </p:sp>
      <p:sp>
        <p:nvSpPr>
          <p:cNvPr id="340" name="Google Shape;340;p12"/>
          <p:cNvSpPr/>
          <p:nvPr/>
        </p:nvSpPr>
        <p:spPr>
          <a:xfrm>
            <a:off x="7863840" y="1554480"/>
            <a:ext cx="2743200" cy="566928"/>
          </a:xfrm>
          <a:prstGeom prst="roundRect">
            <a:avLst>
              <a:gd fmla="val 9677" name="adj"/>
            </a:avLst>
          </a:prstGeom>
          <a:solidFill>
            <a:srgbClr val="2E7D7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7863840" y="1554480"/>
            <a:ext cx="2743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React web dashboard</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therapists</a:t>
            </a:r>
            <a:endParaRPr b="0" i="0" sz="1200" u="none" cap="none" strike="noStrike">
              <a:solidFill>
                <a:schemeClr val="dk1"/>
              </a:solidFill>
              <a:latin typeface="Calibri"/>
              <a:ea typeface="Calibri"/>
              <a:cs typeface="Calibri"/>
              <a:sym typeface="Calibri"/>
            </a:endParaRPr>
          </a:p>
        </p:txBody>
      </p:sp>
      <p:sp>
        <p:nvSpPr>
          <p:cNvPr id="342" name="Google Shape;342;p12"/>
          <p:cNvSpPr/>
          <p:nvPr/>
        </p:nvSpPr>
        <p:spPr>
          <a:xfrm>
            <a:off x="4480560" y="2286000"/>
            <a:ext cx="3200400" cy="502920"/>
          </a:xfrm>
          <a:prstGeom prst="roundRect">
            <a:avLst>
              <a:gd fmla="val 10909" name="adj"/>
            </a:avLst>
          </a:prstGeom>
          <a:solidFill>
            <a:srgbClr val="12403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
          <p:cNvSpPr/>
          <p:nvPr/>
        </p:nvSpPr>
        <p:spPr>
          <a:xfrm>
            <a:off x="4480560" y="2286000"/>
            <a:ext cx="3200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Caddy  ·  HTTPS / TLS edge</a:t>
            </a:r>
            <a:endParaRPr b="0" i="0" sz="1200" u="none" cap="none" strike="noStrike">
              <a:solidFill>
                <a:schemeClr val="dk1"/>
              </a:solidFill>
              <a:latin typeface="Calibri"/>
              <a:ea typeface="Calibri"/>
              <a:cs typeface="Calibri"/>
              <a:sym typeface="Calibri"/>
            </a:endParaRPr>
          </a:p>
        </p:txBody>
      </p:sp>
      <p:sp>
        <p:nvSpPr>
          <p:cNvPr id="344" name="Google Shape;344;p12"/>
          <p:cNvSpPr/>
          <p:nvPr/>
        </p:nvSpPr>
        <p:spPr>
          <a:xfrm>
            <a:off x="4480560" y="2971800"/>
            <a:ext cx="3200400" cy="502920"/>
          </a:xfrm>
          <a:prstGeom prst="roundRect">
            <a:avLst>
              <a:gd fmla="val 10909" name="adj"/>
            </a:avLst>
          </a:prstGeom>
          <a:solidFill>
            <a:srgbClr val="1C5A54"/>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4480560" y="2971800"/>
            <a:ext cx="32004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Nginx API gateway</a:t>
            </a:r>
            <a:endParaRPr b="0" i="0" sz="1200" u="none" cap="none" strike="noStrike">
              <a:solidFill>
                <a:schemeClr val="dk1"/>
              </a:solidFill>
              <a:latin typeface="Calibri"/>
              <a:ea typeface="Calibri"/>
              <a:cs typeface="Calibri"/>
              <a:sym typeface="Calibri"/>
            </a:endParaRPr>
          </a:p>
        </p:txBody>
      </p:sp>
      <p:sp>
        <p:nvSpPr>
          <p:cNvPr id="346" name="Google Shape;346;p12"/>
          <p:cNvSpPr/>
          <p:nvPr/>
        </p:nvSpPr>
        <p:spPr>
          <a:xfrm>
            <a:off x="548640"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548640"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Auth</a:t>
            </a:r>
            <a:endParaRPr b="0" i="0" sz="1150" u="none" cap="none" strike="noStrike">
              <a:solidFill>
                <a:schemeClr val="dk1"/>
              </a:solidFill>
              <a:latin typeface="Calibri"/>
              <a:ea typeface="Calibri"/>
              <a:cs typeface="Calibri"/>
              <a:sym typeface="Calibri"/>
            </a:endParaRPr>
          </a:p>
        </p:txBody>
      </p:sp>
      <p:sp>
        <p:nvSpPr>
          <p:cNvPr id="348" name="Google Shape;348;p12"/>
          <p:cNvSpPr/>
          <p:nvPr/>
        </p:nvSpPr>
        <p:spPr>
          <a:xfrm>
            <a:off x="2130552"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2130552"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Tracking</a:t>
            </a:r>
            <a:endParaRPr b="0" i="0" sz="1150" u="none" cap="none" strike="noStrike">
              <a:solidFill>
                <a:schemeClr val="dk1"/>
              </a:solidFill>
              <a:latin typeface="Calibri"/>
              <a:ea typeface="Calibri"/>
              <a:cs typeface="Calibri"/>
              <a:sym typeface="Calibri"/>
            </a:endParaRPr>
          </a:p>
        </p:txBody>
      </p:sp>
      <p:sp>
        <p:nvSpPr>
          <p:cNvPr id="350" name="Google Shape;350;p12"/>
          <p:cNvSpPr/>
          <p:nvPr/>
        </p:nvSpPr>
        <p:spPr>
          <a:xfrm>
            <a:off x="3712464"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3712464"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AI</a:t>
            </a:r>
            <a:endParaRPr b="0" i="0" sz="1150" u="none" cap="none" strike="noStrike">
              <a:solidFill>
                <a:schemeClr val="dk1"/>
              </a:solidFill>
              <a:latin typeface="Calibri"/>
              <a:ea typeface="Calibri"/>
              <a:cs typeface="Calibri"/>
              <a:sym typeface="Calibri"/>
            </a:endParaRPr>
          </a:p>
        </p:txBody>
      </p:sp>
      <p:sp>
        <p:nvSpPr>
          <p:cNvPr id="352" name="Google Shape;352;p12"/>
          <p:cNvSpPr/>
          <p:nvPr/>
        </p:nvSpPr>
        <p:spPr>
          <a:xfrm>
            <a:off x="5294376"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5294376"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Dashboard</a:t>
            </a:r>
            <a:endParaRPr b="0" i="0" sz="1150" u="none" cap="none" strike="noStrike">
              <a:solidFill>
                <a:schemeClr val="dk1"/>
              </a:solidFill>
              <a:latin typeface="Calibri"/>
              <a:ea typeface="Calibri"/>
              <a:cs typeface="Calibri"/>
              <a:sym typeface="Calibri"/>
            </a:endParaRPr>
          </a:p>
        </p:txBody>
      </p:sp>
      <p:sp>
        <p:nvSpPr>
          <p:cNvPr id="354" name="Google Shape;354;p12"/>
          <p:cNvSpPr/>
          <p:nvPr/>
        </p:nvSpPr>
        <p:spPr>
          <a:xfrm>
            <a:off x="6876288"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6876288"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Therapist</a:t>
            </a:r>
            <a:endParaRPr b="0" i="0" sz="1150" u="none" cap="none" strike="noStrike">
              <a:solidFill>
                <a:schemeClr val="dk1"/>
              </a:solidFill>
              <a:latin typeface="Calibri"/>
              <a:ea typeface="Calibri"/>
              <a:cs typeface="Calibri"/>
              <a:sym typeface="Calibri"/>
            </a:endParaRPr>
          </a:p>
        </p:txBody>
      </p:sp>
      <p:sp>
        <p:nvSpPr>
          <p:cNvPr id="356" name="Google Shape;356;p12"/>
          <p:cNvSpPr/>
          <p:nvPr/>
        </p:nvSpPr>
        <p:spPr>
          <a:xfrm>
            <a:off x="8458200"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2"/>
          <p:cNvSpPr/>
          <p:nvPr/>
        </p:nvSpPr>
        <p:spPr>
          <a:xfrm>
            <a:off x="8458200"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Social</a:t>
            </a:r>
            <a:endParaRPr b="0" i="0" sz="1150" u="none" cap="none" strike="noStrike">
              <a:solidFill>
                <a:schemeClr val="dk1"/>
              </a:solidFill>
              <a:latin typeface="Calibri"/>
              <a:ea typeface="Calibri"/>
              <a:cs typeface="Calibri"/>
              <a:sym typeface="Calibri"/>
            </a:endParaRPr>
          </a:p>
        </p:txBody>
      </p:sp>
      <p:sp>
        <p:nvSpPr>
          <p:cNvPr id="358" name="Google Shape;358;p12"/>
          <p:cNvSpPr/>
          <p:nvPr/>
        </p:nvSpPr>
        <p:spPr>
          <a:xfrm>
            <a:off x="10040112" y="3794760"/>
            <a:ext cx="1481328" cy="640080"/>
          </a:xfrm>
          <a:prstGeom prst="roundRect">
            <a:avLst>
              <a:gd fmla="val 8571" name="adj"/>
            </a:avLst>
          </a:prstGeom>
          <a:solidFill>
            <a:srgbClr val="FFFFFF"/>
          </a:solidFill>
          <a:ln cap="flat" cmpd="sng" w="15875">
            <a:solidFill>
              <a:srgbClr val="84B59F"/>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2"/>
          <p:cNvSpPr/>
          <p:nvPr/>
        </p:nvSpPr>
        <p:spPr>
          <a:xfrm>
            <a:off x="10040112" y="3794760"/>
            <a:ext cx="148132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150"/>
              <a:buFont typeface="Calibri"/>
              <a:buNone/>
            </a:pPr>
            <a:r>
              <a:rPr b="1" i="0" lang="en-US" sz="1150" u="none" cap="none" strike="noStrike">
                <a:solidFill>
                  <a:srgbClr val="1E2B29"/>
                </a:solidFill>
                <a:latin typeface="Calibri"/>
                <a:ea typeface="Calibri"/>
                <a:cs typeface="Calibri"/>
                <a:sym typeface="Calibri"/>
              </a:rPr>
              <a:t>Notification</a:t>
            </a:r>
            <a:endParaRPr b="0" i="0" sz="1150" u="none" cap="none" strike="noStrike">
              <a:solidFill>
                <a:schemeClr val="dk1"/>
              </a:solidFill>
              <a:latin typeface="Calibri"/>
              <a:ea typeface="Calibri"/>
              <a:cs typeface="Calibri"/>
              <a:sym typeface="Calibri"/>
            </a:endParaRPr>
          </a:p>
        </p:txBody>
      </p:sp>
      <p:sp>
        <p:nvSpPr>
          <p:cNvPr id="360" name="Google Shape;360;p12"/>
          <p:cNvSpPr/>
          <p:nvPr/>
        </p:nvSpPr>
        <p:spPr>
          <a:xfrm>
            <a:off x="548640" y="4709160"/>
            <a:ext cx="5349240" cy="566928"/>
          </a:xfrm>
          <a:prstGeom prst="roundRect">
            <a:avLst>
              <a:gd fmla="val 9677" name="adj"/>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548640" y="4709160"/>
            <a:ext cx="534924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8791F"/>
              </a:buClr>
              <a:buSzPts val="1150"/>
              <a:buFont typeface="Calibri"/>
              <a:buNone/>
            </a:pPr>
            <a:r>
              <a:rPr b="1" i="0" lang="en-US" sz="1150" u="none" cap="none" strike="noStrike">
                <a:solidFill>
                  <a:srgbClr val="B8791F"/>
                </a:solidFill>
                <a:latin typeface="Calibri"/>
                <a:ea typeface="Calibri"/>
                <a:cs typeface="Calibri"/>
                <a:sym typeface="Calibri"/>
              </a:rPr>
              <a:t>RabbitMQ</a:t>
            </a:r>
            <a:r>
              <a:rPr b="0" i="0" lang="en-US" sz="1150" u="none" cap="none" strike="noStrike">
                <a:solidFill>
                  <a:srgbClr val="1E2B29"/>
                </a:solidFill>
                <a:latin typeface="Calibri"/>
                <a:ea typeface="Calibri"/>
                <a:cs typeface="Calibri"/>
                <a:sym typeface="Calibri"/>
              </a:rPr>
              <a:t>  </a:t>
            </a:r>
            <a:r>
              <a:rPr lang="en-US" sz="1150">
                <a:solidFill>
                  <a:srgbClr val="1E2B29"/>
                </a:solidFill>
                <a:latin typeface="Calibri"/>
                <a:ea typeface="Calibri"/>
                <a:cs typeface="Calibri"/>
                <a:sym typeface="Calibri"/>
              </a:rPr>
              <a:t>- </a:t>
            </a:r>
            <a:r>
              <a:rPr b="0" i="0" lang="en-US" sz="1150" u="none" cap="none" strike="noStrike">
                <a:solidFill>
                  <a:srgbClr val="1E2B29"/>
                </a:solidFill>
                <a:latin typeface="Calibri"/>
                <a:ea typeface="Calibri"/>
                <a:cs typeface="Calibri"/>
                <a:sym typeface="Calibri"/>
              </a:rPr>
              <a:t> async events &amp; replication</a:t>
            </a:r>
            <a:endParaRPr b="0" i="0" sz="1150" u="none" cap="none" strike="noStrike">
              <a:solidFill>
                <a:schemeClr val="dk1"/>
              </a:solidFill>
              <a:latin typeface="Calibri"/>
              <a:ea typeface="Calibri"/>
              <a:cs typeface="Calibri"/>
              <a:sym typeface="Calibri"/>
            </a:endParaRPr>
          </a:p>
        </p:txBody>
      </p:sp>
      <p:sp>
        <p:nvSpPr>
          <p:cNvPr id="362" name="Google Shape;362;p12"/>
          <p:cNvSpPr/>
          <p:nvPr/>
        </p:nvSpPr>
        <p:spPr>
          <a:xfrm>
            <a:off x="6291072" y="4709160"/>
            <a:ext cx="5349240" cy="566928"/>
          </a:xfrm>
          <a:prstGeom prst="roundRect">
            <a:avLst>
              <a:gd fmla="val 9677" name="adj"/>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2"/>
          <p:cNvSpPr/>
          <p:nvPr/>
        </p:nvSpPr>
        <p:spPr>
          <a:xfrm>
            <a:off x="6291072" y="4709160"/>
            <a:ext cx="534924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74"/>
              </a:buClr>
              <a:buSzPts val="1150"/>
              <a:buFont typeface="Calibri"/>
              <a:buNone/>
            </a:pPr>
            <a:r>
              <a:rPr b="1" i="0" lang="en-US" sz="1150" u="none" cap="none" strike="noStrike">
                <a:solidFill>
                  <a:srgbClr val="2E7D74"/>
                </a:solidFill>
                <a:latin typeface="Calibri"/>
                <a:ea typeface="Calibri"/>
                <a:cs typeface="Calibri"/>
                <a:sym typeface="Calibri"/>
              </a:rPr>
              <a:t>PostgreSQL per service</a:t>
            </a:r>
            <a:r>
              <a:rPr b="0" i="0" lang="en-US" sz="1150" u="none" cap="none" strike="noStrike">
                <a:solidFill>
                  <a:srgbClr val="1E2B29"/>
                </a:solidFill>
                <a:latin typeface="Calibri"/>
                <a:ea typeface="Calibri"/>
                <a:cs typeface="Calibri"/>
                <a:sym typeface="Calibri"/>
              </a:rPr>
              <a:t>  ·  Redis  ·  MinIO</a:t>
            </a:r>
            <a:endParaRPr b="0" i="0" sz="1150" u="none" cap="none" strike="noStrike">
              <a:solidFill>
                <a:schemeClr val="dk1"/>
              </a:solidFill>
              <a:latin typeface="Calibri"/>
              <a:ea typeface="Calibri"/>
              <a:cs typeface="Calibri"/>
              <a:sym typeface="Calibri"/>
            </a:endParaRPr>
          </a:p>
        </p:txBody>
      </p:sp>
      <p:sp>
        <p:nvSpPr>
          <p:cNvPr id="364" name="Google Shape;364;p12"/>
          <p:cNvSpPr/>
          <p:nvPr/>
        </p:nvSpPr>
        <p:spPr>
          <a:xfrm>
            <a:off x="548640" y="5440680"/>
            <a:ext cx="11091672" cy="658368"/>
          </a:xfrm>
          <a:prstGeom prst="roundRect">
            <a:avLst>
              <a:gd fmla="val 13889" name="adj"/>
            </a:avLst>
          </a:prstGeom>
          <a:solidFill>
            <a:srgbClr val="FFFFFF"/>
          </a:solidFill>
          <a:ln cap="flat" cmpd="sng" w="12700">
            <a:solidFill>
              <a:srgbClr val="E7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822960" y="5440680"/>
            <a:ext cx="106070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50"/>
              <a:buFont typeface="Calibri"/>
              <a:buNone/>
            </a:pPr>
            <a:r>
              <a:rPr b="1" i="0" lang="en-US" sz="1250" u="none" cap="none" strike="noStrike">
                <a:solidFill>
                  <a:srgbClr val="2E7D74"/>
                </a:solidFill>
                <a:latin typeface="Calibri"/>
                <a:ea typeface="Calibri"/>
                <a:cs typeface="Calibri"/>
                <a:sym typeface="Calibri"/>
              </a:rPr>
              <a:t>Why microservices?  </a:t>
            </a:r>
            <a:r>
              <a:rPr b="0" i="0" lang="en-US" sz="1250" u="none" cap="none" strike="noStrike">
                <a:solidFill>
                  <a:srgbClr val="1E2B29"/>
                </a:solidFill>
                <a:latin typeface="Calibri"/>
                <a:ea typeface="Calibri"/>
                <a:cs typeface="Calibri"/>
                <a:sym typeface="Calibri"/>
              </a:rPr>
              <a:t>Independent lifecycles + one functional area per service. We accept the overhead for services that differ in scaling, security, and change-rate.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8F6"/>
        </a:solidFill>
      </p:bgPr>
    </p:bg>
    <p:spTree>
      <p:nvGrpSpPr>
        <p:cNvPr id="370" name="Shape 370"/>
        <p:cNvGrpSpPr/>
        <p:nvPr/>
      </p:nvGrpSpPr>
      <p:grpSpPr>
        <a:xfrm>
          <a:off x="0" y="0"/>
          <a:ext cx="0" cy="0"/>
          <a:chOff x="0" y="0"/>
          <a:chExt cx="0" cy="0"/>
        </a:xfrm>
      </p:grpSpPr>
      <p:sp>
        <p:nvSpPr>
          <p:cNvPr id="371" name="Google Shape;371;p13"/>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DATA &amp; MESSAGING</a:t>
            </a:r>
            <a:endParaRPr b="0" i="0" sz="1200" u="none" cap="none" strike="noStrike">
              <a:solidFill>
                <a:schemeClr val="dk1"/>
              </a:solidFill>
              <a:latin typeface="Calibri"/>
              <a:ea typeface="Calibri"/>
              <a:cs typeface="Calibri"/>
              <a:sym typeface="Calibri"/>
            </a:endParaRPr>
          </a:p>
        </p:txBody>
      </p:sp>
      <p:sp>
        <p:nvSpPr>
          <p:cNvPr id="372" name="Google Shape;372;p13"/>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Database-per-service, kept consistent by events</a:t>
            </a:r>
            <a:endParaRPr b="0" i="0" sz="3000" u="none" cap="none" strike="noStrike">
              <a:solidFill>
                <a:schemeClr val="dk1"/>
              </a:solidFill>
              <a:latin typeface="Calibri"/>
              <a:ea typeface="Calibri"/>
              <a:cs typeface="Calibri"/>
              <a:sym typeface="Calibri"/>
            </a:endParaRPr>
          </a:p>
        </p:txBody>
      </p:sp>
      <p:sp>
        <p:nvSpPr>
          <p:cNvPr id="373" name="Google Shape;373;p13"/>
          <p:cNvSpPr/>
          <p:nvPr/>
        </p:nvSpPr>
        <p:spPr>
          <a:xfrm>
            <a:off x="548640" y="1554480"/>
            <a:ext cx="5285232" cy="4526280"/>
          </a:xfrm>
          <a:prstGeom prst="roundRect">
            <a:avLst>
              <a:gd fmla="val 2424"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822960" y="1810512"/>
            <a:ext cx="731520" cy="731520"/>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5" name="Google Shape;375;p13"/>
          <p:cNvPicPr preferRelativeResize="0"/>
          <p:nvPr/>
        </p:nvPicPr>
        <p:blipFill rotWithShape="1">
          <a:blip r:embed="rId3">
            <a:alphaModFix/>
          </a:blip>
          <a:srcRect b="0" l="0" r="0" t="0"/>
          <a:stretch/>
        </p:blipFill>
        <p:spPr>
          <a:xfrm>
            <a:off x="998525" y="1986077"/>
            <a:ext cx="380390" cy="380390"/>
          </a:xfrm>
          <a:prstGeom prst="rect">
            <a:avLst/>
          </a:prstGeom>
          <a:noFill/>
          <a:ln>
            <a:noFill/>
          </a:ln>
        </p:spPr>
      </p:pic>
      <p:sp>
        <p:nvSpPr>
          <p:cNvPr id="376" name="Google Shape;376;p13"/>
          <p:cNvSpPr/>
          <p:nvPr/>
        </p:nvSpPr>
        <p:spPr>
          <a:xfrm>
            <a:off x="1691640" y="1874520"/>
            <a:ext cx="39319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800"/>
              <a:buFont typeface="Century Schoolbook"/>
              <a:buNone/>
            </a:pPr>
            <a:r>
              <a:rPr b="1" i="0" lang="en-US" sz="1800" u="none" cap="none" strike="noStrike">
                <a:solidFill>
                  <a:srgbClr val="1E2B29"/>
                </a:solidFill>
                <a:latin typeface="Century Schoolbook"/>
                <a:ea typeface="Century Schoolbook"/>
                <a:cs typeface="Century Schoolbook"/>
                <a:sym typeface="Century Schoolbook"/>
              </a:rPr>
              <a:t>Database-per-service</a:t>
            </a:r>
            <a:endParaRPr b="0" i="0" sz="1800" u="none" cap="none" strike="noStrike">
              <a:solidFill>
                <a:schemeClr val="dk1"/>
              </a:solidFill>
              <a:latin typeface="Calibri"/>
              <a:ea typeface="Calibri"/>
              <a:cs typeface="Calibri"/>
              <a:sym typeface="Calibri"/>
            </a:endParaRPr>
          </a:p>
        </p:txBody>
      </p:sp>
      <p:sp>
        <p:nvSpPr>
          <p:cNvPr id="377" name="Google Shape;377;p13"/>
          <p:cNvSpPr/>
          <p:nvPr/>
        </p:nvSpPr>
        <p:spPr>
          <a:xfrm>
            <a:off x="868680" y="2788920"/>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1188720" y="2743200"/>
            <a:ext cx="44805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0" i="0" lang="en-US" sz="1300" u="none" cap="none" strike="noStrike">
                <a:solidFill>
                  <a:srgbClr val="1E2B29"/>
                </a:solidFill>
                <a:latin typeface="Calibri"/>
                <a:ea typeface="Calibri"/>
                <a:cs typeface="Calibri"/>
                <a:sym typeface="Calibri"/>
              </a:rPr>
              <a:t>Each stateful service owns a private PostgreSQL DB </a:t>
            </a:r>
            <a:r>
              <a:rPr lang="en-US" sz="1300">
                <a:solidFill>
                  <a:srgbClr val="1E2B29"/>
                </a:solidFill>
                <a:latin typeface="Calibri"/>
                <a:ea typeface="Calibri"/>
                <a:cs typeface="Calibri"/>
                <a:sym typeface="Calibri"/>
              </a:rPr>
              <a:t>-</a:t>
            </a:r>
            <a:r>
              <a:rPr b="0" i="0" lang="en-US" sz="1300" u="none" cap="none" strike="noStrike">
                <a:solidFill>
                  <a:srgbClr val="1E2B29"/>
                </a:solidFill>
                <a:latin typeface="Calibri"/>
                <a:ea typeface="Calibri"/>
                <a:cs typeface="Calibri"/>
                <a:sym typeface="Calibri"/>
              </a:rPr>
              <a:t> no service reaches into another's schema</a:t>
            </a:r>
            <a:endParaRPr b="0" i="0" sz="1300" u="none" cap="none" strike="noStrike">
              <a:solidFill>
                <a:schemeClr val="dk1"/>
              </a:solidFill>
              <a:latin typeface="Calibri"/>
              <a:ea typeface="Calibri"/>
              <a:cs typeface="Calibri"/>
              <a:sym typeface="Calibri"/>
            </a:endParaRPr>
          </a:p>
        </p:txBody>
      </p:sp>
      <p:sp>
        <p:nvSpPr>
          <p:cNvPr id="379" name="Google Shape;379;p13"/>
          <p:cNvSpPr/>
          <p:nvPr/>
        </p:nvSpPr>
        <p:spPr>
          <a:xfrm>
            <a:off x="868680" y="3593592"/>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1188720" y="3547872"/>
            <a:ext cx="44805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0" i="0" lang="en-US" sz="1300" u="none" cap="none" strike="noStrike">
                <a:solidFill>
                  <a:srgbClr val="1E2B29"/>
                </a:solidFill>
                <a:latin typeface="Calibri"/>
                <a:ea typeface="Calibri"/>
                <a:cs typeface="Calibri"/>
                <a:sym typeface="Calibri"/>
              </a:rPr>
              <a:t>Cross-service data flows via API calls or events, never shared tables</a:t>
            </a:r>
            <a:endParaRPr b="0" i="0" sz="1300" u="none" cap="none" strike="noStrike">
              <a:solidFill>
                <a:schemeClr val="dk1"/>
              </a:solidFill>
              <a:latin typeface="Calibri"/>
              <a:ea typeface="Calibri"/>
              <a:cs typeface="Calibri"/>
              <a:sym typeface="Calibri"/>
            </a:endParaRPr>
          </a:p>
        </p:txBody>
      </p:sp>
      <p:sp>
        <p:nvSpPr>
          <p:cNvPr id="381" name="Google Shape;381;p13"/>
          <p:cNvSpPr/>
          <p:nvPr/>
        </p:nvSpPr>
        <p:spPr>
          <a:xfrm>
            <a:off x="868680" y="4398264"/>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p:nvPr/>
        </p:nvSpPr>
        <p:spPr>
          <a:xfrm>
            <a:off x="1188720" y="4352544"/>
            <a:ext cx="44805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0" i="0" lang="en-US" sz="1300" u="none" cap="none" strike="noStrike">
                <a:solidFill>
                  <a:srgbClr val="1E2B29"/>
                </a:solidFill>
                <a:latin typeface="Calibri"/>
                <a:ea typeface="Calibri"/>
                <a:cs typeface="Calibri"/>
                <a:sym typeface="Calibri"/>
              </a:rPr>
              <a:t>Redis </a:t>
            </a:r>
            <a:r>
              <a:rPr lang="en-US" sz="1300">
                <a:solidFill>
                  <a:srgbClr val="1E2B29"/>
                </a:solidFill>
                <a:latin typeface="Calibri"/>
                <a:ea typeface="Calibri"/>
                <a:cs typeface="Calibri"/>
                <a:sym typeface="Calibri"/>
              </a:rPr>
              <a:t>- </a:t>
            </a:r>
            <a:r>
              <a:rPr b="0" i="0" lang="en-US" sz="1300" u="none" cap="none" strike="noStrike">
                <a:solidFill>
                  <a:srgbClr val="1E2B29"/>
                </a:solidFill>
                <a:latin typeface="Calibri"/>
                <a:ea typeface="Calibri"/>
                <a:cs typeface="Calibri"/>
                <a:sym typeface="Calibri"/>
              </a:rPr>
              <a:t>caching + idempotency keys so retried requests aren't applied twice</a:t>
            </a:r>
            <a:endParaRPr b="0" i="0" sz="1300" u="none" cap="none" strike="noStrike">
              <a:solidFill>
                <a:schemeClr val="dk1"/>
              </a:solidFill>
              <a:latin typeface="Calibri"/>
              <a:ea typeface="Calibri"/>
              <a:cs typeface="Calibri"/>
              <a:sym typeface="Calibri"/>
            </a:endParaRPr>
          </a:p>
        </p:txBody>
      </p:sp>
      <p:sp>
        <p:nvSpPr>
          <p:cNvPr id="383" name="Google Shape;383;p13"/>
          <p:cNvSpPr/>
          <p:nvPr/>
        </p:nvSpPr>
        <p:spPr>
          <a:xfrm>
            <a:off x="868680" y="5202936"/>
            <a:ext cx="182880" cy="182880"/>
          </a:xfrm>
          <a:prstGeom prst="ellipse">
            <a:avLst/>
          </a:prstGeom>
          <a:solidFill>
            <a:srgbClr val="84B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1188720" y="5157216"/>
            <a:ext cx="448056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0" i="0" lang="en-US" sz="1300" u="none" cap="none" strike="noStrike">
                <a:solidFill>
                  <a:srgbClr val="1E2B29"/>
                </a:solidFill>
                <a:latin typeface="Calibri"/>
                <a:ea typeface="Calibri"/>
                <a:cs typeface="Calibri"/>
                <a:sym typeface="Calibri"/>
              </a:rPr>
              <a:t>MinIO (S3-compatible) </a:t>
            </a:r>
            <a:r>
              <a:rPr lang="en-US" sz="1300">
                <a:solidFill>
                  <a:srgbClr val="1E2B29"/>
                </a:solidFill>
                <a:latin typeface="Calibri"/>
                <a:ea typeface="Calibri"/>
                <a:cs typeface="Calibri"/>
                <a:sym typeface="Calibri"/>
              </a:rPr>
              <a:t>- </a:t>
            </a:r>
            <a:r>
              <a:rPr b="0" i="0" lang="en-US" sz="1300" u="none" cap="none" strike="noStrike">
                <a:solidFill>
                  <a:srgbClr val="1E2B29"/>
                </a:solidFill>
                <a:latin typeface="Calibri"/>
                <a:ea typeface="Calibri"/>
                <a:cs typeface="Calibri"/>
                <a:sym typeface="Calibri"/>
              </a:rPr>
              <a:t>profile photos, journal &amp; clinical-note attachments</a:t>
            </a:r>
            <a:endParaRPr b="0" i="0" sz="1300" u="none" cap="none" strike="noStrike">
              <a:solidFill>
                <a:schemeClr val="dk1"/>
              </a:solidFill>
              <a:latin typeface="Calibri"/>
              <a:ea typeface="Calibri"/>
              <a:cs typeface="Calibri"/>
              <a:sym typeface="Calibri"/>
            </a:endParaRPr>
          </a:p>
        </p:txBody>
      </p:sp>
      <p:sp>
        <p:nvSpPr>
          <p:cNvPr id="385" name="Google Shape;385;p13"/>
          <p:cNvSpPr/>
          <p:nvPr/>
        </p:nvSpPr>
        <p:spPr>
          <a:xfrm>
            <a:off x="6355080" y="1554480"/>
            <a:ext cx="5285232" cy="4526280"/>
          </a:xfrm>
          <a:prstGeom prst="roundRect">
            <a:avLst>
              <a:gd fmla="val 2424"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
          <p:cNvSpPr/>
          <p:nvPr/>
        </p:nvSpPr>
        <p:spPr>
          <a:xfrm>
            <a:off x="6629400" y="1810512"/>
            <a:ext cx="731520" cy="7315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7" name="Google Shape;387;p13"/>
          <p:cNvPicPr preferRelativeResize="0"/>
          <p:nvPr/>
        </p:nvPicPr>
        <p:blipFill rotWithShape="1">
          <a:blip r:embed="rId4">
            <a:alphaModFix/>
          </a:blip>
          <a:srcRect b="0" l="0" r="0" t="0"/>
          <a:stretch/>
        </p:blipFill>
        <p:spPr>
          <a:xfrm>
            <a:off x="6804965" y="1986077"/>
            <a:ext cx="380390" cy="380390"/>
          </a:xfrm>
          <a:prstGeom prst="rect">
            <a:avLst/>
          </a:prstGeom>
          <a:noFill/>
          <a:ln>
            <a:noFill/>
          </a:ln>
        </p:spPr>
      </p:pic>
      <p:sp>
        <p:nvSpPr>
          <p:cNvPr id="388" name="Google Shape;388;p13"/>
          <p:cNvSpPr/>
          <p:nvPr/>
        </p:nvSpPr>
        <p:spPr>
          <a:xfrm>
            <a:off x="7498080" y="1874520"/>
            <a:ext cx="39319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entury Schoolbook"/>
              <a:buNone/>
            </a:pPr>
            <a:r>
              <a:rPr b="1" i="0" lang="en-US" sz="1800" u="none" cap="none" strike="noStrike">
                <a:solidFill>
                  <a:srgbClr val="FFFFFF"/>
                </a:solidFill>
                <a:latin typeface="Century Schoolbook"/>
                <a:ea typeface="Century Schoolbook"/>
                <a:cs typeface="Century Schoolbook"/>
                <a:sym typeface="Century Schoolbook"/>
              </a:rPr>
              <a:t>Event-driven via RabbitMQ</a:t>
            </a:r>
            <a:endParaRPr b="0" i="0" sz="1800" u="none" cap="none" strike="noStrike">
              <a:solidFill>
                <a:schemeClr val="dk1"/>
              </a:solidFill>
              <a:latin typeface="Calibri"/>
              <a:ea typeface="Calibri"/>
              <a:cs typeface="Calibri"/>
              <a:sym typeface="Calibri"/>
            </a:endParaRPr>
          </a:p>
        </p:txBody>
      </p:sp>
      <p:sp>
        <p:nvSpPr>
          <p:cNvPr id="389" name="Google Shape;389;p13"/>
          <p:cNvSpPr/>
          <p:nvPr/>
        </p:nvSpPr>
        <p:spPr>
          <a:xfrm>
            <a:off x="6675120" y="2788920"/>
            <a:ext cx="4663440" cy="960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4 replication streams</a:t>
            </a:r>
            <a:br>
              <a:rPr b="1" i="0" lang="en-US" sz="1350" u="none" cap="none" strike="noStrike">
                <a:solidFill>
                  <a:srgbClr val="84B59F"/>
                </a:solidFill>
                <a:latin typeface="Calibri"/>
                <a:ea typeface="Calibri"/>
                <a:cs typeface="Calibri"/>
                <a:sym typeface="Calibri"/>
              </a:rPr>
            </a:br>
            <a:r>
              <a:rPr b="0" i="0" lang="en-US" sz="1200" u="none" cap="none" strike="noStrike">
                <a:solidFill>
                  <a:srgbClr val="DCEBE6"/>
                </a:solidFill>
                <a:latin typeface="Calibri"/>
                <a:ea typeface="Calibri"/>
                <a:cs typeface="Calibri"/>
                <a:sym typeface="Calibri"/>
              </a:rPr>
              <a:t>keep local replicas of therapist profiles, grants &amp; assignments </a:t>
            </a:r>
            <a:r>
              <a:rPr lang="en-US" sz="1200">
                <a:solidFill>
                  <a:srgbClr val="DCEBE6"/>
                </a:solidFill>
                <a:latin typeface="Calibri"/>
                <a:ea typeface="Calibri"/>
                <a:cs typeface="Calibri"/>
                <a:sym typeface="Calibri"/>
              </a:rPr>
              <a:t>- </a:t>
            </a:r>
            <a:r>
              <a:rPr b="0" i="0" lang="en-US" sz="1200" u="none" cap="none" strike="noStrike">
                <a:solidFill>
                  <a:srgbClr val="DCEBE6"/>
                </a:solidFill>
                <a:latin typeface="Calibri"/>
                <a:ea typeface="Calibri"/>
                <a:cs typeface="Calibri"/>
                <a:sym typeface="Calibri"/>
              </a:rPr>
              <a:t>no synchronous bottlenecks</a:t>
            </a:r>
            <a:endParaRPr b="0" i="0" sz="1350" u="none" cap="none" strike="noStrike">
              <a:solidFill>
                <a:schemeClr val="dk1"/>
              </a:solidFill>
              <a:latin typeface="Calibri"/>
              <a:ea typeface="Calibri"/>
              <a:cs typeface="Calibri"/>
              <a:sym typeface="Calibri"/>
            </a:endParaRPr>
          </a:p>
        </p:txBody>
      </p:sp>
      <p:sp>
        <p:nvSpPr>
          <p:cNvPr id="390" name="Google Shape;390;p13"/>
          <p:cNvSpPr/>
          <p:nvPr/>
        </p:nvSpPr>
        <p:spPr>
          <a:xfrm>
            <a:off x="6675120" y="3840480"/>
            <a:ext cx="4663440" cy="960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Resilience discipline</a:t>
            </a:r>
            <a:br>
              <a:rPr b="1" i="0" lang="en-US" sz="1350" u="none" cap="none" strike="noStrike">
                <a:solidFill>
                  <a:srgbClr val="84B59F"/>
                </a:solidFill>
                <a:latin typeface="Calibri"/>
                <a:ea typeface="Calibri"/>
                <a:cs typeface="Calibri"/>
                <a:sym typeface="Calibri"/>
              </a:rPr>
            </a:br>
            <a:r>
              <a:rPr b="0" i="0" lang="en-US" sz="1200" u="none" cap="none" strike="noStrike">
                <a:solidFill>
                  <a:srgbClr val="DCEBE6"/>
                </a:solidFill>
                <a:latin typeface="Calibri"/>
                <a:ea typeface="Calibri"/>
                <a:cs typeface="Calibri"/>
                <a:sym typeface="Calibri"/>
              </a:rPr>
              <a:t>manual acks, dead-letter queues, watermark idempotency, nightly reconciliation</a:t>
            </a:r>
            <a:endParaRPr b="0" i="0" sz="1350" u="none" cap="none" strike="noStrike">
              <a:solidFill>
                <a:schemeClr val="dk1"/>
              </a:solidFill>
              <a:latin typeface="Calibri"/>
              <a:ea typeface="Calibri"/>
              <a:cs typeface="Calibri"/>
              <a:sym typeface="Calibri"/>
            </a:endParaRPr>
          </a:p>
        </p:txBody>
      </p:sp>
      <p:sp>
        <p:nvSpPr>
          <p:cNvPr id="391" name="Google Shape;391;p13"/>
          <p:cNvSpPr/>
          <p:nvPr/>
        </p:nvSpPr>
        <p:spPr>
          <a:xfrm>
            <a:off x="6675120" y="4892040"/>
            <a:ext cx="4663440" cy="960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Domain notifications</a:t>
            </a:r>
            <a:br>
              <a:rPr b="1" i="0" lang="en-US" sz="1350" u="none" cap="none" strike="noStrike">
                <a:solidFill>
                  <a:srgbClr val="84B59F"/>
                </a:solidFill>
                <a:latin typeface="Calibri"/>
                <a:ea typeface="Calibri"/>
                <a:cs typeface="Calibri"/>
                <a:sym typeface="Calibri"/>
              </a:rPr>
            </a:br>
            <a:r>
              <a:rPr b="0" i="0" lang="en-US" sz="1200" u="none" cap="none" strike="noStrike">
                <a:solidFill>
                  <a:srgbClr val="DCEBE6"/>
                </a:solidFill>
                <a:latin typeface="Calibri"/>
                <a:ea typeface="Calibri"/>
                <a:cs typeface="Calibri"/>
                <a:sym typeface="Calibri"/>
              </a:rPr>
              <a:t>appointment.booked fans out to in-app inbox, email &amp; push</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8F6"/>
        </a:solidFill>
      </p:bgPr>
    </p:bg>
    <p:spTree>
      <p:nvGrpSpPr>
        <p:cNvPr id="396" name="Shape 396"/>
        <p:cNvGrpSpPr/>
        <p:nvPr/>
      </p:nvGrpSpPr>
      <p:grpSpPr>
        <a:xfrm>
          <a:off x="0" y="0"/>
          <a:ext cx="0" cy="0"/>
          <a:chOff x="0" y="0"/>
          <a:chExt cx="0" cy="0"/>
        </a:xfrm>
      </p:grpSpPr>
      <p:sp>
        <p:nvSpPr>
          <p:cNvPr id="397" name="Google Shape;397;p14"/>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lang="en-US" sz="1200">
                <a:solidFill>
                  <a:srgbClr val="2E7D74"/>
                </a:solidFill>
                <a:latin typeface="Calibri"/>
                <a:ea typeface="Calibri"/>
                <a:cs typeface="Calibri"/>
                <a:sym typeface="Calibri"/>
              </a:rPr>
              <a:t>PERMISSION-BASED</a:t>
            </a:r>
            <a:endParaRPr b="0" i="0" sz="1200" u="none" cap="none" strike="noStrike">
              <a:solidFill>
                <a:schemeClr val="dk1"/>
              </a:solidFill>
              <a:latin typeface="Calibri"/>
              <a:ea typeface="Calibri"/>
              <a:cs typeface="Calibri"/>
              <a:sym typeface="Calibri"/>
            </a:endParaRPr>
          </a:p>
        </p:txBody>
      </p:sp>
      <p:sp>
        <p:nvSpPr>
          <p:cNvPr id="398" name="Google Shape;398;p14"/>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Permission-based data sharing</a:t>
            </a:r>
            <a:endParaRPr b="0" i="0" sz="3000" u="none" cap="none" strike="noStrike">
              <a:solidFill>
                <a:schemeClr val="dk1"/>
              </a:solidFill>
              <a:latin typeface="Calibri"/>
              <a:ea typeface="Calibri"/>
              <a:cs typeface="Calibri"/>
              <a:sym typeface="Calibri"/>
            </a:endParaRPr>
          </a:p>
        </p:txBody>
      </p:sp>
      <p:sp>
        <p:nvSpPr>
          <p:cNvPr id="399" name="Google Shape;399;p14"/>
          <p:cNvSpPr/>
          <p:nvPr/>
        </p:nvSpPr>
        <p:spPr>
          <a:xfrm>
            <a:off x="548640" y="1463040"/>
            <a:ext cx="11091672" cy="566928"/>
          </a:xfrm>
          <a:prstGeom prst="roundRect">
            <a:avLst>
              <a:gd fmla="val 16129" name="adj"/>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a:off x="822960" y="1463040"/>
            <a:ext cx="1060704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912F"/>
              </a:buClr>
              <a:buSzPts val="1350"/>
              <a:buFont typeface="Calibri"/>
              <a:buNone/>
            </a:pPr>
            <a:r>
              <a:rPr b="1" i="0" lang="en-US" sz="1350" u="none" cap="none" strike="noStrike">
                <a:solidFill>
                  <a:srgbClr val="E0912F"/>
                </a:solidFill>
                <a:latin typeface="Calibri"/>
                <a:ea typeface="Calibri"/>
                <a:cs typeface="Calibri"/>
                <a:sym typeface="Calibri"/>
              </a:rPr>
              <a:t>Nothing shared by default. </a:t>
            </a:r>
            <a:r>
              <a:rPr b="0" i="0" lang="en-US" sz="1350" u="none" cap="none" strike="noStrike">
                <a:solidFill>
                  <a:srgbClr val="1E2B29"/>
                </a:solidFill>
                <a:latin typeface="Calibri"/>
                <a:ea typeface="Calibri"/>
                <a:cs typeface="Calibri"/>
                <a:sym typeface="Calibri"/>
              </a:rPr>
              <a:t>Mood, sleep, food, journal, step &amp; breathing records are private until the user explicitly grants access.</a:t>
            </a:r>
            <a:endParaRPr b="0" i="0" sz="1350" u="none" cap="none" strike="noStrike">
              <a:solidFill>
                <a:schemeClr val="dk1"/>
              </a:solidFill>
              <a:latin typeface="Calibri"/>
              <a:ea typeface="Calibri"/>
              <a:cs typeface="Calibri"/>
              <a:sym typeface="Calibri"/>
            </a:endParaRPr>
          </a:p>
        </p:txBody>
      </p:sp>
      <p:sp>
        <p:nvSpPr>
          <p:cNvPr id="401" name="Google Shape;401;p14"/>
          <p:cNvSpPr/>
          <p:nvPr/>
        </p:nvSpPr>
        <p:spPr>
          <a:xfrm>
            <a:off x="548640" y="2240280"/>
            <a:ext cx="3566160" cy="2331720"/>
          </a:xfrm>
          <a:prstGeom prst="roundRect">
            <a:avLst>
              <a:gd fmla="val 3922"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822960" y="2514600"/>
            <a:ext cx="731520" cy="7315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3" name="Google Shape;403;p14"/>
          <p:cNvPicPr preferRelativeResize="0"/>
          <p:nvPr/>
        </p:nvPicPr>
        <p:blipFill rotWithShape="1">
          <a:blip r:embed="rId3">
            <a:alphaModFix/>
          </a:blip>
          <a:srcRect b="0" l="0" r="0" t="0"/>
          <a:stretch/>
        </p:blipFill>
        <p:spPr>
          <a:xfrm>
            <a:off x="998525" y="2690165"/>
            <a:ext cx="380390" cy="380390"/>
          </a:xfrm>
          <a:prstGeom prst="rect">
            <a:avLst/>
          </a:prstGeom>
          <a:noFill/>
          <a:ln>
            <a:noFill/>
          </a:ln>
        </p:spPr>
      </p:pic>
      <p:sp>
        <p:nvSpPr>
          <p:cNvPr id="404" name="Google Shape;404;p14"/>
          <p:cNvSpPr/>
          <p:nvPr/>
        </p:nvSpPr>
        <p:spPr>
          <a:xfrm>
            <a:off x="1645920" y="260604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entury Schoolbook"/>
              <a:buNone/>
            </a:pPr>
            <a:r>
              <a:rPr b="1" i="0" lang="en-US" sz="1700" u="none" cap="none" strike="noStrike">
                <a:solidFill>
                  <a:srgbClr val="FFFFFF"/>
                </a:solidFill>
                <a:latin typeface="Century Schoolbook"/>
                <a:ea typeface="Century Schoolbook"/>
                <a:cs typeface="Century Schoolbook"/>
                <a:sym typeface="Century Schoolbook"/>
              </a:rPr>
              <a:t>1 · Consent</a:t>
            </a:r>
            <a:endParaRPr b="0" i="0" sz="1700" u="none" cap="none" strike="noStrike">
              <a:solidFill>
                <a:schemeClr val="dk1"/>
              </a:solidFill>
              <a:latin typeface="Calibri"/>
              <a:ea typeface="Calibri"/>
              <a:cs typeface="Calibri"/>
              <a:sym typeface="Calibri"/>
            </a:endParaRPr>
          </a:p>
        </p:txBody>
      </p:sp>
      <p:sp>
        <p:nvSpPr>
          <p:cNvPr id="405" name="Google Shape;405;p14"/>
          <p:cNvSpPr/>
          <p:nvPr/>
        </p:nvSpPr>
        <p:spPr>
          <a:xfrm>
            <a:off x="822960" y="3383280"/>
            <a:ext cx="3063240" cy="1051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BE6"/>
              </a:buClr>
              <a:buSzPts val="1250"/>
              <a:buFont typeface="Calibri"/>
              <a:buNone/>
            </a:pPr>
            <a:r>
              <a:rPr b="0" i="0" lang="en-US" sz="1250" u="none" cap="none" strike="noStrike">
                <a:solidFill>
                  <a:srgbClr val="DCEBE6"/>
                </a:solidFill>
                <a:latin typeface="Calibri"/>
                <a:ea typeface="Calibri"/>
                <a:cs typeface="Calibri"/>
                <a:sym typeface="Calibri"/>
              </a:rPr>
              <a:t>User grants a scoped set of tracking categories. Recorded in Auth, replicated to Tracking.</a:t>
            </a:r>
            <a:endParaRPr b="0" i="0" sz="1250" u="none" cap="none" strike="noStrike">
              <a:solidFill>
                <a:schemeClr val="dk1"/>
              </a:solidFill>
              <a:latin typeface="Calibri"/>
              <a:ea typeface="Calibri"/>
              <a:cs typeface="Calibri"/>
              <a:sym typeface="Calibri"/>
            </a:endParaRPr>
          </a:p>
        </p:txBody>
      </p:sp>
      <p:sp>
        <p:nvSpPr>
          <p:cNvPr id="406" name="Google Shape;406;p14"/>
          <p:cNvSpPr/>
          <p:nvPr/>
        </p:nvSpPr>
        <p:spPr>
          <a:xfrm>
            <a:off x="4096512" y="3063240"/>
            <a:ext cx="237744"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4B59F"/>
              </a:buClr>
              <a:buSzPts val="2600"/>
              <a:buFont typeface="Calibri"/>
              <a:buNone/>
            </a:pPr>
            <a:r>
              <a:rPr b="1" i="0" lang="en-US" sz="2600" u="none" cap="none" strike="noStrike">
                <a:solidFill>
                  <a:srgbClr val="84B59F"/>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07" name="Google Shape;407;p14"/>
          <p:cNvSpPr/>
          <p:nvPr/>
        </p:nvSpPr>
        <p:spPr>
          <a:xfrm>
            <a:off x="4315968" y="2240280"/>
            <a:ext cx="3566160" cy="2331720"/>
          </a:xfrm>
          <a:prstGeom prst="roundRect">
            <a:avLst>
              <a:gd fmla="val 3922"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4590288" y="2514600"/>
            <a:ext cx="731520" cy="7315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9" name="Google Shape;409;p14"/>
          <p:cNvPicPr preferRelativeResize="0"/>
          <p:nvPr/>
        </p:nvPicPr>
        <p:blipFill rotWithShape="1">
          <a:blip r:embed="rId4">
            <a:alphaModFix/>
          </a:blip>
          <a:srcRect b="0" l="0" r="0" t="0"/>
          <a:stretch/>
        </p:blipFill>
        <p:spPr>
          <a:xfrm>
            <a:off x="4765853" y="2690165"/>
            <a:ext cx="380390" cy="380390"/>
          </a:xfrm>
          <a:prstGeom prst="rect">
            <a:avLst/>
          </a:prstGeom>
          <a:noFill/>
          <a:ln>
            <a:noFill/>
          </a:ln>
        </p:spPr>
      </p:pic>
      <p:sp>
        <p:nvSpPr>
          <p:cNvPr id="410" name="Google Shape;410;p14"/>
          <p:cNvSpPr/>
          <p:nvPr/>
        </p:nvSpPr>
        <p:spPr>
          <a:xfrm>
            <a:off x="5413248" y="260604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entury Schoolbook"/>
              <a:buNone/>
            </a:pPr>
            <a:r>
              <a:rPr b="1" i="0" lang="en-US" sz="1700" u="none" cap="none" strike="noStrike">
                <a:solidFill>
                  <a:srgbClr val="FFFFFF"/>
                </a:solidFill>
                <a:latin typeface="Century Schoolbook"/>
                <a:ea typeface="Century Schoolbook"/>
                <a:cs typeface="Century Schoolbook"/>
                <a:sym typeface="Century Schoolbook"/>
              </a:rPr>
              <a:t>2 · Checked read</a:t>
            </a:r>
            <a:endParaRPr b="0" i="0" sz="1700" u="none" cap="none" strike="noStrike">
              <a:solidFill>
                <a:schemeClr val="dk1"/>
              </a:solidFill>
              <a:latin typeface="Calibri"/>
              <a:ea typeface="Calibri"/>
              <a:cs typeface="Calibri"/>
              <a:sym typeface="Calibri"/>
            </a:endParaRPr>
          </a:p>
        </p:txBody>
      </p:sp>
      <p:sp>
        <p:nvSpPr>
          <p:cNvPr id="411" name="Google Shape;411;p14"/>
          <p:cNvSpPr/>
          <p:nvPr/>
        </p:nvSpPr>
        <p:spPr>
          <a:xfrm>
            <a:off x="4590288" y="3383280"/>
            <a:ext cx="3063240" cy="1051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BE6"/>
              </a:buClr>
              <a:buSzPts val="1250"/>
              <a:buFont typeface="Calibri"/>
              <a:buNone/>
            </a:pPr>
            <a:r>
              <a:rPr b="0" i="0" lang="en-US" sz="1250" u="none" cap="none" strike="noStrike">
                <a:solidFill>
                  <a:srgbClr val="DCEBE6"/>
                </a:solidFill>
                <a:latin typeface="Calibri"/>
                <a:ea typeface="Calibri"/>
                <a:cs typeface="Calibri"/>
                <a:sym typeface="Calibri"/>
              </a:rPr>
              <a:t>Every read is gated at the Tracking boundary on an active, unexpired, in-scope grant</a:t>
            </a:r>
            <a:r>
              <a:rPr lang="en-US" sz="1250">
                <a:solidFill>
                  <a:srgbClr val="DCEBE6"/>
                </a:solidFill>
                <a:latin typeface="Calibri"/>
                <a:ea typeface="Calibri"/>
                <a:cs typeface="Calibri"/>
                <a:sym typeface="Calibri"/>
              </a:rPr>
              <a:t>  - </a:t>
            </a:r>
            <a:r>
              <a:rPr b="0" i="0" lang="en-US" sz="1250" u="none" cap="none" strike="noStrike">
                <a:solidFill>
                  <a:srgbClr val="DCEBE6"/>
                </a:solidFill>
                <a:latin typeface="Calibri"/>
                <a:ea typeface="Calibri"/>
                <a:cs typeface="Calibri"/>
                <a:sym typeface="Calibri"/>
              </a:rPr>
              <a:t>server-side.</a:t>
            </a:r>
            <a:endParaRPr b="0" i="0" sz="1250" u="none" cap="none" strike="noStrike">
              <a:solidFill>
                <a:schemeClr val="dk1"/>
              </a:solidFill>
              <a:latin typeface="Calibri"/>
              <a:ea typeface="Calibri"/>
              <a:cs typeface="Calibri"/>
              <a:sym typeface="Calibri"/>
            </a:endParaRPr>
          </a:p>
        </p:txBody>
      </p:sp>
      <p:sp>
        <p:nvSpPr>
          <p:cNvPr id="412" name="Google Shape;412;p14"/>
          <p:cNvSpPr/>
          <p:nvPr/>
        </p:nvSpPr>
        <p:spPr>
          <a:xfrm>
            <a:off x="7863840" y="3063240"/>
            <a:ext cx="237744"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4B59F"/>
              </a:buClr>
              <a:buSzPts val="2600"/>
              <a:buFont typeface="Calibri"/>
              <a:buNone/>
            </a:pPr>
            <a:r>
              <a:rPr b="1" i="0" lang="en-US" sz="2600" u="none" cap="none" strike="noStrike">
                <a:solidFill>
                  <a:srgbClr val="84B59F"/>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13" name="Google Shape;413;p14"/>
          <p:cNvSpPr/>
          <p:nvPr/>
        </p:nvSpPr>
        <p:spPr>
          <a:xfrm>
            <a:off x="8083296" y="2240280"/>
            <a:ext cx="3566160" cy="2331720"/>
          </a:xfrm>
          <a:prstGeom prst="roundRect">
            <a:avLst>
              <a:gd fmla="val 3922"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4"/>
          <p:cNvSpPr/>
          <p:nvPr/>
        </p:nvSpPr>
        <p:spPr>
          <a:xfrm>
            <a:off x="8357616" y="2514600"/>
            <a:ext cx="731520" cy="7315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5" name="Google Shape;415;p14"/>
          <p:cNvPicPr preferRelativeResize="0"/>
          <p:nvPr/>
        </p:nvPicPr>
        <p:blipFill rotWithShape="1">
          <a:blip r:embed="rId5">
            <a:alphaModFix/>
          </a:blip>
          <a:srcRect b="0" l="0" r="0" t="0"/>
          <a:stretch/>
        </p:blipFill>
        <p:spPr>
          <a:xfrm>
            <a:off x="8533181" y="2690165"/>
            <a:ext cx="380390" cy="380390"/>
          </a:xfrm>
          <a:prstGeom prst="rect">
            <a:avLst/>
          </a:prstGeom>
          <a:noFill/>
          <a:ln>
            <a:noFill/>
          </a:ln>
        </p:spPr>
      </p:pic>
      <p:sp>
        <p:nvSpPr>
          <p:cNvPr id="416" name="Google Shape;416;p14"/>
          <p:cNvSpPr/>
          <p:nvPr/>
        </p:nvSpPr>
        <p:spPr>
          <a:xfrm>
            <a:off x="9180576" y="2606040"/>
            <a:ext cx="237744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entury Schoolbook"/>
              <a:buNone/>
            </a:pPr>
            <a:r>
              <a:rPr b="1" i="0" lang="en-US" sz="1700" u="none" cap="none" strike="noStrike">
                <a:solidFill>
                  <a:srgbClr val="FFFFFF"/>
                </a:solidFill>
                <a:latin typeface="Century Schoolbook"/>
                <a:ea typeface="Century Schoolbook"/>
                <a:cs typeface="Century Schoolbook"/>
                <a:sym typeface="Century Schoolbook"/>
              </a:rPr>
              <a:t>3 · Revocation</a:t>
            </a:r>
            <a:endParaRPr b="0" i="0" sz="1700" u="none" cap="none" strike="noStrike">
              <a:solidFill>
                <a:schemeClr val="dk1"/>
              </a:solidFill>
              <a:latin typeface="Calibri"/>
              <a:ea typeface="Calibri"/>
              <a:cs typeface="Calibri"/>
              <a:sym typeface="Calibri"/>
            </a:endParaRPr>
          </a:p>
        </p:txBody>
      </p:sp>
      <p:sp>
        <p:nvSpPr>
          <p:cNvPr id="417" name="Google Shape;417;p14"/>
          <p:cNvSpPr/>
          <p:nvPr/>
        </p:nvSpPr>
        <p:spPr>
          <a:xfrm>
            <a:off x="8357616" y="3383280"/>
            <a:ext cx="3063240" cy="10515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BE6"/>
              </a:buClr>
              <a:buSzPts val="1250"/>
              <a:buFont typeface="Calibri"/>
              <a:buNone/>
            </a:pPr>
            <a:r>
              <a:rPr b="0" i="0" lang="en-US" sz="1250" u="none" cap="none" strike="noStrike">
                <a:solidFill>
                  <a:srgbClr val="DCEBE6"/>
                </a:solidFill>
                <a:latin typeface="Calibri"/>
                <a:ea typeface="Calibri"/>
                <a:cs typeface="Calibri"/>
                <a:sym typeface="Calibri"/>
              </a:rPr>
              <a:t>Revocable any time; 30-day expiry. auth.grant.revoked removes it from the replica.</a:t>
            </a:r>
            <a:endParaRPr b="0" i="0" sz="1250" u="none" cap="none" strike="noStrike">
              <a:solidFill>
                <a:schemeClr val="dk1"/>
              </a:solidFill>
              <a:latin typeface="Calibri"/>
              <a:ea typeface="Calibri"/>
              <a:cs typeface="Calibri"/>
              <a:sym typeface="Calibri"/>
            </a:endParaRPr>
          </a:p>
        </p:txBody>
      </p:sp>
      <p:sp>
        <p:nvSpPr>
          <p:cNvPr id="418" name="Google Shape;418;p14"/>
          <p:cNvSpPr/>
          <p:nvPr/>
        </p:nvSpPr>
        <p:spPr>
          <a:xfrm>
            <a:off x="548640" y="4800600"/>
            <a:ext cx="11091672" cy="1298448"/>
          </a:xfrm>
          <a:prstGeom prst="roundRect">
            <a:avLst>
              <a:gd fmla="val 8451" name="adj"/>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868680" y="5074920"/>
            <a:ext cx="749808" cy="749808"/>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0" name="Google Shape;420;p14"/>
          <p:cNvPicPr preferRelativeResize="0"/>
          <p:nvPr/>
        </p:nvPicPr>
        <p:blipFill rotWithShape="1">
          <a:blip r:embed="rId6">
            <a:alphaModFix/>
          </a:blip>
          <a:srcRect b="0" l="0" r="0" t="0"/>
          <a:stretch/>
        </p:blipFill>
        <p:spPr>
          <a:xfrm>
            <a:off x="1048634" y="5254874"/>
            <a:ext cx="389900" cy="389900"/>
          </a:xfrm>
          <a:prstGeom prst="rect">
            <a:avLst/>
          </a:prstGeom>
          <a:noFill/>
          <a:ln>
            <a:noFill/>
          </a:ln>
        </p:spPr>
      </p:pic>
      <p:sp>
        <p:nvSpPr>
          <p:cNvPr id="421" name="Google Shape;421;p14"/>
          <p:cNvSpPr/>
          <p:nvPr/>
        </p:nvSpPr>
        <p:spPr>
          <a:xfrm>
            <a:off x="1828800" y="4892040"/>
            <a:ext cx="96012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500"/>
              <a:buFont typeface="Calibri"/>
              <a:buNone/>
            </a:pPr>
            <a:r>
              <a:rPr b="1" i="0" lang="en-US" sz="1500" u="none" cap="none" strike="noStrike">
                <a:solidFill>
                  <a:srgbClr val="2E7D74"/>
                </a:solidFill>
                <a:latin typeface="Calibri"/>
                <a:ea typeface="Calibri"/>
                <a:cs typeface="Calibri"/>
                <a:sym typeface="Calibri"/>
              </a:rPr>
              <a:t>One mechanism, every audience.</a:t>
            </a:r>
            <a:br>
              <a:rPr b="1" i="0" lang="en-US" sz="1500" u="none" cap="none" strike="noStrike">
                <a:solidFill>
                  <a:srgbClr val="2E7D74"/>
                </a:solidFill>
                <a:latin typeface="Calibri"/>
                <a:ea typeface="Calibri"/>
                <a:cs typeface="Calibri"/>
                <a:sym typeface="Calibri"/>
              </a:rPr>
            </a:br>
            <a:r>
              <a:rPr b="0" i="0" lang="en-US" sz="1300" u="none" cap="none" strike="noStrike">
                <a:solidFill>
                  <a:srgbClr val="1E2B29"/>
                </a:solidFill>
                <a:latin typeface="Calibri"/>
                <a:ea typeface="Calibri"/>
                <a:cs typeface="Calibri"/>
                <a:sym typeface="Calibri"/>
              </a:rPr>
              <a:t>A therapist, a parent, a friend, and the AI companion are all grantees enforced by identical code. Enforcement lives server-side, so a compromised client cannot bypass 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8F6"/>
        </a:solidFill>
      </p:bgPr>
    </p:bg>
    <p:spTree>
      <p:nvGrpSpPr>
        <p:cNvPr id="426" name="Shape 426"/>
        <p:cNvGrpSpPr/>
        <p:nvPr/>
      </p:nvGrpSpPr>
      <p:grpSpPr>
        <a:xfrm>
          <a:off x="0" y="0"/>
          <a:ext cx="0" cy="0"/>
          <a:chOff x="0" y="0"/>
          <a:chExt cx="0" cy="0"/>
        </a:xfrm>
      </p:grpSpPr>
      <p:sp>
        <p:nvSpPr>
          <p:cNvPr id="427" name="Google Shape;427;p15"/>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THE AI COMPANION</a:t>
            </a:r>
            <a:endParaRPr b="0" i="0" sz="1200" u="none" cap="none" strike="noStrike">
              <a:solidFill>
                <a:schemeClr val="dk1"/>
              </a:solidFill>
              <a:latin typeface="Calibri"/>
              <a:ea typeface="Calibri"/>
              <a:cs typeface="Calibri"/>
              <a:sym typeface="Calibri"/>
            </a:endParaRPr>
          </a:p>
        </p:txBody>
      </p:sp>
      <p:sp>
        <p:nvSpPr>
          <p:cNvPr id="428" name="Google Shape;428;p15"/>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Grounded in the user's own data </a:t>
            </a:r>
            <a:r>
              <a:rPr b="1" lang="en-US" sz="3000">
                <a:solidFill>
                  <a:srgbClr val="1E2B29"/>
                </a:solidFill>
                <a:latin typeface="Century Schoolbook"/>
                <a:ea typeface="Century Schoolbook"/>
                <a:cs typeface="Century Schoolbook"/>
                <a:sym typeface="Century Schoolbook"/>
              </a:rPr>
              <a:t>- </a:t>
            </a:r>
            <a:r>
              <a:rPr b="1" i="0" lang="en-US" sz="3000" u="none" cap="none" strike="noStrike">
                <a:solidFill>
                  <a:srgbClr val="1E2B29"/>
                </a:solidFill>
                <a:latin typeface="Century Schoolbook"/>
                <a:ea typeface="Century Schoolbook"/>
                <a:cs typeface="Century Schoolbook"/>
                <a:sym typeface="Century Schoolbook"/>
              </a:rPr>
              <a:t>safely</a:t>
            </a:r>
            <a:endParaRPr b="0" i="0" sz="3000" u="none" cap="none" strike="noStrike">
              <a:solidFill>
                <a:schemeClr val="dk1"/>
              </a:solidFill>
              <a:latin typeface="Calibri"/>
              <a:ea typeface="Calibri"/>
              <a:cs typeface="Calibri"/>
              <a:sym typeface="Calibri"/>
            </a:endParaRPr>
          </a:p>
        </p:txBody>
      </p:sp>
      <p:sp>
        <p:nvSpPr>
          <p:cNvPr id="429" name="Google Shape;429;p15"/>
          <p:cNvSpPr/>
          <p:nvPr/>
        </p:nvSpPr>
        <p:spPr>
          <a:xfrm>
            <a:off x="548640" y="1554480"/>
            <a:ext cx="5486400" cy="3063240"/>
          </a:xfrm>
          <a:prstGeom prst="roundRect">
            <a:avLst>
              <a:gd fmla="val 3582"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822960" y="1810512"/>
            <a:ext cx="713232" cy="713232"/>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1" name="Google Shape;431;p15"/>
          <p:cNvPicPr preferRelativeResize="0"/>
          <p:nvPr/>
        </p:nvPicPr>
        <p:blipFill rotWithShape="1">
          <a:blip r:embed="rId3">
            <a:alphaModFix/>
          </a:blip>
          <a:srcRect b="0" l="0" r="0" t="0"/>
          <a:stretch/>
        </p:blipFill>
        <p:spPr>
          <a:xfrm>
            <a:off x="994136" y="1981688"/>
            <a:ext cx="370881" cy="370881"/>
          </a:xfrm>
          <a:prstGeom prst="rect">
            <a:avLst/>
          </a:prstGeom>
          <a:noFill/>
          <a:ln>
            <a:noFill/>
          </a:ln>
        </p:spPr>
      </p:pic>
      <p:sp>
        <p:nvSpPr>
          <p:cNvPr id="432" name="Google Shape;432;p15"/>
          <p:cNvSpPr/>
          <p:nvPr/>
        </p:nvSpPr>
        <p:spPr>
          <a:xfrm>
            <a:off x="1664208" y="1847088"/>
            <a:ext cx="4114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700"/>
              <a:buFont typeface="Century Schoolbook"/>
              <a:buNone/>
            </a:pPr>
            <a:r>
              <a:rPr b="1" i="0" lang="en-US" sz="1700" u="none" cap="none" strike="noStrike">
                <a:solidFill>
                  <a:srgbClr val="1E2B29"/>
                </a:solidFill>
                <a:latin typeface="Century Schoolbook"/>
                <a:ea typeface="Century Schoolbook"/>
                <a:cs typeface="Century Schoolbook"/>
                <a:sym typeface="Century Schoolbook"/>
              </a:rPr>
              <a:t>How a reply is grounded</a:t>
            </a:r>
            <a:endParaRPr b="0" i="0" sz="1700" u="none" cap="none" strike="noStrike">
              <a:solidFill>
                <a:schemeClr val="dk1"/>
              </a:solidFill>
              <a:latin typeface="Calibri"/>
              <a:ea typeface="Calibri"/>
              <a:cs typeface="Calibri"/>
              <a:sym typeface="Calibri"/>
            </a:endParaRPr>
          </a:p>
        </p:txBody>
      </p:sp>
      <p:sp>
        <p:nvSpPr>
          <p:cNvPr id="433" name="Google Shape;433;p15"/>
          <p:cNvSpPr/>
          <p:nvPr/>
        </p:nvSpPr>
        <p:spPr>
          <a:xfrm>
            <a:off x="868680" y="2651760"/>
            <a:ext cx="274320" cy="2743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868680" y="265176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435" name="Google Shape;435;p15"/>
          <p:cNvSpPr/>
          <p:nvPr/>
        </p:nvSpPr>
        <p:spPr>
          <a:xfrm>
            <a:off x="1261872" y="2606040"/>
            <a:ext cx="45720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AI service retrieves recent tracking summary from Tracking</a:t>
            </a:r>
            <a:endParaRPr b="0" i="0" sz="1200" u="none" cap="none" strike="noStrike">
              <a:solidFill>
                <a:schemeClr val="dk1"/>
              </a:solidFill>
              <a:latin typeface="Calibri"/>
              <a:ea typeface="Calibri"/>
              <a:cs typeface="Calibri"/>
              <a:sym typeface="Calibri"/>
            </a:endParaRPr>
          </a:p>
        </p:txBody>
      </p:sp>
      <p:sp>
        <p:nvSpPr>
          <p:cNvPr id="436" name="Google Shape;436;p15"/>
          <p:cNvSpPr/>
          <p:nvPr/>
        </p:nvSpPr>
        <p:spPr>
          <a:xfrm>
            <a:off x="868680" y="3127248"/>
            <a:ext cx="274320" cy="2743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868680" y="3127248"/>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38" name="Google Shape;438;p15"/>
          <p:cNvSpPr/>
          <p:nvPr/>
        </p:nvSpPr>
        <p:spPr>
          <a:xfrm>
            <a:off x="1261872" y="3081528"/>
            <a:ext cx="45720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Builds prompt: persona + context + history + message</a:t>
            </a:r>
            <a:endParaRPr b="0" i="0" sz="1200" u="none" cap="none" strike="noStrike">
              <a:solidFill>
                <a:schemeClr val="dk1"/>
              </a:solidFill>
              <a:latin typeface="Calibri"/>
              <a:ea typeface="Calibri"/>
              <a:cs typeface="Calibri"/>
              <a:sym typeface="Calibri"/>
            </a:endParaRPr>
          </a:p>
        </p:txBody>
      </p:sp>
      <p:sp>
        <p:nvSpPr>
          <p:cNvPr id="439" name="Google Shape;439;p15"/>
          <p:cNvSpPr/>
          <p:nvPr/>
        </p:nvSpPr>
        <p:spPr>
          <a:xfrm>
            <a:off x="868680" y="3602736"/>
            <a:ext cx="274320" cy="2743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p:nvPr/>
        </p:nvSpPr>
        <p:spPr>
          <a:xfrm>
            <a:off x="868680" y="3602736"/>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41" name="Google Shape;441;p15"/>
          <p:cNvSpPr/>
          <p:nvPr/>
        </p:nvSpPr>
        <p:spPr>
          <a:xfrm>
            <a:off x="1261872" y="3557016"/>
            <a:ext cx="45720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Calls Google Gemini 2.5 Flash → grounded reply</a:t>
            </a:r>
            <a:endParaRPr b="0" i="0" sz="1200" u="none" cap="none" strike="noStrike">
              <a:solidFill>
                <a:schemeClr val="dk1"/>
              </a:solidFill>
              <a:latin typeface="Calibri"/>
              <a:ea typeface="Calibri"/>
              <a:cs typeface="Calibri"/>
              <a:sym typeface="Calibri"/>
            </a:endParaRPr>
          </a:p>
        </p:txBody>
      </p:sp>
      <p:sp>
        <p:nvSpPr>
          <p:cNvPr id="442" name="Google Shape;442;p15"/>
          <p:cNvSpPr/>
          <p:nvPr/>
        </p:nvSpPr>
        <p:spPr>
          <a:xfrm>
            <a:off x="868680" y="4078224"/>
            <a:ext cx="274320" cy="2743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868680" y="4078224"/>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444" name="Google Shape;444;p15"/>
          <p:cNvSpPr/>
          <p:nvPr/>
        </p:nvSpPr>
        <p:spPr>
          <a:xfrm>
            <a:off x="1261872" y="4032504"/>
            <a:ext cx="45720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Reply refers to the user's actual week, not generic text</a:t>
            </a:r>
            <a:endParaRPr b="0" i="0" sz="1200" u="none" cap="none" strike="noStrike">
              <a:solidFill>
                <a:schemeClr val="dk1"/>
              </a:solidFill>
              <a:latin typeface="Calibri"/>
              <a:ea typeface="Calibri"/>
              <a:cs typeface="Calibri"/>
              <a:sym typeface="Calibri"/>
            </a:endParaRPr>
          </a:p>
        </p:txBody>
      </p:sp>
      <p:sp>
        <p:nvSpPr>
          <p:cNvPr id="445" name="Google Shape;445;p15"/>
          <p:cNvSpPr/>
          <p:nvPr/>
        </p:nvSpPr>
        <p:spPr>
          <a:xfrm>
            <a:off x="6172200" y="1554480"/>
            <a:ext cx="5468112" cy="3063240"/>
          </a:xfrm>
          <a:prstGeom prst="roundRect">
            <a:avLst>
              <a:gd fmla="val 3582"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p:nvPr/>
        </p:nvSpPr>
        <p:spPr>
          <a:xfrm>
            <a:off x="6446520" y="1810512"/>
            <a:ext cx="713232" cy="713232"/>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7" name="Google Shape;447;p15"/>
          <p:cNvPicPr preferRelativeResize="0"/>
          <p:nvPr/>
        </p:nvPicPr>
        <p:blipFill rotWithShape="1">
          <a:blip r:embed="rId4">
            <a:alphaModFix/>
          </a:blip>
          <a:srcRect b="0" l="0" r="0" t="0"/>
          <a:stretch/>
        </p:blipFill>
        <p:spPr>
          <a:xfrm>
            <a:off x="6617696" y="1981688"/>
            <a:ext cx="370881" cy="370881"/>
          </a:xfrm>
          <a:prstGeom prst="rect">
            <a:avLst/>
          </a:prstGeom>
          <a:noFill/>
          <a:ln>
            <a:noFill/>
          </a:ln>
        </p:spPr>
      </p:pic>
      <p:sp>
        <p:nvSpPr>
          <p:cNvPr id="448" name="Google Shape;448;p15"/>
          <p:cNvSpPr/>
          <p:nvPr/>
        </p:nvSpPr>
        <p:spPr>
          <a:xfrm>
            <a:off x="7269480" y="1847088"/>
            <a:ext cx="4114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entury Schoolbook"/>
              <a:buNone/>
            </a:pPr>
            <a:r>
              <a:rPr b="1" i="0" lang="en-US" sz="1700" u="none" cap="none" strike="noStrike">
                <a:solidFill>
                  <a:srgbClr val="FFFFFF"/>
                </a:solidFill>
                <a:latin typeface="Century Schoolbook"/>
                <a:ea typeface="Century Schoolbook"/>
                <a:cs typeface="Century Schoolbook"/>
                <a:sym typeface="Century Schoolbook"/>
              </a:rPr>
              <a:t>Two narrow safeguards</a:t>
            </a:r>
            <a:endParaRPr b="0" i="0" sz="1700" u="none" cap="none" strike="noStrike">
              <a:solidFill>
                <a:schemeClr val="dk1"/>
              </a:solidFill>
              <a:latin typeface="Calibri"/>
              <a:ea typeface="Calibri"/>
              <a:cs typeface="Calibri"/>
              <a:sym typeface="Calibri"/>
            </a:endParaRPr>
          </a:p>
        </p:txBody>
      </p:sp>
      <p:sp>
        <p:nvSpPr>
          <p:cNvPr id="449" name="Google Shape;449;p15"/>
          <p:cNvSpPr/>
          <p:nvPr/>
        </p:nvSpPr>
        <p:spPr>
          <a:xfrm>
            <a:off x="6492240" y="2651760"/>
            <a:ext cx="493776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Keyword guardrail</a:t>
            </a:r>
            <a:br>
              <a:rPr b="1" i="0" lang="en-US" sz="1350" u="none" cap="none" strike="noStrike">
                <a:solidFill>
                  <a:srgbClr val="84B59F"/>
                </a:solidFill>
                <a:latin typeface="Calibri"/>
                <a:ea typeface="Calibri"/>
                <a:cs typeface="Calibri"/>
                <a:sym typeface="Calibri"/>
              </a:rPr>
            </a:br>
            <a:r>
              <a:rPr b="0" i="0" lang="en-US" sz="1200" u="none" cap="none" strike="noStrike">
                <a:solidFill>
                  <a:srgbClr val="DCEBE6"/>
                </a:solidFill>
                <a:latin typeface="Calibri"/>
                <a:ea typeface="Calibri"/>
                <a:cs typeface="Calibri"/>
                <a:sym typeface="Calibri"/>
              </a:rPr>
              <a:t>Vietnamese self-harm / violence phrases short-circuit the model → fixed hotline response</a:t>
            </a:r>
            <a:endParaRPr b="0" i="0" sz="1350" u="none" cap="none" strike="noStrike">
              <a:solidFill>
                <a:schemeClr val="dk1"/>
              </a:solidFill>
              <a:latin typeface="Calibri"/>
              <a:ea typeface="Calibri"/>
              <a:cs typeface="Calibri"/>
              <a:sym typeface="Calibri"/>
            </a:endParaRPr>
          </a:p>
        </p:txBody>
      </p:sp>
      <p:sp>
        <p:nvSpPr>
          <p:cNvPr id="450" name="Google Shape;450;p15"/>
          <p:cNvSpPr/>
          <p:nvPr/>
        </p:nvSpPr>
        <p:spPr>
          <a:xfrm>
            <a:off x="6492240" y="3611880"/>
            <a:ext cx="493776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PII scrubbing</a:t>
            </a:r>
            <a:br>
              <a:rPr b="1" i="0" lang="en-US" sz="1350" u="none" cap="none" strike="noStrike">
                <a:solidFill>
                  <a:srgbClr val="84B59F"/>
                </a:solidFill>
                <a:latin typeface="Calibri"/>
                <a:ea typeface="Calibri"/>
                <a:cs typeface="Calibri"/>
                <a:sym typeface="Calibri"/>
              </a:rPr>
            </a:br>
            <a:r>
              <a:rPr b="0" i="0" lang="en-US" sz="1200" u="none" cap="none" strike="noStrike">
                <a:solidFill>
                  <a:srgbClr val="DCEBE6"/>
                </a:solidFill>
                <a:latin typeface="Calibri"/>
                <a:ea typeface="Calibri"/>
                <a:cs typeface="Calibri"/>
                <a:sym typeface="Calibri"/>
              </a:rPr>
              <a:t>Emails, phones &amp; self-introduced names removed before leaving the platform; chat encrypted at rest</a:t>
            </a:r>
            <a:endParaRPr b="0" i="0" sz="1350" u="none" cap="none" strike="noStrike">
              <a:solidFill>
                <a:schemeClr val="dk1"/>
              </a:solidFill>
              <a:latin typeface="Calibri"/>
              <a:ea typeface="Calibri"/>
              <a:cs typeface="Calibri"/>
              <a:sym typeface="Calibri"/>
            </a:endParaRPr>
          </a:p>
        </p:txBody>
      </p:sp>
      <p:sp>
        <p:nvSpPr>
          <p:cNvPr id="451" name="Google Shape;451;p15"/>
          <p:cNvSpPr/>
          <p:nvPr/>
        </p:nvSpPr>
        <p:spPr>
          <a:xfrm>
            <a:off x="548640" y="4800600"/>
            <a:ext cx="11091672" cy="1298448"/>
          </a:xfrm>
          <a:prstGeom prst="roundRect">
            <a:avLst>
              <a:gd fmla="val 8451" name="adj"/>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822960" y="4892040"/>
            <a:ext cx="1060704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80"/>
              <a:buFont typeface="Calibri"/>
              <a:buNone/>
            </a:pPr>
            <a:r>
              <a:rPr b="1" i="0" lang="en-US" sz="1280" u="none" cap="none" strike="noStrike">
                <a:solidFill>
                  <a:srgbClr val="2E7D74"/>
                </a:solidFill>
                <a:latin typeface="Calibri"/>
                <a:ea typeface="Calibri"/>
                <a:cs typeface="Calibri"/>
                <a:sym typeface="Calibri"/>
              </a:rPr>
              <a:t>Consent off by default.  </a:t>
            </a:r>
            <a:r>
              <a:rPr b="0" i="0" lang="en-US" sz="1280" u="none" cap="none" strike="noStrike">
                <a:solidFill>
                  <a:srgbClr val="1E2B29"/>
                </a:solidFill>
                <a:latin typeface="Calibri"/>
                <a:ea typeface="Calibri"/>
                <a:cs typeface="Calibri"/>
                <a:sym typeface="Calibri"/>
              </a:rPr>
              <a:t>Opt out and you still get a companion </a:t>
            </a:r>
            <a:r>
              <a:rPr lang="en-US" sz="1280">
                <a:solidFill>
                  <a:srgbClr val="1E2B29"/>
                </a:solidFill>
                <a:latin typeface="Calibri"/>
                <a:ea typeface="Calibri"/>
                <a:cs typeface="Calibri"/>
                <a:sym typeface="Calibri"/>
              </a:rPr>
              <a:t>- </a:t>
            </a:r>
            <a:r>
              <a:rPr b="0" i="0" lang="en-US" sz="1280" u="none" cap="none" strike="noStrike">
                <a:solidFill>
                  <a:srgbClr val="1E2B29"/>
                </a:solidFill>
                <a:latin typeface="Calibri"/>
                <a:ea typeface="Calibri"/>
                <a:cs typeface="Calibri"/>
                <a:sym typeface="Calibri"/>
              </a:rPr>
              <a:t>just one without personal grounding. Gated by the same grant model as every audience.</a:t>
            </a:r>
            <a:br>
              <a:rPr b="0" i="0" lang="en-US" sz="1280" u="none" cap="none" strike="noStrike">
                <a:solidFill>
                  <a:srgbClr val="1E2B29"/>
                </a:solidFill>
                <a:latin typeface="Calibri"/>
                <a:ea typeface="Calibri"/>
                <a:cs typeface="Calibri"/>
                <a:sym typeface="Calibri"/>
              </a:rPr>
            </a:br>
            <a:r>
              <a:rPr b="1" i="0" lang="en-US" sz="1280" u="none" cap="none" strike="noStrike">
                <a:solidFill>
                  <a:srgbClr val="2E7D74"/>
                </a:solidFill>
                <a:latin typeface="Calibri"/>
                <a:ea typeface="Calibri"/>
                <a:cs typeface="Calibri"/>
                <a:sym typeface="Calibri"/>
              </a:rPr>
              <a:t>Deliberately no clinical risk scoring and no automated escalation </a:t>
            </a:r>
            <a:r>
              <a:rPr lang="en-US" sz="1280">
                <a:solidFill>
                  <a:srgbClr val="1E2B29"/>
                </a:solidFill>
                <a:latin typeface="Calibri"/>
                <a:ea typeface="Calibri"/>
                <a:cs typeface="Calibri"/>
                <a:sym typeface="Calibri"/>
              </a:rPr>
              <a:t>- </a:t>
            </a:r>
            <a:r>
              <a:rPr b="0" i="0" lang="en-US" sz="1280" u="none" cap="none" strike="noStrike">
                <a:solidFill>
                  <a:srgbClr val="1E2B29"/>
                </a:solidFill>
                <a:latin typeface="Calibri"/>
                <a:ea typeface="Calibri"/>
                <a:cs typeface="Calibri"/>
                <a:sym typeface="Calibri"/>
              </a:rPr>
              <a:t>left out of scope pending clinical collaboration.</a:t>
            </a:r>
            <a:endParaRPr b="0" i="0" sz="128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8F6"/>
        </a:solidFill>
      </p:bgPr>
    </p:bg>
    <p:spTree>
      <p:nvGrpSpPr>
        <p:cNvPr id="457" name="Shape 457"/>
        <p:cNvGrpSpPr/>
        <p:nvPr/>
      </p:nvGrpSpPr>
      <p:grpSpPr>
        <a:xfrm>
          <a:off x="0" y="0"/>
          <a:ext cx="0" cy="0"/>
          <a:chOff x="0" y="0"/>
          <a:chExt cx="0" cy="0"/>
        </a:xfrm>
      </p:grpSpPr>
      <p:sp>
        <p:nvSpPr>
          <p:cNvPr id="458" name="Google Shape;458;p16"/>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SECURITY HARDENING</a:t>
            </a:r>
            <a:endParaRPr b="0" i="0" sz="1200" u="none" cap="none" strike="noStrike">
              <a:solidFill>
                <a:schemeClr val="dk1"/>
              </a:solidFill>
              <a:latin typeface="Calibri"/>
              <a:ea typeface="Calibri"/>
              <a:cs typeface="Calibri"/>
              <a:sym typeface="Calibri"/>
            </a:endParaRPr>
          </a:p>
        </p:txBody>
      </p:sp>
      <p:sp>
        <p:nvSpPr>
          <p:cNvPr id="459" name="Google Shape;459;p16"/>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Two findings that shaped the system</a:t>
            </a:r>
            <a:endParaRPr b="0" i="0" sz="3000" u="none" cap="none" strike="noStrike">
              <a:solidFill>
                <a:schemeClr val="dk1"/>
              </a:solidFill>
              <a:latin typeface="Calibri"/>
              <a:ea typeface="Calibri"/>
              <a:cs typeface="Calibri"/>
              <a:sym typeface="Calibri"/>
            </a:endParaRPr>
          </a:p>
        </p:txBody>
      </p:sp>
      <p:sp>
        <p:nvSpPr>
          <p:cNvPr id="460" name="Google Shape;460;p16"/>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2726F"/>
              </a:buClr>
              <a:buSzPts val="1300"/>
              <a:buFont typeface="Calibri"/>
              <a:buNone/>
            </a:pPr>
            <a:r>
              <a:rPr b="0" i="1" lang="en-US" sz="1300" u="none" cap="none" strike="noStrike">
                <a:solidFill>
                  <a:srgbClr val="62726F"/>
                </a:solidFill>
                <a:latin typeface="Calibri"/>
                <a:ea typeface="Calibri"/>
                <a:cs typeface="Calibri"/>
                <a:sym typeface="Calibri"/>
              </a:rPr>
              <a:t>Structured audits organised around the OWASP Top 10 </a:t>
            </a:r>
            <a:r>
              <a:rPr i="1" lang="en-US" sz="1300">
                <a:solidFill>
                  <a:srgbClr val="62726F"/>
                </a:solidFill>
                <a:latin typeface="Calibri"/>
                <a:ea typeface="Calibri"/>
                <a:cs typeface="Calibri"/>
                <a:sym typeface="Calibri"/>
              </a:rPr>
              <a:t>- </a:t>
            </a:r>
            <a:r>
              <a:rPr b="0" i="1" lang="en-US" sz="1300" u="none" cap="none" strike="noStrike">
                <a:solidFill>
                  <a:srgbClr val="62726F"/>
                </a:solidFill>
                <a:latin typeface="Calibri"/>
                <a:ea typeface="Calibri"/>
                <a:cs typeface="Calibri"/>
                <a:sym typeface="Calibri"/>
              </a:rPr>
              <a:t>covering business-logic correctness, access control, and data integrity.</a:t>
            </a:r>
            <a:endParaRPr b="0" i="0" sz="1300" u="none" cap="none" strike="noStrike">
              <a:solidFill>
                <a:schemeClr val="dk1"/>
              </a:solidFill>
              <a:latin typeface="Calibri"/>
              <a:ea typeface="Calibri"/>
              <a:cs typeface="Calibri"/>
              <a:sym typeface="Calibri"/>
            </a:endParaRPr>
          </a:p>
        </p:txBody>
      </p:sp>
      <p:sp>
        <p:nvSpPr>
          <p:cNvPr id="461" name="Google Shape;461;p16"/>
          <p:cNvSpPr/>
          <p:nvPr/>
        </p:nvSpPr>
        <p:spPr>
          <a:xfrm>
            <a:off x="548640" y="1920240"/>
            <a:ext cx="5468112" cy="4160520"/>
          </a:xfrm>
          <a:prstGeom prst="roundRect">
            <a:avLst>
              <a:gd fmla="val 2637"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548640" y="1920240"/>
            <a:ext cx="5468112" cy="868680"/>
          </a:xfrm>
          <a:prstGeom prst="roundRect">
            <a:avLst>
              <a:gd fmla="val 12632" name="adj"/>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548640" y="2377440"/>
            <a:ext cx="5468112" cy="411480"/>
          </a:xfrm>
          <a:prstGeom prst="rect">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822960" y="2103120"/>
            <a:ext cx="548640" cy="54864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5" name="Google Shape;465;p16"/>
          <p:cNvPicPr preferRelativeResize="0"/>
          <p:nvPr/>
        </p:nvPicPr>
        <p:blipFill rotWithShape="1">
          <a:blip r:embed="rId3">
            <a:alphaModFix/>
          </a:blip>
          <a:srcRect b="0" l="0" r="0" t="0"/>
          <a:stretch/>
        </p:blipFill>
        <p:spPr>
          <a:xfrm>
            <a:off x="954634" y="2234794"/>
            <a:ext cx="285293" cy="285293"/>
          </a:xfrm>
          <a:prstGeom prst="rect">
            <a:avLst/>
          </a:prstGeom>
          <a:noFill/>
          <a:ln>
            <a:noFill/>
          </a:ln>
        </p:spPr>
      </p:pic>
      <p:sp>
        <p:nvSpPr>
          <p:cNvPr id="466" name="Google Shape;466;p16"/>
          <p:cNvSpPr/>
          <p:nvPr/>
        </p:nvSpPr>
        <p:spPr>
          <a:xfrm>
            <a:off x="1508760" y="2084832"/>
            <a:ext cx="43708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1100"/>
              <a:buFont typeface="Calibri"/>
              <a:buNone/>
            </a:pPr>
            <a:r>
              <a:rPr b="1" i="0" lang="en-US" sz="1100" u="none" cap="none" strike="noStrike">
                <a:solidFill>
                  <a:srgbClr val="84B59F"/>
                </a:solidFill>
                <a:latin typeface="Calibri"/>
                <a:ea typeface="Calibri"/>
                <a:cs typeface="Calibri"/>
                <a:sym typeface="Calibri"/>
              </a:rPr>
              <a:t>DATA INTEGRITY</a:t>
            </a:r>
            <a:endParaRPr b="0" i="0" sz="1100" u="none" cap="none" strike="noStrike">
              <a:solidFill>
                <a:schemeClr val="dk1"/>
              </a:solidFill>
              <a:latin typeface="Calibri"/>
              <a:ea typeface="Calibri"/>
              <a:cs typeface="Calibri"/>
              <a:sym typeface="Calibri"/>
            </a:endParaRPr>
          </a:p>
        </p:txBody>
      </p:sp>
      <p:sp>
        <p:nvSpPr>
          <p:cNvPr id="467" name="Google Shape;467;p16"/>
          <p:cNvSpPr/>
          <p:nvPr/>
        </p:nvSpPr>
        <p:spPr>
          <a:xfrm>
            <a:off x="1508760" y="2322576"/>
            <a:ext cx="4370832"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entury Schoolbook"/>
              <a:buNone/>
            </a:pPr>
            <a:r>
              <a:rPr b="1" i="0" lang="en-US" sz="1700" u="none" cap="none" strike="noStrike">
                <a:solidFill>
                  <a:srgbClr val="FFFFFF"/>
                </a:solidFill>
                <a:latin typeface="Century Schoolbook"/>
                <a:ea typeface="Century Schoolbook"/>
                <a:cs typeface="Century Schoolbook"/>
                <a:sym typeface="Century Schoolbook"/>
              </a:rPr>
              <a:t>Booking race condition</a:t>
            </a:r>
            <a:endParaRPr b="0" i="0" sz="1700" u="none" cap="none" strike="noStrike">
              <a:solidFill>
                <a:schemeClr val="dk1"/>
              </a:solidFill>
              <a:latin typeface="Calibri"/>
              <a:ea typeface="Calibri"/>
              <a:cs typeface="Calibri"/>
              <a:sym typeface="Calibri"/>
            </a:endParaRPr>
          </a:p>
        </p:txBody>
      </p:sp>
      <p:sp>
        <p:nvSpPr>
          <p:cNvPr id="468" name="Google Shape;468;p16"/>
          <p:cNvSpPr/>
          <p:nvPr/>
        </p:nvSpPr>
        <p:spPr>
          <a:xfrm>
            <a:off x="822960" y="2971800"/>
            <a:ext cx="4919472" cy="1234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The risk   </a:t>
            </a:r>
            <a:r>
              <a:rPr b="0" i="0" lang="en-US" sz="1250" u="none" cap="none" strike="noStrike">
                <a:solidFill>
                  <a:srgbClr val="1E2B29"/>
                </a:solidFill>
                <a:latin typeface="Calibri"/>
                <a:ea typeface="Calibri"/>
                <a:cs typeface="Calibri"/>
                <a:sym typeface="Calibri"/>
              </a:rPr>
              <a:t>Two concurrent requests could both pass an availability check before either committed — a double booking.</a:t>
            </a:r>
            <a:endParaRPr b="0" i="0" sz="1250" u="none" cap="none" strike="noStrike">
              <a:solidFill>
                <a:schemeClr val="dk1"/>
              </a:solidFill>
              <a:latin typeface="Calibri"/>
              <a:ea typeface="Calibri"/>
              <a:cs typeface="Calibri"/>
              <a:sym typeface="Calibri"/>
            </a:endParaRPr>
          </a:p>
        </p:txBody>
      </p:sp>
      <p:cxnSp>
        <p:nvCxnSpPr>
          <p:cNvPr id="469" name="Google Shape;469;p16"/>
          <p:cNvCxnSpPr/>
          <p:nvPr/>
        </p:nvCxnSpPr>
        <p:spPr>
          <a:xfrm>
            <a:off x="822960" y="4251960"/>
            <a:ext cx="4919472" cy="0"/>
          </a:xfrm>
          <a:prstGeom prst="straightConnector1">
            <a:avLst/>
          </a:prstGeom>
          <a:noFill/>
          <a:ln cap="flat" cmpd="sng" w="12700">
            <a:solidFill>
              <a:srgbClr val="E7ECEA"/>
            </a:solidFill>
            <a:prstDash val="solid"/>
            <a:round/>
            <a:headEnd len="sm" w="sm" type="none"/>
            <a:tailEnd len="sm" w="sm" type="none"/>
          </a:ln>
        </p:spPr>
      </p:cxnSp>
      <p:sp>
        <p:nvSpPr>
          <p:cNvPr id="470" name="Google Shape;470;p16"/>
          <p:cNvSpPr/>
          <p:nvPr/>
        </p:nvSpPr>
        <p:spPr>
          <a:xfrm>
            <a:off x="822960" y="4389120"/>
            <a:ext cx="4919472"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74"/>
              </a:buClr>
              <a:buSzPts val="1250"/>
              <a:buFont typeface="Calibri"/>
              <a:buNone/>
            </a:pPr>
            <a:r>
              <a:rPr b="1" i="0" lang="en-US" sz="1250" u="none" cap="none" strike="noStrike">
                <a:solidFill>
                  <a:srgbClr val="2E7D74"/>
                </a:solidFill>
                <a:latin typeface="Calibri"/>
                <a:ea typeface="Calibri"/>
                <a:cs typeface="Calibri"/>
                <a:sym typeface="Calibri"/>
              </a:rPr>
              <a:t>The fix   </a:t>
            </a:r>
            <a:r>
              <a:rPr b="0" i="0" lang="en-US" sz="1250" u="none" cap="none" strike="noStrike">
                <a:solidFill>
                  <a:srgbClr val="1E2B29"/>
                </a:solidFill>
                <a:latin typeface="Calibri"/>
                <a:ea typeface="Calibri"/>
                <a:cs typeface="Calibri"/>
                <a:sym typeface="Calibri"/>
              </a:rPr>
              <a:t>Fixed with a single atomic conditional update (set booked = true only where false), backed by a unique constraint. Holds no matter how many service instances run.</a:t>
            </a:r>
            <a:endParaRPr b="0" i="0" sz="1250" u="none" cap="none" strike="noStrike">
              <a:solidFill>
                <a:schemeClr val="dk1"/>
              </a:solidFill>
              <a:latin typeface="Calibri"/>
              <a:ea typeface="Calibri"/>
              <a:cs typeface="Calibri"/>
              <a:sym typeface="Calibri"/>
            </a:endParaRPr>
          </a:p>
        </p:txBody>
      </p:sp>
      <p:sp>
        <p:nvSpPr>
          <p:cNvPr id="471" name="Google Shape;471;p16"/>
          <p:cNvSpPr/>
          <p:nvPr/>
        </p:nvSpPr>
        <p:spPr>
          <a:xfrm>
            <a:off x="6172200" y="1920240"/>
            <a:ext cx="5468112" cy="4160520"/>
          </a:xfrm>
          <a:prstGeom prst="roundRect">
            <a:avLst>
              <a:gd fmla="val 2637"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a:off x="6172200" y="1920240"/>
            <a:ext cx="5468112" cy="868680"/>
          </a:xfrm>
          <a:prstGeom prst="roundRect">
            <a:avLst>
              <a:gd fmla="val 12632" name="adj"/>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6172200" y="2377440"/>
            <a:ext cx="5468112" cy="411480"/>
          </a:xfrm>
          <a:prstGeom prst="rect">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6446520" y="2103120"/>
            <a:ext cx="548640" cy="54864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5" name="Google Shape;475;p16"/>
          <p:cNvPicPr preferRelativeResize="0"/>
          <p:nvPr/>
        </p:nvPicPr>
        <p:blipFill rotWithShape="1">
          <a:blip r:embed="rId4">
            <a:alphaModFix/>
          </a:blip>
          <a:srcRect b="0" l="0" r="0" t="0"/>
          <a:stretch/>
        </p:blipFill>
        <p:spPr>
          <a:xfrm>
            <a:off x="6578194" y="2234794"/>
            <a:ext cx="285293" cy="285293"/>
          </a:xfrm>
          <a:prstGeom prst="rect">
            <a:avLst/>
          </a:prstGeom>
          <a:noFill/>
          <a:ln>
            <a:noFill/>
          </a:ln>
        </p:spPr>
      </p:pic>
      <p:sp>
        <p:nvSpPr>
          <p:cNvPr id="476" name="Google Shape;476;p16"/>
          <p:cNvSpPr/>
          <p:nvPr/>
        </p:nvSpPr>
        <p:spPr>
          <a:xfrm>
            <a:off x="7132320" y="2084832"/>
            <a:ext cx="4370832"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1100"/>
              <a:buFont typeface="Calibri"/>
              <a:buNone/>
            </a:pPr>
            <a:r>
              <a:rPr b="1" i="0" lang="en-US" sz="1100" u="none" cap="none" strike="noStrike">
                <a:solidFill>
                  <a:srgbClr val="84B59F"/>
                </a:solidFill>
                <a:latin typeface="Calibri"/>
                <a:ea typeface="Calibri"/>
                <a:cs typeface="Calibri"/>
                <a:sym typeface="Calibri"/>
              </a:rPr>
              <a:t>ACCESS CONTROL</a:t>
            </a:r>
            <a:endParaRPr b="0" i="0" sz="1100" u="none" cap="none" strike="noStrike">
              <a:solidFill>
                <a:schemeClr val="dk1"/>
              </a:solidFill>
              <a:latin typeface="Calibri"/>
              <a:ea typeface="Calibri"/>
              <a:cs typeface="Calibri"/>
              <a:sym typeface="Calibri"/>
            </a:endParaRPr>
          </a:p>
        </p:txBody>
      </p:sp>
      <p:sp>
        <p:nvSpPr>
          <p:cNvPr id="477" name="Google Shape;477;p16"/>
          <p:cNvSpPr/>
          <p:nvPr/>
        </p:nvSpPr>
        <p:spPr>
          <a:xfrm>
            <a:off x="7132320" y="2322576"/>
            <a:ext cx="4370832"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700"/>
              <a:buFont typeface="Century Schoolbook"/>
              <a:buNone/>
            </a:pPr>
            <a:r>
              <a:rPr b="1" i="0" lang="en-US" sz="1700" u="none" cap="none" strike="noStrike">
                <a:solidFill>
                  <a:srgbClr val="FFFFFF"/>
                </a:solidFill>
                <a:latin typeface="Century Schoolbook"/>
                <a:ea typeface="Century Schoolbook"/>
                <a:cs typeface="Century Schoolbook"/>
                <a:sym typeface="Century Schoolbook"/>
              </a:rPr>
              <a:t>AI's path to tracking data</a:t>
            </a:r>
            <a:endParaRPr b="0" i="0" sz="1700" u="none" cap="none" strike="noStrike">
              <a:solidFill>
                <a:schemeClr val="dk1"/>
              </a:solidFill>
              <a:latin typeface="Calibri"/>
              <a:ea typeface="Calibri"/>
              <a:cs typeface="Calibri"/>
              <a:sym typeface="Calibri"/>
            </a:endParaRPr>
          </a:p>
        </p:txBody>
      </p:sp>
      <p:sp>
        <p:nvSpPr>
          <p:cNvPr id="478" name="Google Shape;478;p16"/>
          <p:cNvSpPr/>
          <p:nvPr/>
        </p:nvSpPr>
        <p:spPr>
          <a:xfrm>
            <a:off x="6446520" y="2971800"/>
            <a:ext cx="4919472" cy="1234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0912F"/>
              </a:buClr>
              <a:buSzPts val="1250"/>
              <a:buFont typeface="Calibri"/>
              <a:buNone/>
            </a:pPr>
            <a:r>
              <a:rPr b="1" i="0" lang="en-US" sz="1250" u="none" cap="none" strike="noStrike">
                <a:solidFill>
                  <a:srgbClr val="E0912F"/>
                </a:solidFill>
                <a:latin typeface="Calibri"/>
                <a:ea typeface="Calibri"/>
                <a:cs typeface="Calibri"/>
                <a:sym typeface="Calibri"/>
              </a:rPr>
              <a:t>The risk   </a:t>
            </a:r>
            <a:r>
              <a:rPr b="0" i="0" lang="en-US" sz="1250" u="none" cap="none" strike="noStrike">
                <a:solidFill>
                  <a:srgbClr val="1E2B29"/>
                </a:solidFill>
                <a:latin typeface="Calibri"/>
                <a:ea typeface="Calibri"/>
                <a:cs typeface="Calibri"/>
                <a:sym typeface="Calibri"/>
              </a:rPr>
              <a:t>The internal context endpoint trusted any authenticated internal caller </a:t>
            </a:r>
            <a:r>
              <a:rPr lang="en-US" sz="1250">
                <a:solidFill>
                  <a:srgbClr val="1E2B29"/>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the AI could read data with no grant.</a:t>
            </a:r>
            <a:endParaRPr b="0" i="0" sz="1250" u="none" cap="none" strike="noStrike">
              <a:solidFill>
                <a:schemeClr val="dk1"/>
              </a:solidFill>
              <a:latin typeface="Calibri"/>
              <a:ea typeface="Calibri"/>
              <a:cs typeface="Calibri"/>
              <a:sym typeface="Calibri"/>
            </a:endParaRPr>
          </a:p>
        </p:txBody>
      </p:sp>
      <p:cxnSp>
        <p:nvCxnSpPr>
          <p:cNvPr id="479" name="Google Shape;479;p16"/>
          <p:cNvCxnSpPr/>
          <p:nvPr/>
        </p:nvCxnSpPr>
        <p:spPr>
          <a:xfrm>
            <a:off x="6446520" y="4251960"/>
            <a:ext cx="4919472" cy="0"/>
          </a:xfrm>
          <a:prstGeom prst="straightConnector1">
            <a:avLst/>
          </a:prstGeom>
          <a:noFill/>
          <a:ln cap="flat" cmpd="sng" w="12700">
            <a:solidFill>
              <a:srgbClr val="E7ECEA"/>
            </a:solidFill>
            <a:prstDash val="solid"/>
            <a:round/>
            <a:headEnd len="sm" w="sm" type="none"/>
            <a:tailEnd len="sm" w="sm" type="none"/>
          </a:ln>
        </p:spPr>
      </p:cxnSp>
      <p:sp>
        <p:nvSpPr>
          <p:cNvPr id="480" name="Google Shape;480;p16"/>
          <p:cNvSpPr/>
          <p:nvPr/>
        </p:nvSpPr>
        <p:spPr>
          <a:xfrm>
            <a:off x="6446520" y="4389120"/>
            <a:ext cx="4919472" cy="1554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74"/>
              </a:buClr>
              <a:buSzPts val="1250"/>
              <a:buFont typeface="Calibri"/>
              <a:buNone/>
            </a:pPr>
            <a:r>
              <a:rPr b="1" i="0" lang="en-US" sz="1250" u="none" cap="none" strike="noStrike">
                <a:solidFill>
                  <a:srgbClr val="2E7D74"/>
                </a:solidFill>
                <a:latin typeface="Calibri"/>
                <a:ea typeface="Calibri"/>
                <a:cs typeface="Calibri"/>
                <a:sym typeface="Calibri"/>
              </a:rPr>
              <a:t>The fix   </a:t>
            </a:r>
            <a:r>
              <a:rPr b="0" i="0" lang="en-US" sz="1250" u="none" cap="none" strike="noStrike">
                <a:solidFill>
                  <a:srgbClr val="1E2B29"/>
                </a:solidFill>
                <a:latin typeface="Calibri"/>
                <a:ea typeface="Calibri"/>
                <a:cs typeface="Calibri"/>
                <a:sym typeface="Calibri"/>
              </a:rPr>
              <a:t>Fixed by adding the AI as a reserved grantee in the existing grant table. No new mechanism </a:t>
            </a:r>
            <a:r>
              <a:rPr lang="en-US" sz="1250">
                <a:solidFill>
                  <a:srgbClr val="1E2B29"/>
                </a:solidFill>
                <a:latin typeface="Calibri"/>
                <a:ea typeface="Calibri"/>
                <a:cs typeface="Calibri"/>
                <a:sym typeface="Calibri"/>
              </a:rPr>
              <a:t>- </a:t>
            </a:r>
            <a:r>
              <a:rPr b="0" i="0" lang="en-US" sz="1250" u="none" cap="none" strike="noStrike">
                <a:solidFill>
                  <a:srgbClr val="1E2B29"/>
                </a:solidFill>
                <a:latin typeface="Calibri"/>
                <a:ea typeface="Calibri"/>
                <a:cs typeface="Calibri"/>
                <a:sym typeface="Calibri"/>
              </a:rPr>
              <a:t>an existing one extended to a caller previously exempt.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8F6"/>
        </a:solidFill>
      </p:bgPr>
    </p:bg>
    <p:spTree>
      <p:nvGrpSpPr>
        <p:cNvPr id="485" name="Shape 485"/>
        <p:cNvGrpSpPr/>
        <p:nvPr/>
      </p:nvGrpSpPr>
      <p:grpSpPr>
        <a:xfrm>
          <a:off x="0" y="0"/>
          <a:ext cx="0" cy="0"/>
          <a:chOff x="0" y="0"/>
          <a:chExt cx="0" cy="0"/>
        </a:xfrm>
      </p:grpSpPr>
      <p:sp>
        <p:nvSpPr>
          <p:cNvPr id="486" name="Google Shape;486;p17"/>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DEPLOYMENT</a:t>
            </a:r>
            <a:endParaRPr b="0" i="0" sz="1200" u="none" cap="none" strike="noStrike">
              <a:solidFill>
                <a:schemeClr val="dk1"/>
              </a:solidFill>
              <a:latin typeface="Calibri"/>
              <a:ea typeface="Calibri"/>
              <a:cs typeface="Calibri"/>
              <a:sym typeface="Calibri"/>
            </a:endParaRPr>
          </a:p>
        </p:txBody>
      </p:sp>
      <p:sp>
        <p:nvSpPr>
          <p:cNvPr id="487" name="Google Shape;487;p17"/>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The full stack, running on real cloud infra</a:t>
            </a:r>
            <a:endParaRPr b="0" i="0" sz="3000" u="none" cap="none" strike="noStrike">
              <a:solidFill>
                <a:schemeClr val="dk1"/>
              </a:solidFill>
              <a:latin typeface="Calibri"/>
              <a:ea typeface="Calibri"/>
              <a:cs typeface="Calibri"/>
              <a:sym typeface="Calibri"/>
            </a:endParaRPr>
          </a:p>
        </p:txBody>
      </p:sp>
      <p:sp>
        <p:nvSpPr>
          <p:cNvPr id="488" name="Google Shape;488;p17"/>
          <p:cNvSpPr/>
          <p:nvPr/>
        </p:nvSpPr>
        <p:spPr>
          <a:xfrm>
            <a:off x="548640" y="1600200"/>
            <a:ext cx="2743200" cy="914400"/>
          </a:xfrm>
          <a:prstGeom prst="roundRect">
            <a:avLst>
              <a:gd fmla="val 10000" name="adj"/>
            </a:avLst>
          </a:prstGeom>
          <a:solidFill>
            <a:srgbClr val="E7EC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548640" y="1600200"/>
            <a:ext cx="27432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B29"/>
              </a:buClr>
              <a:buSzPts val="1400"/>
              <a:buFont typeface="Calibri"/>
              <a:buNone/>
            </a:pPr>
            <a:r>
              <a:rPr b="1" i="0" lang="en-US" sz="1400" u="none" cap="none" strike="noStrike">
                <a:solidFill>
                  <a:srgbClr val="1E2B29"/>
                </a:solidFill>
                <a:latin typeface="Calibri"/>
                <a:ea typeface="Calibri"/>
                <a:cs typeface="Calibri"/>
                <a:sym typeface="Calibri"/>
              </a:rPr>
              <a:t>Oracle Cloud</a:t>
            </a:r>
            <a:br>
              <a:rPr b="1" i="0" lang="en-US" sz="1400" u="none" cap="none" strike="noStrike">
                <a:solidFill>
                  <a:srgbClr val="1E2B29"/>
                </a:solidFill>
                <a:latin typeface="Calibri"/>
                <a:ea typeface="Calibri"/>
                <a:cs typeface="Calibri"/>
                <a:sym typeface="Calibri"/>
              </a:rPr>
            </a:br>
            <a:r>
              <a:rPr b="0" i="0" lang="en-US" sz="1100" u="none" cap="none" strike="noStrike">
                <a:solidFill>
                  <a:srgbClr val="62726F"/>
                </a:solidFill>
                <a:latin typeface="Calibri"/>
                <a:ea typeface="Calibri"/>
                <a:cs typeface="Calibri"/>
                <a:sym typeface="Calibri"/>
              </a:rPr>
              <a:t>original deployment</a:t>
            </a:r>
            <a:endParaRPr b="0" i="0" sz="1400" u="none" cap="none" strike="noStrike">
              <a:solidFill>
                <a:schemeClr val="dk1"/>
              </a:solidFill>
              <a:latin typeface="Calibri"/>
              <a:ea typeface="Calibri"/>
              <a:cs typeface="Calibri"/>
              <a:sym typeface="Calibri"/>
            </a:endParaRPr>
          </a:p>
        </p:txBody>
      </p:sp>
      <p:sp>
        <p:nvSpPr>
          <p:cNvPr id="490" name="Google Shape;490;p17"/>
          <p:cNvSpPr/>
          <p:nvPr/>
        </p:nvSpPr>
        <p:spPr>
          <a:xfrm>
            <a:off x="3310128" y="1691640"/>
            <a:ext cx="73152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912F"/>
              </a:buClr>
              <a:buSzPts val="3400"/>
              <a:buFont typeface="Calibri"/>
              <a:buNone/>
            </a:pPr>
            <a:r>
              <a:rPr b="1" i="0" lang="en-US" sz="3400" u="none" cap="none" strike="noStrike">
                <a:solidFill>
                  <a:srgbClr val="E0912F"/>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491" name="Google Shape;491;p17"/>
          <p:cNvSpPr/>
          <p:nvPr/>
        </p:nvSpPr>
        <p:spPr>
          <a:xfrm>
            <a:off x="4069080" y="1600200"/>
            <a:ext cx="2926080" cy="914400"/>
          </a:xfrm>
          <a:prstGeom prst="roundRect">
            <a:avLst>
              <a:gd fmla="val 10000" name="adj"/>
            </a:avLst>
          </a:prstGeom>
          <a:solidFill>
            <a:srgbClr val="124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4069080" y="1600200"/>
            <a:ext cx="29260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Microsoft Azure</a:t>
            </a:r>
            <a:br>
              <a:rPr b="1" i="0" lang="en-US" sz="1400" u="none" cap="none" strike="noStrike">
                <a:solidFill>
                  <a:srgbClr val="FFFFFF"/>
                </a:solidFill>
                <a:latin typeface="Calibri"/>
                <a:ea typeface="Calibri"/>
                <a:cs typeface="Calibri"/>
                <a:sym typeface="Calibri"/>
              </a:rPr>
            </a:br>
            <a:r>
              <a:rPr b="0" i="0" lang="en-US" sz="1050" u="none" cap="none" strike="noStrike">
                <a:solidFill>
                  <a:srgbClr val="84B59F"/>
                </a:solidFill>
                <a:latin typeface="Calibri"/>
                <a:ea typeface="Calibri"/>
                <a:cs typeface="Calibri"/>
                <a:sym typeface="Calibri"/>
              </a:rPr>
              <a:t>Azure for Students · migrated in full</a:t>
            </a:r>
            <a:endParaRPr b="0" i="0" sz="1400" u="none" cap="none" strike="noStrike">
              <a:solidFill>
                <a:schemeClr val="dk1"/>
              </a:solidFill>
              <a:latin typeface="Calibri"/>
              <a:ea typeface="Calibri"/>
              <a:cs typeface="Calibri"/>
              <a:sym typeface="Calibri"/>
            </a:endParaRPr>
          </a:p>
        </p:txBody>
      </p:sp>
      <p:sp>
        <p:nvSpPr>
          <p:cNvPr id="493" name="Google Shape;493;p17"/>
          <p:cNvSpPr/>
          <p:nvPr/>
        </p:nvSpPr>
        <p:spPr>
          <a:xfrm>
            <a:off x="7360920" y="1572768"/>
            <a:ext cx="4206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50"/>
              <a:buFont typeface="Calibri"/>
              <a:buNone/>
            </a:pPr>
            <a:r>
              <a:rPr b="1" i="0" lang="en-US" sz="1250" u="none" cap="none" strike="noStrike">
                <a:solidFill>
                  <a:srgbClr val="2E7D74"/>
                </a:solidFill>
                <a:latin typeface="Calibri"/>
                <a:ea typeface="Calibri"/>
                <a:cs typeface="Calibri"/>
                <a:sym typeface="Calibri"/>
              </a:rPr>
              <a:t>Migration involved:</a:t>
            </a:r>
            <a:endParaRPr b="0" i="0" sz="1250" u="none" cap="none" strike="noStrike">
              <a:solidFill>
                <a:schemeClr val="dk1"/>
              </a:solidFill>
              <a:latin typeface="Calibri"/>
              <a:ea typeface="Calibri"/>
              <a:cs typeface="Calibri"/>
              <a:sym typeface="Calibri"/>
            </a:endParaRPr>
          </a:p>
        </p:txBody>
      </p:sp>
      <p:sp>
        <p:nvSpPr>
          <p:cNvPr id="494" name="Google Shape;494;p17"/>
          <p:cNvSpPr/>
          <p:nvPr/>
        </p:nvSpPr>
        <p:spPr>
          <a:xfrm>
            <a:off x="7360920" y="1874520"/>
            <a:ext cx="42519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912F"/>
              </a:buClr>
              <a:buSzPts val="1150"/>
              <a:buFont typeface="Calibri"/>
              <a:buNone/>
            </a:pPr>
            <a:r>
              <a:rPr b="1" i="0" lang="en-US" sz="1150" u="none" cap="none" strike="noStrike">
                <a:solidFill>
                  <a:srgbClr val="E0912F"/>
                </a:solidFill>
                <a:latin typeface="Calibri"/>
                <a:ea typeface="Calibri"/>
                <a:cs typeface="Calibri"/>
                <a:sym typeface="Calibri"/>
              </a:rPr>
              <a:t>• </a:t>
            </a:r>
            <a:r>
              <a:rPr b="0" i="0" lang="en-US" sz="1150" u="none" cap="none" strike="noStrike">
                <a:solidFill>
                  <a:srgbClr val="1E2B29"/>
                </a:solidFill>
                <a:latin typeface="Calibri"/>
                <a:ea typeface="Calibri"/>
                <a:cs typeface="Calibri"/>
                <a:sym typeface="Calibri"/>
              </a:rPr>
              <a:t>Region-policy &amp; VM provisioning restrictions</a:t>
            </a:r>
            <a:endParaRPr b="0" i="0" sz="1150" u="none" cap="none" strike="noStrike">
              <a:solidFill>
                <a:schemeClr val="dk1"/>
              </a:solidFill>
              <a:latin typeface="Calibri"/>
              <a:ea typeface="Calibri"/>
              <a:cs typeface="Calibri"/>
              <a:sym typeface="Calibri"/>
            </a:endParaRPr>
          </a:p>
        </p:txBody>
      </p:sp>
      <p:sp>
        <p:nvSpPr>
          <p:cNvPr id="495" name="Google Shape;495;p17"/>
          <p:cNvSpPr/>
          <p:nvPr/>
        </p:nvSpPr>
        <p:spPr>
          <a:xfrm>
            <a:off x="7360920" y="2194560"/>
            <a:ext cx="42519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912F"/>
              </a:buClr>
              <a:buSzPts val="1150"/>
              <a:buFont typeface="Calibri"/>
              <a:buNone/>
            </a:pPr>
            <a:r>
              <a:rPr b="1" i="0" lang="en-US" sz="1150" u="none" cap="none" strike="noStrike">
                <a:solidFill>
                  <a:srgbClr val="E0912F"/>
                </a:solidFill>
                <a:latin typeface="Calibri"/>
                <a:ea typeface="Calibri"/>
                <a:cs typeface="Calibri"/>
                <a:sym typeface="Calibri"/>
              </a:rPr>
              <a:t>• </a:t>
            </a:r>
            <a:r>
              <a:rPr b="0" i="0" lang="en-US" sz="1150" u="none" cap="none" strike="noStrike">
                <a:solidFill>
                  <a:srgbClr val="1E2B29"/>
                </a:solidFill>
                <a:latin typeface="Calibri"/>
                <a:ea typeface="Calibri"/>
                <a:cs typeface="Calibri"/>
                <a:sym typeface="Calibri"/>
              </a:rPr>
              <a:t>NSG rules for gateway ports 80 / 443</a:t>
            </a:r>
            <a:endParaRPr b="0" i="0" sz="1150" u="none" cap="none" strike="noStrike">
              <a:solidFill>
                <a:schemeClr val="dk1"/>
              </a:solidFill>
              <a:latin typeface="Calibri"/>
              <a:ea typeface="Calibri"/>
              <a:cs typeface="Calibri"/>
              <a:sym typeface="Calibri"/>
            </a:endParaRPr>
          </a:p>
        </p:txBody>
      </p:sp>
      <p:sp>
        <p:nvSpPr>
          <p:cNvPr id="496" name="Google Shape;496;p17"/>
          <p:cNvSpPr/>
          <p:nvPr/>
        </p:nvSpPr>
        <p:spPr>
          <a:xfrm>
            <a:off x="7360920" y="2514600"/>
            <a:ext cx="42519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912F"/>
              </a:buClr>
              <a:buSzPts val="1150"/>
              <a:buFont typeface="Calibri"/>
              <a:buNone/>
            </a:pPr>
            <a:r>
              <a:rPr b="1" i="0" lang="en-US" sz="1150" u="none" cap="none" strike="noStrike">
                <a:solidFill>
                  <a:srgbClr val="E0912F"/>
                </a:solidFill>
                <a:latin typeface="Calibri"/>
                <a:ea typeface="Calibri"/>
                <a:cs typeface="Calibri"/>
                <a:sym typeface="Calibri"/>
              </a:rPr>
              <a:t>• </a:t>
            </a:r>
            <a:r>
              <a:rPr b="0" i="0" lang="en-US" sz="1150" u="none" cap="none" strike="noStrike">
                <a:solidFill>
                  <a:srgbClr val="1E2B29"/>
                </a:solidFill>
                <a:latin typeface="Calibri"/>
                <a:ea typeface="Calibri"/>
                <a:cs typeface="Calibri"/>
                <a:sym typeface="Calibri"/>
              </a:rPr>
              <a:t>Reproduced auto-shutdown to control cost</a:t>
            </a:r>
            <a:endParaRPr b="0" i="0" sz="1150" u="none" cap="none" strike="noStrike">
              <a:solidFill>
                <a:schemeClr val="dk1"/>
              </a:solidFill>
              <a:latin typeface="Calibri"/>
              <a:ea typeface="Calibri"/>
              <a:cs typeface="Calibri"/>
              <a:sym typeface="Calibri"/>
            </a:endParaRPr>
          </a:p>
        </p:txBody>
      </p:sp>
      <p:sp>
        <p:nvSpPr>
          <p:cNvPr id="497" name="Google Shape;497;p17"/>
          <p:cNvSpPr/>
          <p:nvPr/>
        </p:nvSpPr>
        <p:spPr>
          <a:xfrm>
            <a:off x="548640" y="2788920"/>
            <a:ext cx="2743200" cy="1874520"/>
          </a:xfrm>
          <a:prstGeom prst="roundRect">
            <a:avLst>
              <a:gd fmla="val 5854" name="adj"/>
            </a:avLst>
          </a:prstGeom>
          <a:solidFill>
            <a:srgbClr val="2E7D74"/>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548640" y="2926080"/>
            <a:ext cx="2743200" cy="9601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000"/>
              <a:buFont typeface="Century Schoolbook"/>
              <a:buNone/>
            </a:pPr>
            <a:r>
              <a:rPr b="1" i="0" lang="en-US" sz="6000" u="none" cap="none" strike="noStrike">
                <a:solidFill>
                  <a:srgbClr val="FFFFFF"/>
                </a:solidFill>
                <a:latin typeface="Century Schoolbook"/>
                <a:ea typeface="Century Schoolbook"/>
                <a:cs typeface="Century Schoolbook"/>
                <a:sym typeface="Century Schoolbook"/>
              </a:rPr>
              <a:t>20</a:t>
            </a:r>
            <a:endParaRPr b="0" i="0" sz="6000" u="none" cap="none" strike="noStrike">
              <a:solidFill>
                <a:schemeClr val="dk1"/>
              </a:solidFill>
              <a:latin typeface="Calibri"/>
              <a:ea typeface="Calibri"/>
              <a:cs typeface="Calibri"/>
              <a:sym typeface="Calibri"/>
            </a:endParaRPr>
          </a:p>
        </p:txBody>
      </p:sp>
      <p:sp>
        <p:nvSpPr>
          <p:cNvPr id="499" name="Google Shape;499;p17"/>
          <p:cNvSpPr/>
          <p:nvPr/>
        </p:nvSpPr>
        <p:spPr>
          <a:xfrm>
            <a:off x="548640" y="38862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CEBE6"/>
              </a:buClr>
              <a:buSzPts val="1200"/>
              <a:buFont typeface="Calibri"/>
              <a:buNone/>
            </a:pPr>
            <a:r>
              <a:rPr b="0" i="0" lang="en-US" sz="1200" u="none" cap="none" strike="noStrike">
                <a:solidFill>
                  <a:srgbClr val="DCEBE6"/>
                </a:solidFill>
                <a:latin typeface="Calibri"/>
                <a:ea typeface="Calibri"/>
                <a:cs typeface="Calibri"/>
                <a:sym typeface="Calibri"/>
              </a:rPr>
              <a:t>containers on a single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EBE6"/>
              </a:buClr>
              <a:buSzPts val="1200"/>
              <a:buFont typeface="Calibri"/>
              <a:buNone/>
            </a:pPr>
            <a:r>
              <a:rPr b="0" i="0" lang="en-US" sz="1200" u="none" cap="none" strike="noStrike">
                <a:solidFill>
                  <a:srgbClr val="DCEBE6"/>
                </a:solidFill>
                <a:latin typeface="Calibri"/>
                <a:ea typeface="Calibri"/>
                <a:cs typeface="Calibri"/>
                <a:sym typeface="Calibri"/>
              </a:rPr>
              <a:t>right-sized Azure VM</a:t>
            </a:r>
            <a:endParaRPr b="0" i="0" sz="1200" u="none" cap="none" strike="noStrike">
              <a:solidFill>
                <a:schemeClr val="dk1"/>
              </a:solidFill>
              <a:latin typeface="Calibri"/>
              <a:ea typeface="Calibri"/>
              <a:cs typeface="Calibri"/>
              <a:sym typeface="Calibri"/>
            </a:endParaRPr>
          </a:p>
        </p:txBody>
      </p:sp>
      <p:sp>
        <p:nvSpPr>
          <p:cNvPr id="500" name="Google Shape;500;p17"/>
          <p:cNvSpPr/>
          <p:nvPr/>
        </p:nvSpPr>
        <p:spPr>
          <a:xfrm>
            <a:off x="3520440" y="2834640"/>
            <a:ext cx="384048" cy="384048"/>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1" name="Google Shape;501;p17"/>
          <p:cNvPicPr preferRelativeResize="0"/>
          <p:nvPr/>
        </p:nvPicPr>
        <p:blipFill rotWithShape="1">
          <a:blip r:embed="rId3">
            <a:alphaModFix/>
          </a:blip>
          <a:srcRect b="0" l="0" r="0" t="0"/>
          <a:stretch/>
        </p:blipFill>
        <p:spPr>
          <a:xfrm>
            <a:off x="3612612" y="2926812"/>
            <a:ext cx="199705" cy="199705"/>
          </a:xfrm>
          <a:prstGeom prst="rect">
            <a:avLst/>
          </a:prstGeom>
          <a:noFill/>
          <a:ln>
            <a:noFill/>
          </a:ln>
        </p:spPr>
      </p:pic>
      <p:sp>
        <p:nvSpPr>
          <p:cNvPr id="502" name="Google Shape;502;p17"/>
          <p:cNvSpPr/>
          <p:nvPr/>
        </p:nvSpPr>
        <p:spPr>
          <a:xfrm>
            <a:off x="4023360" y="2834640"/>
            <a:ext cx="76352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50"/>
              <a:buFont typeface="Calibri"/>
              <a:buNone/>
            </a:pPr>
            <a:r>
              <a:rPr b="0" i="0" lang="en-US" sz="1250" u="none" cap="none" strike="noStrike">
                <a:solidFill>
                  <a:srgbClr val="1E2B29"/>
                </a:solidFill>
                <a:latin typeface="Calibri"/>
                <a:ea typeface="Calibri"/>
                <a:cs typeface="Calibri"/>
                <a:sym typeface="Calibri"/>
              </a:rPr>
              <a:t>7 Spring Boot JVM services (Java 17)</a:t>
            </a:r>
            <a:endParaRPr b="0" i="0" sz="1250" u="none" cap="none" strike="noStrike">
              <a:solidFill>
                <a:schemeClr val="dk1"/>
              </a:solidFill>
              <a:latin typeface="Calibri"/>
              <a:ea typeface="Calibri"/>
              <a:cs typeface="Calibri"/>
              <a:sym typeface="Calibri"/>
            </a:endParaRPr>
          </a:p>
        </p:txBody>
      </p:sp>
      <p:sp>
        <p:nvSpPr>
          <p:cNvPr id="503" name="Google Shape;503;p17"/>
          <p:cNvSpPr/>
          <p:nvPr/>
        </p:nvSpPr>
        <p:spPr>
          <a:xfrm>
            <a:off x="3520440" y="3310128"/>
            <a:ext cx="384048" cy="384048"/>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p17"/>
          <p:cNvPicPr preferRelativeResize="0"/>
          <p:nvPr/>
        </p:nvPicPr>
        <p:blipFill rotWithShape="1">
          <a:blip r:embed="rId4">
            <a:alphaModFix/>
          </a:blip>
          <a:srcRect b="0" l="0" r="0" t="0"/>
          <a:stretch/>
        </p:blipFill>
        <p:spPr>
          <a:xfrm>
            <a:off x="3612612" y="3402300"/>
            <a:ext cx="199705" cy="199705"/>
          </a:xfrm>
          <a:prstGeom prst="rect">
            <a:avLst/>
          </a:prstGeom>
          <a:noFill/>
          <a:ln>
            <a:noFill/>
          </a:ln>
        </p:spPr>
      </p:pic>
      <p:sp>
        <p:nvSpPr>
          <p:cNvPr id="505" name="Google Shape;505;p17"/>
          <p:cNvSpPr/>
          <p:nvPr/>
        </p:nvSpPr>
        <p:spPr>
          <a:xfrm>
            <a:off x="4023360" y="3310128"/>
            <a:ext cx="76352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50"/>
              <a:buFont typeface="Calibri"/>
              <a:buNone/>
            </a:pPr>
            <a:r>
              <a:rPr b="0" i="0" lang="en-US" sz="1250" u="none" cap="none" strike="noStrike">
                <a:solidFill>
                  <a:srgbClr val="1E2B29"/>
                </a:solidFill>
                <a:latin typeface="Calibri"/>
                <a:ea typeface="Calibri"/>
                <a:cs typeface="Calibri"/>
                <a:sym typeface="Calibri"/>
              </a:rPr>
              <a:t>PostgreSQL per service · Redis · MinIO · pgAdmin </a:t>
            </a:r>
            <a:r>
              <a:rPr lang="en-US" sz="1250">
                <a:solidFill>
                  <a:srgbClr val="1E2B29"/>
                </a:solidFill>
                <a:latin typeface="Calibri"/>
                <a:ea typeface="Calibri"/>
                <a:cs typeface="Calibri"/>
                <a:sym typeface="Calibri"/>
              </a:rPr>
              <a:t>· RabbitMQ</a:t>
            </a:r>
            <a:endParaRPr b="0" i="0" sz="1250" u="none" cap="none" strike="noStrike">
              <a:solidFill>
                <a:schemeClr val="dk1"/>
              </a:solidFill>
              <a:latin typeface="Calibri"/>
              <a:ea typeface="Calibri"/>
              <a:cs typeface="Calibri"/>
              <a:sym typeface="Calibri"/>
            </a:endParaRPr>
          </a:p>
        </p:txBody>
      </p:sp>
      <p:sp>
        <p:nvSpPr>
          <p:cNvPr id="506" name="Google Shape;506;p17"/>
          <p:cNvSpPr/>
          <p:nvPr/>
        </p:nvSpPr>
        <p:spPr>
          <a:xfrm>
            <a:off x="3520440" y="3785616"/>
            <a:ext cx="384048" cy="384048"/>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7" name="Google Shape;507;p17"/>
          <p:cNvPicPr preferRelativeResize="0"/>
          <p:nvPr/>
        </p:nvPicPr>
        <p:blipFill rotWithShape="1">
          <a:blip r:embed="rId5">
            <a:alphaModFix/>
          </a:blip>
          <a:srcRect b="0" l="0" r="0" t="0"/>
          <a:stretch/>
        </p:blipFill>
        <p:spPr>
          <a:xfrm>
            <a:off x="3612612" y="3877788"/>
            <a:ext cx="199705" cy="199705"/>
          </a:xfrm>
          <a:prstGeom prst="rect">
            <a:avLst/>
          </a:prstGeom>
          <a:noFill/>
          <a:ln>
            <a:noFill/>
          </a:ln>
        </p:spPr>
      </p:pic>
      <p:sp>
        <p:nvSpPr>
          <p:cNvPr id="508" name="Google Shape;508;p17"/>
          <p:cNvSpPr/>
          <p:nvPr/>
        </p:nvSpPr>
        <p:spPr>
          <a:xfrm>
            <a:off x="4023360" y="3785616"/>
            <a:ext cx="76352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50"/>
              <a:buFont typeface="Calibri"/>
              <a:buNone/>
            </a:pPr>
            <a:r>
              <a:rPr b="0" i="0" lang="en-US" sz="1250" u="none" cap="none" strike="noStrike">
                <a:solidFill>
                  <a:srgbClr val="1E2B29"/>
                </a:solidFill>
                <a:latin typeface="Calibri"/>
                <a:ea typeface="Calibri"/>
                <a:cs typeface="Calibri"/>
                <a:sym typeface="Calibri"/>
              </a:rPr>
              <a:t>Caddy reverse proxy + Let's Encrypt · DuckDNS hostname</a:t>
            </a:r>
            <a:endParaRPr b="0" i="0" sz="1250" u="none" cap="none" strike="noStrike">
              <a:solidFill>
                <a:schemeClr val="dk1"/>
              </a:solidFill>
              <a:latin typeface="Calibri"/>
              <a:ea typeface="Calibri"/>
              <a:cs typeface="Calibri"/>
              <a:sym typeface="Calibri"/>
            </a:endParaRPr>
          </a:p>
        </p:txBody>
      </p:sp>
      <p:sp>
        <p:nvSpPr>
          <p:cNvPr id="509" name="Google Shape;509;p17"/>
          <p:cNvSpPr/>
          <p:nvPr/>
        </p:nvSpPr>
        <p:spPr>
          <a:xfrm>
            <a:off x="3520440" y="4261104"/>
            <a:ext cx="384048" cy="384048"/>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0" name="Google Shape;510;p17"/>
          <p:cNvPicPr preferRelativeResize="0"/>
          <p:nvPr/>
        </p:nvPicPr>
        <p:blipFill rotWithShape="1">
          <a:blip r:embed="rId6">
            <a:alphaModFix/>
          </a:blip>
          <a:srcRect b="0" l="0" r="0" t="0"/>
          <a:stretch/>
        </p:blipFill>
        <p:spPr>
          <a:xfrm>
            <a:off x="3612612" y="4353276"/>
            <a:ext cx="199705" cy="199705"/>
          </a:xfrm>
          <a:prstGeom prst="rect">
            <a:avLst/>
          </a:prstGeom>
          <a:noFill/>
          <a:ln>
            <a:noFill/>
          </a:ln>
        </p:spPr>
      </p:pic>
      <p:sp>
        <p:nvSpPr>
          <p:cNvPr id="511" name="Google Shape;511;p17"/>
          <p:cNvSpPr/>
          <p:nvPr/>
        </p:nvSpPr>
        <p:spPr>
          <a:xfrm>
            <a:off x="4023360" y="4261104"/>
            <a:ext cx="76352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250"/>
              <a:buFont typeface="Calibri"/>
              <a:buNone/>
            </a:pPr>
            <a:r>
              <a:rPr b="0" i="0" lang="en-US" sz="1250" u="none" cap="none" strike="noStrike">
                <a:solidFill>
                  <a:srgbClr val="1E2B29"/>
                </a:solidFill>
                <a:latin typeface="Calibri"/>
                <a:ea typeface="Calibri"/>
                <a:cs typeface="Calibri"/>
                <a:sym typeface="Calibri"/>
              </a:rPr>
              <a:t>Mobile app published to Google Play (HTTPS-only)</a:t>
            </a:r>
            <a:endParaRPr b="0" i="0" sz="1250" u="none" cap="none" strike="noStrike">
              <a:solidFill>
                <a:schemeClr val="dk1"/>
              </a:solidFill>
              <a:latin typeface="Calibri"/>
              <a:ea typeface="Calibri"/>
              <a:cs typeface="Calibri"/>
              <a:sym typeface="Calibri"/>
            </a:endParaRPr>
          </a:p>
        </p:txBody>
      </p:sp>
      <p:sp>
        <p:nvSpPr>
          <p:cNvPr id="512" name="Google Shape;512;p17"/>
          <p:cNvSpPr/>
          <p:nvPr/>
        </p:nvSpPr>
        <p:spPr>
          <a:xfrm>
            <a:off x="548640" y="5440680"/>
            <a:ext cx="11091672" cy="658368"/>
          </a:xfrm>
          <a:prstGeom prst="roundRect">
            <a:avLst>
              <a:gd fmla="val 13889" name="adj"/>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822960" y="5440680"/>
            <a:ext cx="1060704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300"/>
              <a:buFont typeface="Calibri"/>
              <a:buNone/>
            </a:pPr>
            <a:r>
              <a:rPr b="1" i="0" lang="en-US" sz="1300" u="none" cap="none" strike="noStrike">
                <a:solidFill>
                  <a:srgbClr val="2E7D74"/>
                </a:solidFill>
                <a:latin typeface="Calibri"/>
                <a:ea typeface="Calibri"/>
                <a:cs typeface="Calibri"/>
                <a:sym typeface="Calibri"/>
              </a:rPr>
              <a:t>O11 achieved:  </a:t>
            </a:r>
            <a:r>
              <a:rPr b="0" i="0" lang="en-US" sz="1300" u="none" cap="none" strike="noStrike">
                <a:solidFill>
                  <a:srgbClr val="1E2B29"/>
                </a:solidFill>
                <a:latin typeface="Calibri"/>
                <a:ea typeface="Calibri"/>
                <a:cs typeface="Calibri"/>
                <a:sym typeface="Calibri"/>
              </a:rPr>
              <a:t>the full stack was deployed end-to-end and exercised on cloud infrastructure — the system runs.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518" name="Shape 518"/>
        <p:cNvGrpSpPr/>
        <p:nvPr/>
      </p:nvGrpSpPr>
      <p:grpSpPr>
        <a:xfrm>
          <a:off x="0" y="0"/>
          <a:ext cx="0" cy="0"/>
          <a:chOff x="0" y="0"/>
          <a:chExt cx="0" cy="0"/>
        </a:xfrm>
      </p:grpSpPr>
      <p:sp>
        <p:nvSpPr>
          <p:cNvPr id="519" name="Google Shape;519;p18"/>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EVALUATION</a:t>
            </a:r>
            <a:endParaRPr b="0" i="0" sz="1200" u="none" cap="none" strike="noStrike">
              <a:solidFill>
                <a:schemeClr val="dk1"/>
              </a:solidFill>
              <a:latin typeface="Calibri"/>
              <a:ea typeface="Calibri"/>
              <a:cs typeface="Calibri"/>
              <a:sym typeface="Calibri"/>
            </a:endParaRPr>
          </a:p>
        </p:txBody>
      </p:sp>
      <p:sp>
        <p:nvSpPr>
          <p:cNvPr id="520" name="Google Shape;520;p18"/>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Functional completeness &amp; what users valued</a:t>
            </a:r>
            <a:endParaRPr b="0" i="0" sz="3000" u="none" cap="none" strike="noStrike">
              <a:solidFill>
                <a:schemeClr val="dk1"/>
              </a:solidFill>
              <a:latin typeface="Calibri"/>
              <a:ea typeface="Calibri"/>
              <a:cs typeface="Calibri"/>
              <a:sym typeface="Calibri"/>
            </a:endParaRPr>
          </a:p>
        </p:txBody>
      </p:sp>
      <p:sp>
        <p:nvSpPr>
          <p:cNvPr id="521" name="Google Shape;521;p18"/>
          <p:cNvSpPr/>
          <p:nvPr/>
        </p:nvSpPr>
        <p:spPr>
          <a:xfrm>
            <a:off x="548640" y="1554480"/>
            <a:ext cx="3246120" cy="4526280"/>
          </a:xfrm>
          <a:prstGeom prst="roundRect">
            <a:avLst>
              <a:gd fmla="val 3380"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8"/>
          <p:cNvSpPr/>
          <p:nvPr/>
        </p:nvSpPr>
        <p:spPr>
          <a:xfrm>
            <a:off x="1600200" y="1828800"/>
            <a:ext cx="960120" cy="96012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3" name="Google Shape;523;p18"/>
          <p:cNvPicPr preferRelativeResize="0"/>
          <p:nvPr/>
        </p:nvPicPr>
        <p:blipFill rotWithShape="1">
          <a:blip r:embed="rId3">
            <a:alphaModFix/>
          </a:blip>
          <a:srcRect b="0" l="0" r="0" t="0"/>
          <a:stretch/>
        </p:blipFill>
        <p:spPr>
          <a:xfrm>
            <a:off x="1830629" y="2059229"/>
            <a:ext cx="499262" cy="499262"/>
          </a:xfrm>
          <a:prstGeom prst="rect">
            <a:avLst/>
          </a:prstGeom>
          <a:noFill/>
          <a:ln>
            <a:noFill/>
          </a:ln>
        </p:spPr>
      </p:pic>
      <p:sp>
        <p:nvSpPr>
          <p:cNvPr id="524" name="Google Shape;524;p18"/>
          <p:cNvSpPr/>
          <p:nvPr/>
        </p:nvSpPr>
        <p:spPr>
          <a:xfrm>
            <a:off x="548640" y="2880360"/>
            <a:ext cx="32461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entury Schoolbook"/>
              <a:buNone/>
            </a:pPr>
            <a:r>
              <a:rPr b="1" i="0" lang="en-US" sz="4000" u="none" cap="none" strike="noStrike">
                <a:solidFill>
                  <a:srgbClr val="FFFFFF"/>
                </a:solidFill>
                <a:latin typeface="Century Schoolbook"/>
                <a:ea typeface="Century Schoolbook"/>
                <a:cs typeface="Century Schoolbook"/>
                <a:sym typeface="Century Schoolbook"/>
              </a:rPr>
              <a:t>11.5 / 12</a:t>
            </a:r>
            <a:endParaRPr b="0" i="0" sz="4000" u="none" cap="none" strike="noStrike">
              <a:solidFill>
                <a:schemeClr val="dk1"/>
              </a:solidFill>
              <a:latin typeface="Calibri"/>
              <a:ea typeface="Calibri"/>
              <a:cs typeface="Calibri"/>
              <a:sym typeface="Calibri"/>
            </a:endParaRPr>
          </a:p>
        </p:txBody>
      </p:sp>
      <p:sp>
        <p:nvSpPr>
          <p:cNvPr id="525" name="Google Shape;525;p18"/>
          <p:cNvSpPr/>
          <p:nvPr/>
        </p:nvSpPr>
        <p:spPr>
          <a:xfrm>
            <a:off x="548640" y="3657600"/>
            <a:ext cx="3246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4B59F"/>
              </a:buClr>
              <a:buSzPts val="1300"/>
              <a:buFont typeface="Calibri"/>
              <a:buNone/>
            </a:pPr>
            <a:r>
              <a:rPr b="0" i="0" lang="en-US" sz="1300" u="none" cap="none" strike="noStrike">
                <a:solidFill>
                  <a:srgbClr val="84B59F"/>
                </a:solidFill>
                <a:latin typeface="Calibri"/>
                <a:ea typeface="Calibri"/>
                <a:cs typeface="Calibri"/>
                <a:sym typeface="Calibri"/>
              </a:rPr>
              <a:t>requirements fully met</a:t>
            </a:r>
            <a:endParaRPr b="0" i="0" sz="1300" u="none" cap="none" strike="noStrike">
              <a:solidFill>
                <a:schemeClr val="dk1"/>
              </a:solidFill>
              <a:latin typeface="Calibri"/>
              <a:ea typeface="Calibri"/>
              <a:cs typeface="Calibri"/>
              <a:sym typeface="Calibri"/>
            </a:endParaRPr>
          </a:p>
        </p:txBody>
      </p:sp>
      <p:sp>
        <p:nvSpPr>
          <p:cNvPr id="526" name="Google Shape;526;p18"/>
          <p:cNvSpPr/>
          <p:nvPr/>
        </p:nvSpPr>
        <p:spPr>
          <a:xfrm>
            <a:off x="777240" y="4114800"/>
            <a:ext cx="2788920" cy="1828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DCEBE6"/>
              </a:buClr>
              <a:buSzPts val="1150"/>
              <a:buFont typeface="Calibri"/>
              <a:buNone/>
            </a:pPr>
            <a:r>
              <a:rPr b="0" i="0" lang="en-US" sz="1150" u="none" cap="none" strike="noStrike">
                <a:solidFill>
                  <a:srgbClr val="DCEBE6"/>
                </a:solidFill>
                <a:latin typeface="Calibri"/>
                <a:ea typeface="Calibri"/>
                <a:cs typeface="Calibri"/>
                <a:sym typeface="Calibri"/>
              </a:rPr>
              <a:t>All 7 services &amp; both clients implemented and deployed. Only FR8 (notifications across all events) is partial.</a:t>
            </a:r>
            <a:endParaRPr b="0" i="0" sz="1150" u="none" cap="none" strike="noStrike">
              <a:solidFill>
                <a:schemeClr val="dk1"/>
              </a:solidFill>
              <a:latin typeface="Calibri"/>
              <a:ea typeface="Calibri"/>
              <a:cs typeface="Calibri"/>
              <a:sym typeface="Calibri"/>
            </a:endParaRPr>
          </a:p>
        </p:txBody>
      </p:sp>
      <p:sp>
        <p:nvSpPr>
          <p:cNvPr id="527" name="Google Shape;527;p18"/>
          <p:cNvSpPr/>
          <p:nvPr/>
        </p:nvSpPr>
        <p:spPr>
          <a:xfrm>
            <a:off x="3977640" y="1554480"/>
            <a:ext cx="7662672" cy="2148840"/>
          </a:xfrm>
          <a:prstGeom prst="roundRect">
            <a:avLst>
              <a:gd fmla="val 5106"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8"/>
          <p:cNvSpPr/>
          <p:nvPr/>
        </p:nvSpPr>
        <p:spPr>
          <a:xfrm>
            <a:off x="4206240" y="1664208"/>
            <a:ext cx="7223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600"/>
              <a:buFont typeface="Century Schoolbook"/>
              <a:buNone/>
            </a:pPr>
            <a:r>
              <a:rPr b="1" i="0" lang="en-US" sz="1600" u="none" cap="none" strike="noStrike">
                <a:solidFill>
                  <a:srgbClr val="2E7D74"/>
                </a:solidFill>
                <a:latin typeface="Century Schoolbook"/>
                <a:ea typeface="Century Schoolbook"/>
                <a:cs typeface="Century Schoolbook"/>
                <a:sym typeface="Century Schoolbook"/>
              </a:rPr>
              <a:t>Most-valued features</a:t>
            </a:r>
            <a:endParaRPr b="0" i="0" sz="1600" u="none" cap="none" strike="noStrike">
              <a:solidFill>
                <a:schemeClr val="dk1"/>
              </a:solidFill>
              <a:latin typeface="Calibri"/>
              <a:ea typeface="Calibri"/>
              <a:cs typeface="Calibri"/>
              <a:sym typeface="Calibri"/>
            </a:endParaRPr>
          </a:p>
        </p:txBody>
      </p:sp>
      <p:sp>
        <p:nvSpPr>
          <p:cNvPr id="529" name="Google Shape;529;p18"/>
          <p:cNvSpPr/>
          <p:nvPr/>
        </p:nvSpPr>
        <p:spPr>
          <a:xfrm>
            <a:off x="4206240" y="2148840"/>
            <a:ext cx="566928" cy="566928"/>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0" name="Google Shape;530;p18"/>
          <p:cNvPicPr preferRelativeResize="0"/>
          <p:nvPr/>
        </p:nvPicPr>
        <p:blipFill rotWithShape="1">
          <a:blip r:embed="rId4">
            <a:alphaModFix/>
          </a:blip>
          <a:srcRect b="0" l="0" r="0" t="0"/>
          <a:stretch/>
        </p:blipFill>
        <p:spPr>
          <a:xfrm>
            <a:off x="4342303" y="2284903"/>
            <a:ext cx="294803" cy="294803"/>
          </a:xfrm>
          <a:prstGeom prst="rect">
            <a:avLst/>
          </a:prstGeom>
          <a:noFill/>
          <a:ln>
            <a:noFill/>
          </a:ln>
        </p:spPr>
      </p:pic>
      <p:sp>
        <p:nvSpPr>
          <p:cNvPr id="531" name="Google Shape;531;p18"/>
          <p:cNvSpPr/>
          <p:nvPr/>
        </p:nvSpPr>
        <p:spPr>
          <a:xfrm>
            <a:off x="4892040" y="2121408"/>
            <a:ext cx="64922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i="0" lang="en-US" sz="1300" u="none" cap="none" strike="noStrike">
                <a:solidFill>
                  <a:srgbClr val="1E2B29"/>
                </a:solidFill>
                <a:latin typeface="Calibri"/>
                <a:ea typeface="Calibri"/>
                <a:cs typeface="Calibri"/>
                <a:sym typeface="Calibri"/>
              </a:rPr>
              <a:t>Treasure Box (Hộp Trân Quý)</a:t>
            </a:r>
            <a:br>
              <a:rPr b="1" i="0" lang="en-US" sz="1300" u="none" cap="none" strike="noStrike">
                <a:solidFill>
                  <a:srgbClr val="1E2B29"/>
                </a:solidFill>
                <a:latin typeface="Calibri"/>
                <a:ea typeface="Calibri"/>
                <a:cs typeface="Calibri"/>
                <a:sym typeface="Calibri"/>
              </a:rPr>
            </a:br>
            <a:r>
              <a:rPr b="0" i="0" lang="en-US" sz="1150" u="none" cap="none" strike="noStrike">
                <a:solidFill>
                  <a:srgbClr val="62726F"/>
                </a:solidFill>
                <a:latin typeface="Calibri"/>
                <a:ea typeface="Calibri"/>
                <a:cs typeface="Calibri"/>
                <a:sym typeface="Calibri"/>
              </a:rPr>
              <a:t>Pre-saved positive memories to reopen on a low day — self-compassion when it's hardest to recall the good. Grew directly from expert collaboration.</a:t>
            </a:r>
            <a:endParaRPr b="0" i="0" sz="1300" u="none" cap="none" strike="noStrike">
              <a:solidFill>
                <a:schemeClr val="dk1"/>
              </a:solidFill>
              <a:latin typeface="Calibri"/>
              <a:ea typeface="Calibri"/>
              <a:cs typeface="Calibri"/>
              <a:sym typeface="Calibri"/>
            </a:endParaRPr>
          </a:p>
        </p:txBody>
      </p:sp>
      <p:sp>
        <p:nvSpPr>
          <p:cNvPr id="532" name="Google Shape;532;p18"/>
          <p:cNvSpPr/>
          <p:nvPr/>
        </p:nvSpPr>
        <p:spPr>
          <a:xfrm>
            <a:off x="4206240" y="2926080"/>
            <a:ext cx="566928" cy="566928"/>
          </a:xfrm>
          <a:prstGeom prst="ellipse">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3" name="Google Shape;533;p18"/>
          <p:cNvPicPr preferRelativeResize="0"/>
          <p:nvPr/>
        </p:nvPicPr>
        <p:blipFill rotWithShape="1">
          <a:blip r:embed="rId5">
            <a:alphaModFix/>
          </a:blip>
          <a:srcRect b="0" l="0" r="0" t="0"/>
          <a:stretch/>
        </p:blipFill>
        <p:spPr>
          <a:xfrm>
            <a:off x="4342303" y="3062143"/>
            <a:ext cx="294803" cy="294803"/>
          </a:xfrm>
          <a:prstGeom prst="rect">
            <a:avLst/>
          </a:prstGeom>
          <a:noFill/>
          <a:ln>
            <a:noFill/>
          </a:ln>
        </p:spPr>
      </p:pic>
      <p:sp>
        <p:nvSpPr>
          <p:cNvPr id="534" name="Google Shape;534;p18"/>
          <p:cNvSpPr/>
          <p:nvPr/>
        </p:nvSpPr>
        <p:spPr>
          <a:xfrm>
            <a:off x="4892040" y="2907792"/>
            <a:ext cx="649224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i="0" lang="en-US" sz="1300" u="none" cap="none" strike="noStrike">
                <a:solidFill>
                  <a:srgbClr val="1E2B29"/>
                </a:solidFill>
                <a:latin typeface="Calibri"/>
                <a:ea typeface="Calibri"/>
                <a:cs typeface="Calibri"/>
                <a:sym typeface="Calibri"/>
              </a:rPr>
              <a:t>Daily reflective tracking</a:t>
            </a:r>
            <a:br>
              <a:rPr b="1" i="0" lang="en-US" sz="1300" u="none" cap="none" strike="noStrike">
                <a:solidFill>
                  <a:srgbClr val="1E2B29"/>
                </a:solidFill>
                <a:latin typeface="Calibri"/>
                <a:ea typeface="Calibri"/>
                <a:cs typeface="Calibri"/>
                <a:sym typeface="Calibri"/>
              </a:rPr>
            </a:br>
            <a:r>
              <a:rPr b="0" i="0" lang="en-US" sz="1150" u="none" cap="none" strike="noStrike">
                <a:solidFill>
                  <a:srgbClr val="62726F"/>
                </a:solidFill>
                <a:latin typeface="Calibri"/>
                <a:ea typeface="Calibri"/>
                <a:cs typeface="Calibri"/>
                <a:sym typeface="Calibri"/>
              </a:rPr>
              <a:t>Mood check-ins, journal, sleep/nutrition, auto steps — assessed "already very good" by a physician; the same data grounds everything else.</a:t>
            </a:r>
            <a:endParaRPr b="0" i="0" sz="1300" u="none" cap="none" strike="noStrike">
              <a:solidFill>
                <a:schemeClr val="dk1"/>
              </a:solidFill>
              <a:latin typeface="Calibri"/>
              <a:ea typeface="Calibri"/>
              <a:cs typeface="Calibri"/>
              <a:sym typeface="Calibri"/>
            </a:endParaRPr>
          </a:p>
        </p:txBody>
      </p:sp>
      <p:sp>
        <p:nvSpPr>
          <p:cNvPr id="535" name="Google Shape;535;p18"/>
          <p:cNvSpPr/>
          <p:nvPr/>
        </p:nvSpPr>
        <p:spPr>
          <a:xfrm>
            <a:off x="3977640" y="3931920"/>
            <a:ext cx="7662672" cy="2167128"/>
          </a:xfrm>
          <a:prstGeom prst="roundRect">
            <a:avLst>
              <a:gd fmla="val 5063" name="adj"/>
            </a:avLst>
          </a:prstGeom>
          <a:solidFill>
            <a:srgbClr val="E4EF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p:nvPr/>
        </p:nvSpPr>
        <p:spPr>
          <a:xfrm>
            <a:off x="4206240" y="4041648"/>
            <a:ext cx="7223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600"/>
              <a:buFont typeface="Century Schoolbook"/>
              <a:buNone/>
            </a:pPr>
            <a:r>
              <a:rPr b="1" i="0" lang="en-US" sz="1600" u="none" cap="none" strike="noStrike">
                <a:solidFill>
                  <a:srgbClr val="2E7D74"/>
                </a:solidFill>
                <a:latin typeface="Century Schoolbook"/>
                <a:ea typeface="Century Schoolbook"/>
                <a:cs typeface="Century Schoolbook"/>
                <a:sym typeface="Century Schoolbook"/>
              </a:rPr>
              <a:t>Key findings</a:t>
            </a:r>
            <a:endParaRPr b="0" i="0" sz="1600" u="none" cap="none" strike="noStrike">
              <a:solidFill>
                <a:schemeClr val="dk1"/>
              </a:solidFill>
              <a:latin typeface="Calibri"/>
              <a:ea typeface="Calibri"/>
              <a:cs typeface="Calibri"/>
              <a:sym typeface="Calibri"/>
            </a:endParaRPr>
          </a:p>
        </p:txBody>
      </p:sp>
      <p:sp>
        <p:nvSpPr>
          <p:cNvPr id="537" name="Google Shape;537;p18"/>
          <p:cNvSpPr/>
          <p:nvPr/>
        </p:nvSpPr>
        <p:spPr>
          <a:xfrm>
            <a:off x="4251960" y="4480560"/>
            <a:ext cx="183000" cy="18300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8"/>
          <p:cNvSpPr/>
          <p:nvPr/>
        </p:nvSpPr>
        <p:spPr>
          <a:xfrm>
            <a:off x="4572000" y="4434840"/>
            <a:ext cx="68580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Unifying self-care and therapy is feasible behind one permission model — without merging the data</a:t>
            </a:r>
            <a:endParaRPr b="0" i="0" sz="1200" u="none" cap="none" strike="noStrike">
              <a:solidFill>
                <a:schemeClr val="dk1"/>
              </a:solidFill>
              <a:latin typeface="Calibri"/>
              <a:ea typeface="Calibri"/>
              <a:cs typeface="Calibri"/>
              <a:sym typeface="Calibri"/>
            </a:endParaRPr>
          </a:p>
        </p:txBody>
      </p:sp>
      <p:sp>
        <p:nvSpPr>
          <p:cNvPr id="539" name="Google Shape;539;p18"/>
          <p:cNvSpPr/>
          <p:nvPr/>
        </p:nvSpPr>
        <p:spPr>
          <a:xfrm>
            <a:off x="4251960" y="5010912"/>
            <a:ext cx="183000" cy="18300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8"/>
          <p:cNvSpPr/>
          <p:nvPr/>
        </p:nvSpPr>
        <p:spPr>
          <a:xfrm>
            <a:off x="4572000" y="4965192"/>
            <a:ext cx="68580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b="0" i="0" lang="en-US" sz="1200" u="none" cap="none" strike="noStrike">
                <a:solidFill>
                  <a:srgbClr val="1E2B29"/>
                </a:solidFill>
                <a:latin typeface="Calibri"/>
                <a:ea typeface="Calibri"/>
                <a:cs typeface="Calibri"/>
                <a:sym typeface="Calibri"/>
              </a:rPr>
              <a:t>Network-level trust between services is not enough — even internal callers must be gated</a:t>
            </a:r>
            <a:endParaRPr b="0" i="0" sz="1200" u="none" cap="none" strike="noStrike">
              <a:solidFill>
                <a:schemeClr val="dk1"/>
              </a:solidFill>
              <a:latin typeface="Calibri"/>
              <a:ea typeface="Calibri"/>
              <a:cs typeface="Calibri"/>
              <a:sym typeface="Calibri"/>
            </a:endParaRPr>
          </a:p>
        </p:txBody>
      </p:sp>
      <p:sp>
        <p:nvSpPr>
          <p:cNvPr id="541" name="Google Shape;541;p18"/>
          <p:cNvSpPr/>
          <p:nvPr/>
        </p:nvSpPr>
        <p:spPr>
          <a:xfrm>
            <a:off x="4251960" y="5541264"/>
            <a:ext cx="183000" cy="183000"/>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8"/>
          <p:cNvSpPr/>
          <p:nvPr/>
        </p:nvSpPr>
        <p:spPr>
          <a:xfrm>
            <a:off x="4572000" y="5495544"/>
            <a:ext cx="6858000" cy="50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200"/>
              <a:buFont typeface="Calibri"/>
              <a:buNone/>
            </a:pPr>
            <a:r>
              <a:rPr lang="en-US" sz="1200">
                <a:solidFill>
                  <a:srgbClr val="1E2B29"/>
                </a:solidFill>
                <a:latin typeface="Calibri"/>
                <a:ea typeface="Calibri"/>
                <a:cs typeface="Calibri"/>
                <a:sym typeface="Calibri"/>
              </a:rPr>
              <a:t>Grounding the AI in the user’s own data needs improvement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6"/>
        </a:solidFill>
      </p:bgPr>
    </p:bg>
    <p:spTree>
      <p:nvGrpSpPr>
        <p:cNvPr id="547" name="Shape 547"/>
        <p:cNvGrpSpPr/>
        <p:nvPr/>
      </p:nvGrpSpPr>
      <p:grpSpPr>
        <a:xfrm>
          <a:off x="0" y="0"/>
          <a:ext cx="0" cy="0"/>
          <a:chOff x="0" y="0"/>
          <a:chExt cx="0" cy="0"/>
        </a:xfrm>
      </p:grpSpPr>
      <p:sp>
        <p:nvSpPr>
          <p:cNvPr id="548" name="Google Shape;548;p19"/>
          <p:cNvSpPr/>
          <p:nvPr/>
        </p:nvSpPr>
        <p:spPr>
          <a:xfrm>
            <a:off x="548640" y="38404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74"/>
              </a:buClr>
              <a:buSzPts val="1200"/>
              <a:buFont typeface="Calibri"/>
              <a:buNone/>
            </a:pPr>
            <a:r>
              <a:rPr b="1" i="0" lang="en-US" sz="1200" u="none" cap="none" strike="noStrike">
                <a:solidFill>
                  <a:srgbClr val="2E7D74"/>
                </a:solidFill>
                <a:latin typeface="Calibri"/>
                <a:ea typeface="Calibri"/>
                <a:cs typeface="Calibri"/>
                <a:sym typeface="Calibri"/>
              </a:rPr>
              <a:t>LIMITATIONS &amp; FUTURE WORK</a:t>
            </a:r>
            <a:endParaRPr b="0" i="0" sz="1200" u="none" cap="none" strike="noStrike">
              <a:solidFill>
                <a:schemeClr val="dk1"/>
              </a:solidFill>
              <a:latin typeface="Calibri"/>
              <a:ea typeface="Calibri"/>
              <a:cs typeface="Calibri"/>
              <a:sym typeface="Calibri"/>
            </a:endParaRPr>
          </a:p>
        </p:txBody>
      </p:sp>
      <p:sp>
        <p:nvSpPr>
          <p:cNvPr id="549" name="Google Shape;549;p19"/>
          <p:cNvSpPr/>
          <p:nvPr/>
        </p:nvSpPr>
        <p:spPr>
          <a:xfrm>
            <a:off x="548640" y="640080"/>
            <a:ext cx="96926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3000"/>
              <a:buFont typeface="Century Schoolbook"/>
              <a:buNone/>
            </a:pPr>
            <a:r>
              <a:rPr b="1" i="0" lang="en-US" sz="3000" u="none" cap="none" strike="noStrike">
                <a:solidFill>
                  <a:srgbClr val="1E2B29"/>
                </a:solidFill>
                <a:latin typeface="Century Schoolbook"/>
                <a:ea typeface="Century Schoolbook"/>
                <a:cs typeface="Century Schoolbook"/>
                <a:sym typeface="Century Schoolbook"/>
              </a:rPr>
              <a:t>An honest prototype, and where it goes next</a:t>
            </a:r>
            <a:endParaRPr b="0" i="0" sz="3000" u="none" cap="none" strike="noStrike">
              <a:solidFill>
                <a:schemeClr val="dk1"/>
              </a:solidFill>
              <a:latin typeface="Calibri"/>
              <a:ea typeface="Calibri"/>
              <a:cs typeface="Calibri"/>
              <a:sym typeface="Calibri"/>
            </a:endParaRPr>
          </a:p>
        </p:txBody>
      </p:sp>
      <p:sp>
        <p:nvSpPr>
          <p:cNvPr id="550" name="Google Shape;550;p19"/>
          <p:cNvSpPr/>
          <p:nvPr/>
        </p:nvSpPr>
        <p:spPr>
          <a:xfrm>
            <a:off x="343500" y="1280150"/>
            <a:ext cx="5285100" cy="5262300"/>
          </a:xfrm>
          <a:prstGeom prst="roundRect">
            <a:avLst>
              <a:gd fmla="val 2449" name="adj"/>
            </a:avLst>
          </a:prstGeom>
          <a:solidFill>
            <a:srgbClr val="FFFFFF"/>
          </a:solidFill>
          <a:ln cap="flat" cmpd="sng" w="12700">
            <a:solidFill>
              <a:srgbClr val="E7ECEA"/>
            </a:solidFill>
            <a:prstDash val="solid"/>
            <a:round/>
            <a:headEnd len="sm" w="sm" type="none"/>
            <a:tailEnd len="sm" w="sm" type="none"/>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9"/>
          <p:cNvSpPr/>
          <p:nvPr/>
        </p:nvSpPr>
        <p:spPr>
          <a:xfrm>
            <a:off x="617810" y="1504408"/>
            <a:ext cx="713100" cy="713100"/>
          </a:xfrm>
          <a:prstGeom prst="ellipse">
            <a:avLst/>
          </a:prstGeom>
          <a:solidFill>
            <a:srgbClr val="FBEB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2" name="Google Shape;552;p19"/>
          <p:cNvPicPr preferRelativeResize="0"/>
          <p:nvPr/>
        </p:nvPicPr>
        <p:blipFill rotWithShape="1">
          <a:blip r:embed="rId3">
            <a:alphaModFix/>
          </a:blip>
          <a:srcRect b="0" l="0" r="0" t="0"/>
          <a:stretch/>
        </p:blipFill>
        <p:spPr>
          <a:xfrm>
            <a:off x="788986" y="1675584"/>
            <a:ext cx="370881" cy="370881"/>
          </a:xfrm>
          <a:prstGeom prst="rect">
            <a:avLst/>
          </a:prstGeom>
          <a:noFill/>
          <a:ln>
            <a:noFill/>
          </a:ln>
        </p:spPr>
      </p:pic>
      <p:sp>
        <p:nvSpPr>
          <p:cNvPr id="553" name="Google Shape;553;p19"/>
          <p:cNvSpPr/>
          <p:nvPr/>
        </p:nvSpPr>
        <p:spPr>
          <a:xfrm>
            <a:off x="1459058" y="1550128"/>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B29"/>
              </a:buClr>
              <a:buSzPts val="1800"/>
              <a:buFont typeface="Century Schoolbook"/>
              <a:buNone/>
            </a:pPr>
            <a:r>
              <a:rPr b="1" i="0" lang="en-US" sz="1800" u="none" cap="none" strike="noStrike">
                <a:solidFill>
                  <a:srgbClr val="1E2B29"/>
                </a:solidFill>
                <a:latin typeface="Century Schoolbook"/>
                <a:ea typeface="Century Schoolbook"/>
                <a:cs typeface="Century Schoolbook"/>
                <a:sym typeface="Century Schoolbook"/>
              </a:rPr>
              <a:t>Limitations</a:t>
            </a:r>
            <a:endParaRPr b="0" i="0" sz="1800" u="none" cap="none" strike="noStrike">
              <a:solidFill>
                <a:schemeClr val="dk1"/>
              </a:solidFill>
              <a:latin typeface="Calibri"/>
              <a:ea typeface="Calibri"/>
              <a:cs typeface="Calibri"/>
              <a:sym typeface="Calibri"/>
            </a:endParaRPr>
          </a:p>
        </p:txBody>
      </p:sp>
      <p:sp>
        <p:nvSpPr>
          <p:cNvPr id="554" name="Google Shape;554;p19"/>
          <p:cNvSpPr/>
          <p:nvPr/>
        </p:nvSpPr>
        <p:spPr>
          <a:xfrm>
            <a:off x="709250" y="2373088"/>
            <a:ext cx="4800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i="0" lang="en-US" sz="1300" u="none" cap="none" strike="noStrike">
                <a:solidFill>
                  <a:srgbClr val="1E2B29"/>
                </a:solidFill>
                <a:latin typeface="Calibri"/>
                <a:ea typeface="Calibri"/>
                <a:cs typeface="Calibri"/>
                <a:sym typeface="Calibri"/>
              </a:rPr>
              <a:t>A software thesis, not a clinical study</a:t>
            </a:r>
            <a:br>
              <a:rPr b="1" i="0" lang="en-US" sz="1300" u="none" cap="none" strike="noStrike">
                <a:solidFill>
                  <a:srgbClr val="1E2B29"/>
                </a:solidFill>
                <a:latin typeface="Calibri"/>
                <a:ea typeface="Calibri"/>
                <a:cs typeface="Calibri"/>
                <a:sym typeface="Calibri"/>
              </a:rPr>
            </a:br>
            <a:r>
              <a:rPr b="0" i="0" lang="en-US" sz="1150" u="none" cap="none" strike="noStrike">
                <a:solidFill>
                  <a:srgbClr val="62726F"/>
                </a:solidFill>
                <a:latin typeface="Calibri"/>
                <a:ea typeface="Calibri"/>
                <a:cs typeface="Calibri"/>
                <a:sym typeface="Calibri"/>
              </a:rPr>
              <a:t>no claims about clinical efficacy; clinical-judgment features excluded</a:t>
            </a:r>
            <a:endParaRPr b="0" i="0" sz="1300" u="none" cap="none" strike="noStrike">
              <a:solidFill>
                <a:schemeClr val="dk1"/>
              </a:solidFill>
              <a:latin typeface="Calibri"/>
              <a:ea typeface="Calibri"/>
              <a:cs typeface="Calibri"/>
              <a:sym typeface="Calibri"/>
            </a:endParaRPr>
          </a:p>
        </p:txBody>
      </p:sp>
      <p:sp>
        <p:nvSpPr>
          <p:cNvPr id="555" name="Google Shape;555;p19"/>
          <p:cNvSpPr/>
          <p:nvPr/>
        </p:nvSpPr>
        <p:spPr>
          <a:xfrm>
            <a:off x="709250" y="3196048"/>
            <a:ext cx="4800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i="0" lang="en-US" sz="1300" u="none" cap="none" strike="noStrike">
                <a:solidFill>
                  <a:srgbClr val="1E2B29"/>
                </a:solidFill>
                <a:latin typeface="Calibri"/>
                <a:ea typeface="Calibri"/>
                <a:cs typeface="Calibri"/>
                <a:sym typeface="Calibri"/>
              </a:rPr>
              <a:t>Internal audit, not third-party pen-test</a:t>
            </a:r>
            <a:br>
              <a:rPr b="1" i="0" lang="en-US" sz="1300" u="none" cap="none" strike="noStrike">
                <a:solidFill>
                  <a:srgbClr val="1E2B29"/>
                </a:solidFill>
                <a:latin typeface="Calibri"/>
                <a:ea typeface="Calibri"/>
                <a:cs typeface="Calibri"/>
                <a:sym typeface="Calibri"/>
              </a:rPr>
            </a:br>
            <a:r>
              <a:rPr b="0" i="0" lang="en-US" sz="1150" u="none" cap="none" strike="noStrike">
                <a:solidFill>
                  <a:srgbClr val="62726F"/>
                </a:solidFill>
                <a:latin typeface="Calibri"/>
                <a:ea typeface="Calibri"/>
                <a:cs typeface="Calibri"/>
                <a:sym typeface="Calibri"/>
              </a:rPr>
              <a:t>a structured hardening pass, not a certification</a:t>
            </a:r>
            <a:endParaRPr b="0" i="0" sz="1300" u="none" cap="none" strike="noStrike">
              <a:solidFill>
                <a:schemeClr val="dk1"/>
              </a:solidFill>
              <a:latin typeface="Calibri"/>
              <a:ea typeface="Calibri"/>
              <a:cs typeface="Calibri"/>
              <a:sym typeface="Calibri"/>
            </a:endParaRPr>
          </a:p>
        </p:txBody>
      </p:sp>
      <p:sp>
        <p:nvSpPr>
          <p:cNvPr id="556" name="Google Shape;556;p19"/>
          <p:cNvSpPr/>
          <p:nvPr/>
        </p:nvSpPr>
        <p:spPr>
          <a:xfrm>
            <a:off x="709250" y="4019008"/>
            <a:ext cx="4800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i="0" lang="en-US" sz="1300" u="none" cap="none" strike="noStrike">
                <a:solidFill>
                  <a:srgbClr val="1E2B29"/>
                </a:solidFill>
                <a:latin typeface="Calibri"/>
                <a:ea typeface="Calibri"/>
                <a:cs typeface="Calibri"/>
                <a:sym typeface="Calibri"/>
              </a:rPr>
              <a:t>Single-VM deployment</a:t>
            </a:r>
            <a:br>
              <a:rPr b="1" i="0" lang="en-US" sz="1300" u="none" cap="none" strike="noStrike">
                <a:solidFill>
                  <a:srgbClr val="1E2B29"/>
                </a:solidFill>
                <a:latin typeface="Calibri"/>
                <a:ea typeface="Calibri"/>
                <a:cs typeface="Calibri"/>
                <a:sym typeface="Calibri"/>
              </a:rPr>
            </a:br>
            <a:r>
              <a:rPr b="0" i="0" lang="en-US" sz="1150" u="none" cap="none" strike="noStrike">
                <a:solidFill>
                  <a:srgbClr val="62726F"/>
                </a:solidFill>
                <a:latin typeface="Calibri"/>
                <a:ea typeface="Calibri"/>
                <a:cs typeface="Calibri"/>
                <a:sym typeface="Calibri"/>
              </a:rPr>
              <a:t>not load-tested at production scale</a:t>
            </a:r>
            <a:endParaRPr b="0" i="0" sz="1300" u="none" cap="none" strike="noStrike">
              <a:solidFill>
                <a:schemeClr val="dk1"/>
              </a:solidFill>
              <a:latin typeface="Calibri"/>
              <a:ea typeface="Calibri"/>
              <a:cs typeface="Calibri"/>
              <a:sym typeface="Calibri"/>
            </a:endParaRPr>
          </a:p>
        </p:txBody>
      </p:sp>
      <p:sp>
        <p:nvSpPr>
          <p:cNvPr id="557" name="Google Shape;557;p19"/>
          <p:cNvSpPr/>
          <p:nvPr/>
        </p:nvSpPr>
        <p:spPr>
          <a:xfrm>
            <a:off x="709250" y="4841968"/>
            <a:ext cx="4800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i="0" lang="en-US" sz="1300" u="none" cap="none" strike="noStrike">
                <a:solidFill>
                  <a:srgbClr val="1E2B29"/>
                </a:solidFill>
                <a:latin typeface="Calibri"/>
                <a:ea typeface="Calibri"/>
                <a:cs typeface="Calibri"/>
                <a:sym typeface="Calibri"/>
              </a:rPr>
              <a:t>Scoped out by design</a:t>
            </a:r>
            <a:br>
              <a:rPr b="1" i="0" lang="en-US" sz="1300" u="none" cap="none" strike="noStrike">
                <a:solidFill>
                  <a:srgbClr val="1E2B29"/>
                </a:solidFill>
                <a:latin typeface="Calibri"/>
                <a:ea typeface="Calibri"/>
                <a:cs typeface="Calibri"/>
                <a:sym typeface="Calibri"/>
              </a:rPr>
            </a:br>
            <a:r>
              <a:rPr b="0" i="0" lang="en-US" sz="1150" u="none" cap="none" strike="noStrike">
                <a:solidFill>
                  <a:srgbClr val="62726F"/>
                </a:solidFill>
                <a:latin typeface="Calibri"/>
                <a:ea typeface="Calibri"/>
                <a:cs typeface="Calibri"/>
                <a:sym typeface="Calibri"/>
              </a:rPr>
              <a:t>legal/compliance, dispute resolution, monetization, automated risk detection</a:t>
            </a:r>
            <a:endParaRPr b="0" i="0" sz="1300" u="none" cap="none" strike="noStrike">
              <a:solidFill>
                <a:schemeClr val="dk1"/>
              </a:solidFill>
              <a:latin typeface="Calibri"/>
              <a:ea typeface="Calibri"/>
              <a:cs typeface="Calibri"/>
              <a:sym typeface="Calibri"/>
            </a:endParaRPr>
          </a:p>
        </p:txBody>
      </p:sp>
      <p:sp>
        <p:nvSpPr>
          <p:cNvPr id="558" name="Google Shape;558;p19"/>
          <p:cNvSpPr/>
          <p:nvPr/>
        </p:nvSpPr>
        <p:spPr>
          <a:xfrm>
            <a:off x="6355080" y="1600200"/>
            <a:ext cx="5285232" cy="4480560"/>
          </a:xfrm>
          <a:prstGeom prst="roundRect">
            <a:avLst>
              <a:gd fmla="val 2449" name="adj"/>
            </a:avLst>
          </a:prstGeom>
          <a:solidFill>
            <a:srgbClr val="12403C"/>
          </a:solidFill>
          <a:ln>
            <a:noFill/>
          </a:ln>
          <a:effectLst>
            <a:outerShdw blurRad="101600" rotWithShape="0" algn="bl" dir="5400000" dist="38100">
              <a:srgbClr val="8FA69F">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9"/>
          <p:cNvSpPr/>
          <p:nvPr/>
        </p:nvSpPr>
        <p:spPr>
          <a:xfrm>
            <a:off x="6629400" y="1874520"/>
            <a:ext cx="713232" cy="713232"/>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0" name="Google Shape;560;p19"/>
          <p:cNvPicPr preferRelativeResize="0"/>
          <p:nvPr/>
        </p:nvPicPr>
        <p:blipFill rotWithShape="1">
          <a:blip r:embed="rId4">
            <a:alphaModFix/>
          </a:blip>
          <a:srcRect b="0" l="0" r="0" t="0"/>
          <a:stretch/>
        </p:blipFill>
        <p:spPr>
          <a:xfrm>
            <a:off x="6800576" y="2045696"/>
            <a:ext cx="370881" cy="370881"/>
          </a:xfrm>
          <a:prstGeom prst="rect">
            <a:avLst/>
          </a:prstGeom>
          <a:noFill/>
          <a:ln>
            <a:noFill/>
          </a:ln>
        </p:spPr>
      </p:pic>
      <p:sp>
        <p:nvSpPr>
          <p:cNvPr id="561" name="Google Shape;561;p19"/>
          <p:cNvSpPr/>
          <p:nvPr/>
        </p:nvSpPr>
        <p:spPr>
          <a:xfrm>
            <a:off x="7470648" y="1920240"/>
            <a:ext cx="39319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entury Schoolbook"/>
              <a:buNone/>
            </a:pPr>
            <a:r>
              <a:rPr b="1" i="0" lang="en-US" sz="1800" u="none" cap="none" strike="noStrike">
                <a:solidFill>
                  <a:srgbClr val="FFFFFF"/>
                </a:solidFill>
                <a:latin typeface="Century Schoolbook"/>
                <a:ea typeface="Century Schoolbook"/>
                <a:cs typeface="Century Schoolbook"/>
                <a:sym typeface="Century Schoolbook"/>
              </a:rPr>
              <a:t>Future Work</a:t>
            </a:r>
            <a:endParaRPr b="0" i="0" sz="1800" u="none" cap="none" strike="noStrike">
              <a:solidFill>
                <a:schemeClr val="dk1"/>
              </a:solidFill>
              <a:latin typeface="Calibri"/>
              <a:ea typeface="Calibri"/>
              <a:cs typeface="Calibri"/>
              <a:sym typeface="Calibri"/>
            </a:endParaRPr>
          </a:p>
        </p:txBody>
      </p:sp>
      <p:sp>
        <p:nvSpPr>
          <p:cNvPr id="562" name="Google Shape;562;p19"/>
          <p:cNvSpPr/>
          <p:nvPr/>
        </p:nvSpPr>
        <p:spPr>
          <a:xfrm>
            <a:off x="6675120" y="2816352"/>
            <a:ext cx="310896" cy="310896"/>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9"/>
          <p:cNvSpPr/>
          <p:nvPr/>
        </p:nvSpPr>
        <p:spPr>
          <a:xfrm>
            <a:off x="6675120" y="2816352"/>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64" name="Google Shape;564;p19"/>
          <p:cNvSpPr/>
          <p:nvPr/>
        </p:nvSpPr>
        <p:spPr>
          <a:xfrm>
            <a:off x="7132320" y="2761488"/>
            <a:ext cx="4297680" cy="960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Clinical collaboration</a:t>
            </a:r>
            <a:br>
              <a:rPr b="1" i="0" lang="en-US" sz="1350" u="none" cap="none" strike="noStrike">
                <a:solidFill>
                  <a:srgbClr val="84B59F"/>
                </a:solidFill>
                <a:latin typeface="Calibri"/>
                <a:ea typeface="Calibri"/>
                <a:cs typeface="Calibri"/>
                <a:sym typeface="Calibri"/>
              </a:rPr>
            </a:br>
            <a:r>
              <a:rPr b="0" i="0" lang="en-US" sz="1150" u="none" cap="none" strike="noStrike">
                <a:solidFill>
                  <a:srgbClr val="DCEBE6"/>
                </a:solidFill>
                <a:latin typeface="Calibri"/>
                <a:ea typeface="Calibri"/>
                <a:cs typeface="Calibri"/>
                <a:sym typeface="Calibri"/>
              </a:rPr>
              <a:t>the prerequisite for any safety feature acting on self-reported data — e.g. automated risk detection</a:t>
            </a:r>
            <a:endParaRPr b="0" i="0" sz="1350" u="none" cap="none" strike="noStrike">
              <a:solidFill>
                <a:schemeClr val="dk1"/>
              </a:solidFill>
              <a:latin typeface="Calibri"/>
              <a:ea typeface="Calibri"/>
              <a:cs typeface="Calibri"/>
              <a:sym typeface="Calibri"/>
            </a:endParaRPr>
          </a:p>
        </p:txBody>
      </p:sp>
      <p:sp>
        <p:nvSpPr>
          <p:cNvPr id="565" name="Google Shape;565;p19"/>
          <p:cNvSpPr/>
          <p:nvPr/>
        </p:nvSpPr>
        <p:spPr>
          <a:xfrm>
            <a:off x="6675120" y="3867912"/>
            <a:ext cx="310896" cy="310896"/>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9"/>
          <p:cNvSpPr/>
          <p:nvPr/>
        </p:nvSpPr>
        <p:spPr>
          <a:xfrm>
            <a:off x="6675120" y="3867912"/>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67" name="Google Shape;567;p19"/>
          <p:cNvSpPr/>
          <p:nvPr/>
        </p:nvSpPr>
        <p:spPr>
          <a:xfrm>
            <a:off x="7132320" y="3813048"/>
            <a:ext cx="4297680" cy="960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Broader safety features</a:t>
            </a:r>
            <a:br>
              <a:rPr b="1" i="0" lang="en-US" sz="1350" u="none" cap="none" strike="noStrike">
                <a:solidFill>
                  <a:srgbClr val="84B59F"/>
                </a:solidFill>
                <a:latin typeface="Calibri"/>
                <a:ea typeface="Calibri"/>
                <a:cs typeface="Calibri"/>
                <a:sym typeface="Calibri"/>
              </a:rPr>
            </a:br>
            <a:r>
              <a:rPr b="0" i="0" lang="en-US" sz="1150" u="none" cap="none" strike="noStrike">
                <a:solidFill>
                  <a:srgbClr val="DCEBE6"/>
                </a:solidFill>
                <a:latin typeface="Calibri"/>
                <a:ea typeface="Calibri"/>
                <a:cs typeface="Calibri"/>
                <a:sym typeface="Calibri"/>
              </a:rPr>
              <a:t>guardian-visibility controls; clinical review of the AI in sensitive conversations</a:t>
            </a:r>
            <a:endParaRPr b="0" i="0" sz="1350" u="none" cap="none" strike="noStrike">
              <a:solidFill>
                <a:schemeClr val="dk1"/>
              </a:solidFill>
              <a:latin typeface="Calibri"/>
              <a:ea typeface="Calibri"/>
              <a:cs typeface="Calibri"/>
              <a:sym typeface="Calibri"/>
            </a:endParaRPr>
          </a:p>
        </p:txBody>
      </p:sp>
      <p:sp>
        <p:nvSpPr>
          <p:cNvPr id="568" name="Google Shape;568;p19"/>
          <p:cNvSpPr/>
          <p:nvPr/>
        </p:nvSpPr>
        <p:spPr>
          <a:xfrm>
            <a:off x="6675120" y="4919472"/>
            <a:ext cx="310896" cy="310896"/>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9"/>
          <p:cNvSpPr/>
          <p:nvPr/>
        </p:nvSpPr>
        <p:spPr>
          <a:xfrm>
            <a:off x="6675120" y="4919472"/>
            <a:ext cx="310896"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70" name="Google Shape;570;p19"/>
          <p:cNvSpPr/>
          <p:nvPr/>
        </p:nvSpPr>
        <p:spPr>
          <a:xfrm>
            <a:off x="7132320" y="4864608"/>
            <a:ext cx="4297680" cy="960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4B59F"/>
              </a:buClr>
              <a:buSzPts val="1350"/>
              <a:buFont typeface="Calibri"/>
              <a:buNone/>
            </a:pPr>
            <a:r>
              <a:rPr b="1" i="0" lang="en-US" sz="1350" u="none" cap="none" strike="noStrike">
                <a:solidFill>
                  <a:srgbClr val="84B59F"/>
                </a:solidFill>
                <a:latin typeface="Calibri"/>
                <a:ea typeface="Calibri"/>
                <a:cs typeface="Calibri"/>
                <a:sym typeface="Calibri"/>
              </a:rPr>
              <a:t>Operational maturity</a:t>
            </a:r>
            <a:br>
              <a:rPr b="1" i="0" lang="en-US" sz="1350" u="none" cap="none" strike="noStrike">
                <a:solidFill>
                  <a:srgbClr val="84B59F"/>
                </a:solidFill>
                <a:latin typeface="Calibri"/>
                <a:ea typeface="Calibri"/>
                <a:cs typeface="Calibri"/>
                <a:sym typeface="Calibri"/>
              </a:rPr>
            </a:br>
            <a:r>
              <a:rPr b="0" i="0" lang="en-US" sz="1150" u="none" cap="none" strike="noStrike">
                <a:solidFill>
                  <a:srgbClr val="DCEBE6"/>
                </a:solidFill>
                <a:latin typeface="Calibri"/>
                <a:ea typeface="Calibri"/>
                <a:cs typeface="Calibri"/>
                <a:sym typeface="Calibri"/>
              </a:rPr>
              <a:t>independent security review, load &amp; scalability testing, multi-instance / managed-DB topology</a:t>
            </a:r>
            <a:endParaRPr b="0" i="0" sz="1350" u="none" cap="none" strike="noStrike">
              <a:solidFill>
                <a:schemeClr val="dk1"/>
              </a:solidFill>
              <a:latin typeface="Calibri"/>
              <a:ea typeface="Calibri"/>
              <a:cs typeface="Calibri"/>
              <a:sym typeface="Calibri"/>
            </a:endParaRPr>
          </a:p>
        </p:txBody>
      </p:sp>
      <p:sp>
        <p:nvSpPr>
          <p:cNvPr id="571" name="Google Shape;571;p19"/>
          <p:cNvSpPr/>
          <p:nvPr/>
        </p:nvSpPr>
        <p:spPr>
          <a:xfrm>
            <a:off x="709250" y="5539543"/>
            <a:ext cx="48006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B29"/>
              </a:buClr>
              <a:buSzPts val="1300"/>
              <a:buFont typeface="Calibri"/>
              <a:buNone/>
            </a:pPr>
            <a:r>
              <a:rPr b="1" lang="en-US" sz="1300">
                <a:solidFill>
                  <a:srgbClr val="1E2B29"/>
                </a:solidFill>
                <a:latin typeface="Calibri"/>
                <a:ea typeface="Calibri"/>
                <a:cs typeface="Calibri"/>
                <a:sym typeface="Calibri"/>
              </a:rPr>
              <a:t>Small, self-selected trial group</a:t>
            </a:r>
            <a:br>
              <a:rPr b="1" i="0" lang="en-US" sz="1300" u="none" cap="none" strike="noStrike">
                <a:solidFill>
                  <a:srgbClr val="1E2B29"/>
                </a:solidFill>
                <a:latin typeface="Calibri"/>
                <a:ea typeface="Calibri"/>
                <a:cs typeface="Calibri"/>
                <a:sym typeface="Calibri"/>
              </a:rPr>
            </a:br>
            <a:r>
              <a:rPr lang="en-US" sz="1150">
                <a:solidFill>
                  <a:srgbClr val="62726F"/>
                </a:solidFill>
                <a:latin typeface="Calibri"/>
                <a:ea typeface="Calibri"/>
                <a:cs typeface="Calibri"/>
                <a:sym typeface="Calibri"/>
              </a:rPr>
              <a:t>7 university-age participants from our own circle; no secondary-school users, so findings are qualitative only.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403C"/>
        </a:solidFill>
      </p:bgPr>
    </p:bg>
    <p:spTree>
      <p:nvGrpSpPr>
        <p:cNvPr id="576" name="Shape 576"/>
        <p:cNvGrpSpPr/>
        <p:nvPr/>
      </p:nvGrpSpPr>
      <p:grpSpPr>
        <a:xfrm>
          <a:off x="0" y="0"/>
          <a:ext cx="0" cy="0"/>
          <a:chOff x="0" y="0"/>
          <a:chExt cx="0" cy="0"/>
        </a:xfrm>
      </p:grpSpPr>
      <p:sp>
        <p:nvSpPr>
          <p:cNvPr id="577" name="Google Shape;577;p20"/>
          <p:cNvSpPr/>
          <p:nvPr/>
        </p:nvSpPr>
        <p:spPr>
          <a:xfrm>
            <a:off x="-1463040" y="-1554480"/>
            <a:ext cx="4206240" cy="4206240"/>
          </a:xfrm>
          <a:prstGeom prst="ellipse">
            <a:avLst/>
          </a:prstGeom>
          <a:solidFill>
            <a:srgbClr val="2E7D74">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0"/>
          <p:cNvSpPr/>
          <p:nvPr/>
        </p:nvSpPr>
        <p:spPr>
          <a:xfrm>
            <a:off x="10424160" y="4206240"/>
            <a:ext cx="3474720" cy="3474720"/>
          </a:xfrm>
          <a:prstGeom prst="ellipse">
            <a:avLst/>
          </a:prstGeom>
          <a:solidFill>
            <a:srgbClr val="84B59F">
              <a:alpha val="3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777240" y="777240"/>
            <a:ext cx="731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1400"/>
              <a:buFont typeface="Calibri"/>
              <a:buNone/>
            </a:pPr>
            <a:r>
              <a:rPr b="1" i="0" lang="en-US" sz="1400" u="none" cap="none" strike="noStrike">
                <a:solidFill>
                  <a:srgbClr val="84B59F"/>
                </a:solidFill>
                <a:latin typeface="Calibri"/>
                <a:ea typeface="Calibri"/>
                <a:cs typeface="Calibri"/>
                <a:sym typeface="Calibri"/>
              </a:rPr>
              <a:t>Conclusion</a:t>
            </a:r>
            <a:endParaRPr b="0" i="0" sz="1400" u="none" cap="none" strike="noStrike">
              <a:solidFill>
                <a:schemeClr val="dk1"/>
              </a:solidFill>
              <a:latin typeface="Calibri"/>
              <a:ea typeface="Calibri"/>
              <a:cs typeface="Calibri"/>
              <a:sym typeface="Calibri"/>
            </a:endParaRPr>
          </a:p>
        </p:txBody>
      </p:sp>
      <p:sp>
        <p:nvSpPr>
          <p:cNvPr id="580" name="Google Shape;580;p20"/>
          <p:cNvSpPr/>
          <p:nvPr/>
        </p:nvSpPr>
        <p:spPr>
          <a:xfrm>
            <a:off x="777240" y="1371600"/>
            <a:ext cx="1060704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3000"/>
              <a:buFont typeface="Century Schoolbook"/>
              <a:buNone/>
            </a:pPr>
            <a:r>
              <a:rPr b="1" i="0" lang="en-US" sz="3000" u="none" cap="none" strike="noStrike">
                <a:solidFill>
                  <a:srgbClr val="FFFFFF"/>
                </a:solidFill>
                <a:latin typeface="Century Schoolbook"/>
                <a:ea typeface="Century Schoolbook"/>
                <a:cs typeface="Century Schoolbook"/>
                <a:sym typeface="Century Schoolbook"/>
              </a:rPr>
              <a:t>A single, security-conscious platform can serve</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000"/>
              <a:buFont typeface="Century Schoolbook"/>
              <a:buNone/>
            </a:pPr>
            <a:r>
              <a:rPr b="1" i="0" lang="en-US" sz="3000" u="none" cap="none" strike="noStrike">
                <a:solidFill>
                  <a:srgbClr val="FFFFFF"/>
                </a:solidFill>
                <a:latin typeface="Century Schoolbook"/>
                <a:ea typeface="Century Schoolbook"/>
                <a:cs typeface="Century Schoolbook"/>
                <a:sym typeface="Century Schoolbook"/>
              </a:rPr>
              <a:t>both sides of adolescent mental-health support.</a:t>
            </a:r>
            <a:endParaRPr b="0" i="0" sz="3000" u="none" cap="none" strike="noStrike">
              <a:solidFill>
                <a:schemeClr val="dk1"/>
              </a:solidFill>
              <a:latin typeface="Calibri"/>
              <a:ea typeface="Calibri"/>
              <a:cs typeface="Calibri"/>
              <a:sym typeface="Calibri"/>
            </a:endParaRPr>
          </a:p>
        </p:txBody>
      </p:sp>
      <p:sp>
        <p:nvSpPr>
          <p:cNvPr id="581" name="Google Shape;581;p20"/>
          <p:cNvSpPr/>
          <p:nvPr/>
        </p:nvSpPr>
        <p:spPr>
          <a:xfrm>
            <a:off x="822960" y="3063240"/>
            <a:ext cx="384048" cy="384048"/>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2" name="Google Shape;582;p20"/>
          <p:cNvPicPr preferRelativeResize="0"/>
          <p:nvPr/>
        </p:nvPicPr>
        <p:blipFill rotWithShape="1">
          <a:blip r:embed="rId3">
            <a:alphaModFix/>
          </a:blip>
          <a:srcRect b="0" l="0" r="0" t="0"/>
          <a:stretch/>
        </p:blipFill>
        <p:spPr>
          <a:xfrm>
            <a:off x="915132" y="3155412"/>
            <a:ext cx="199705" cy="199705"/>
          </a:xfrm>
          <a:prstGeom prst="rect">
            <a:avLst/>
          </a:prstGeom>
          <a:noFill/>
          <a:ln>
            <a:noFill/>
          </a:ln>
        </p:spPr>
      </p:pic>
      <p:sp>
        <p:nvSpPr>
          <p:cNvPr id="583" name="Google Shape;583;p20"/>
          <p:cNvSpPr/>
          <p:nvPr/>
        </p:nvSpPr>
        <p:spPr>
          <a:xfrm>
            <a:off x="1371600" y="3063240"/>
            <a:ext cx="10058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FEA"/>
              </a:buClr>
              <a:buSzPts val="1450"/>
              <a:buFont typeface="Calibri"/>
              <a:buNone/>
            </a:pPr>
            <a:r>
              <a:rPr b="0" i="0" lang="en-US" sz="1450" u="none" cap="none" strike="noStrike">
                <a:solidFill>
                  <a:srgbClr val="E4EFEA"/>
                </a:solidFill>
                <a:latin typeface="Calibri"/>
                <a:ea typeface="Calibri"/>
                <a:cs typeface="Calibri"/>
                <a:sym typeface="Calibri"/>
              </a:rPr>
              <a:t>Unified: tracking + AI + peer/family + therapy in one journey</a:t>
            </a:r>
            <a:endParaRPr b="0" i="0" sz="1450" u="none" cap="none" strike="noStrike">
              <a:solidFill>
                <a:schemeClr val="dk1"/>
              </a:solidFill>
              <a:latin typeface="Calibri"/>
              <a:ea typeface="Calibri"/>
              <a:cs typeface="Calibri"/>
              <a:sym typeface="Calibri"/>
            </a:endParaRPr>
          </a:p>
        </p:txBody>
      </p:sp>
      <p:sp>
        <p:nvSpPr>
          <p:cNvPr id="584" name="Google Shape;584;p20"/>
          <p:cNvSpPr/>
          <p:nvPr/>
        </p:nvSpPr>
        <p:spPr>
          <a:xfrm>
            <a:off x="822960" y="3630168"/>
            <a:ext cx="384048" cy="384048"/>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5" name="Google Shape;585;p20"/>
          <p:cNvPicPr preferRelativeResize="0"/>
          <p:nvPr/>
        </p:nvPicPr>
        <p:blipFill rotWithShape="1">
          <a:blip r:embed="rId3">
            <a:alphaModFix/>
          </a:blip>
          <a:srcRect b="0" l="0" r="0" t="0"/>
          <a:stretch/>
        </p:blipFill>
        <p:spPr>
          <a:xfrm>
            <a:off x="915132" y="3722340"/>
            <a:ext cx="199705" cy="199705"/>
          </a:xfrm>
          <a:prstGeom prst="rect">
            <a:avLst/>
          </a:prstGeom>
          <a:noFill/>
          <a:ln>
            <a:noFill/>
          </a:ln>
        </p:spPr>
      </p:pic>
      <p:sp>
        <p:nvSpPr>
          <p:cNvPr id="586" name="Google Shape;586;p20"/>
          <p:cNvSpPr/>
          <p:nvPr/>
        </p:nvSpPr>
        <p:spPr>
          <a:xfrm>
            <a:off x="1371600" y="3630168"/>
            <a:ext cx="10058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FEA"/>
              </a:buClr>
              <a:buSzPts val="1450"/>
              <a:buFont typeface="Calibri"/>
              <a:buNone/>
            </a:pPr>
            <a:r>
              <a:rPr b="0" i="0" lang="en-US" sz="1450" u="none" cap="none" strike="noStrike">
                <a:solidFill>
                  <a:srgbClr val="E4EFEA"/>
                </a:solidFill>
                <a:latin typeface="Calibri"/>
                <a:ea typeface="Calibri"/>
                <a:cs typeface="Calibri"/>
                <a:sym typeface="Calibri"/>
              </a:rPr>
              <a:t>Consent-first: nothing shared by default, revocable, server-enforced</a:t>
            </a:r>
            <a:endParaRPr b="0" i="0" sz="1450" u="none" cap="none" strike="noStrike">
              <a:solidFill>
                <a:schemeClr val="dk1"/>
              </a:solidFill>
              <a:latin typeface="Calibri"/>
              <a:ea typeface="Calibri"/>
              <a:cs typeface="Calibri"/>
              <a:sym typeface="Calibri"/>
            </a:endParaRPr>
          </a:p>
        </p:txBody>
      </p:sp>
      <p:sp>
        <p:nvSpPr>
          <p:cNvPr id="587" name="Google Shape;587;p20"/>
          <p:cNvSpPr/>
          <p:nvPr/>
        </p:nvSpPr>
        <p:spPr>
          <a:xfrm>
            <a:off x="822960" y="4197096"/>
            <a:ext cx="384048" cy="384048"/>
          </a:xfrm>
          <a:prstGeom prst="ellipse">
            <a:avLst/>
          </a:prstGeom>
          <a:solidFill>
            <a:srgbClr val="2E7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8" name="Google Shape;588;p20"/>
          <p:cNvPicPr preferRelativeResize="0"/>
          <p:nvPr/>
        </p:nvPicPr>
        <p:blipFill rotWithShape="1">
          <a:blip r:embed="rId3">
            <a:alphaModFix/>
          </a:blip>
          <a:srcRect b="0" l="0" r="0" t="0"/>
          <a:stretch/>
        </p:blipFill>
        <p:spPr>
          <a:xfrm>
            <a:off x="915132" y="4289268"/>
            <a:ext cx="199705" cy="199705"/>
          </a:xfrm>
          <a:prstGeom prst="rect">
            <a:avLst/>
          </a:prstGeom>
          <a:noFill/>
          <a:ln>
            <a:noFill/>
          </a:ln>
        </p:spPr>
      </p:pic>
      <p:sp>
        <p:nvSpPr>
          <p:cNvPr id="589" name="Google Shape;589;p20"/>
          <p:cNvSpPr/>
          <p:nvPr/>
        </p:nvSpPr>
        <p:spPr>
          <a:xfrm>
            <a:off x="1371600" y="4197096"/>
            <a:ext cx="10058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4EFEA"/>
              </a:buClr>
              <a:buSzPts val="1450"/>
              <a:buFont typeface="Calibri"/>
              <a:buNone/>
            </a:pPr>
            <a:r>
              <a:rPr b="0" i="0" lang="en-US" sz="1450" u="none" cap="none" strike="noStrike">
                <a:solidFill>
                  <a:srgbClr val="E4EFEA"/>
                </a:solidFill>
                <a:latin typeface="Calibri"/>
                <a:ea typeface="Calibri"/>
                <a:cs typeface="Calibri"/>
                <a:sym typeface="Calibri"/>
              </a:rPr>
              <a:t>Grounded AI, hardened, and deployed end-to-end on cloud infra</a:t>
            </a:r>
            <a:endParaRPr b="0" i="0" sz="1450" u="none" cap="none" strike="noStrike">
              <a:solidFill>
                <a:schemeClr val="dk1"/>
              </a:solidFill>
              <a:latin typeface="Calibri"/>
              <a:ea typeface="Calibri"/>
              <a:cs typeface="Calibri"/>
              <a:sym typeface="Calibri"/>
            </a:endParaRPr>
          </a:p>
        </p:txBody>
      </p:sp>
      <p:cxnSp>
        <p:nvCxnSpPr>
          <p:cNvPr id="590" name="Google Shape;590;p20"/>
          <p:cNvCxnSpPr/>
          <p:nvPr/>
        </p:nvCxnSpPr>
        <p:spPr>
          <a:xfrm>
            <a:off x="822960" y="5029200"/>
            <a:ext cx="10515600" cy="0"/>
          </a:xfrm>
          <a:prstGeom prst="straightConnector1">
            <a:avLst/>
          </a:prstGeom>
          <a:noFill/>
          <a:ln cap="flat" cmpd="sng" w="19050">
            <a:solidFill>
              <a:srgbClr val="2E7D74"/>
            </a:solidFill>
            <a:prstDash val="solid"/>
            <a:round/>
            <a:headEnd len="sm" w="sm" type="none"/>
            <a:tailEnd len="sm" w="sm" type="none"/>
          </a:ln>
        </p:spPr>
      </p:cxnSp>
      <p:sp>
        <p:nvSpPr>
          <p:cNvPr id="591" name="Google Shape;591;p20"/>
          <p:cNvSpPr/>
          <p:nvPr/>
        </p:nvSpPr>
        <p:spPr>
          <a:xfrm>
            <a:off x="777240" y="5212080"/>
            <a:ext cx="7315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4B59F"/>
              </a:buClr>
              <a:buSzPts val="4000"/>
              <a:buFont typeface="Century Schoolbook"/>
              <a:buNone/>
            </a:pPr>
            <a:r>
              <a:rPr b="1" i="1" lang="en-US" sz="4000" u="none" cap="none" strike="noStrike">
                <a:solidFill>
                  <a:srgbClr val="84B59F"/>
                </a:solidFill>
                <a:latin typeface="Century Schoolbook"/>
                <a:ea typeface="Century Schoolbook"/>
                <a:cs typeface="Century Schoolbook"/>
                <a:sym typeface="Century Schoolbook"/>
              </a:rPr>
              <a:t>you matter</a:t>
            </a:r>
            <a:endParaRPr b="0" i="0" sz="4000" u="none" cap="none" strike="noStrike">
              <a:solidFill>
                <a:schemeClr val="dk1"/>
              </a:solidFill>
              <a:latin typeface="Calibri"/>
              <a:ea typeface="Calibri"/>
              <a:cs typeface="Calibri"/>
              <a:sym typeface="Calibri"/>
            </a:endParaRPr>
          </a:p>
        </p:txBody>
      </p:sp>
      <p:sp>
        <p:nvSpPr>
          <p:cNvPr id="592" name="Google Shape;592;p20"/>
          <p:cNvSpPr/>
          <p:nvPr/>
        </p:nvSpPr>
        <p:spPr>
          <a:xfrm>
            <a:off x="822960" y="608076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0DA"/>
              </a:buClr>
              <a:buSzPts val="1400"/>
              <a:buFont typeface="Calibri"/>
              <a:buNone/>
            </a:pPr>
            <a:r>
              <a:rPr b="0" i="0" lang="en-US" sz="1400" u="none" cap="none" strike="noStrike">
                <a:solidFill>
                  <a:srgbClr val="CFE0DA"/>
                </a:solidFill>
                <a:latin typeface="Calibri"/>
                <a:ea typeface="Calibri"/>
                <a:cs typeface="Calibri"/>
                <a:sym typeface="Calibri"/>
              </a:rPr>
              <a:t>Thank you — we'd be glad to take your questions.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